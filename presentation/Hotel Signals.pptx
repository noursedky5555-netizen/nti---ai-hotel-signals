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18288000" cy="10287000"/>
  <p:notesSz cx="6858000" cy="9144000"/>
  <p:embeddedFontLst>
    <p:embeddedFont>
      <p:font typeface="Canva Sans" panose="020B0604020202020204" charset="0"/>
      <p:regular r:id="rId34"/>
    </p:embeddedFont>
    <p:embeddedFont>
      <p:font typeface="Canva Sans Bold" panose="020B0604020202020204" charset="0"/>
      <p:regular r:id="rId35"/>
    </p:embeddedFont>
    <p:embeddedFont>
      <p:font typeface="Open Sauce" panose="020B0604020202020204" charset="0"/>
      <p:regular r:id="rId36"/>
    </p:embeddedFont>
    <p:embeddedFont>
      <p:font typeface="Open Sauce Bold" panose="020B0604020202020204" charset="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571" y="-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17/09/2026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17/09/2026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17/09/2026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17/09/2026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17/09/2026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svg"/><Relationship Id="rId7" Type="http://schemas.openxmlformats.org/officeDocument/2006/relationships/image" Target="../media/image5.png"/><Relationship Id="rId12" Type="http://schemas.openxmlformats.org/officeDocument/2006/relationships/image" Target="../media/image1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openxmlformats.org/officeDocument/2006/relationships/image" Target="../media/image11.svg"/><Relationship Id="rId4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11" Type="http://schemas.openxmlformats.org/officeDocument/2006/relationships/image" Target="../media/image16.png"/><Relationship Id="rId5" Type="http://schemas.openxmlformats.org/officeDocument/2006/relationships/image" Target="../media/image14.png"/><Relationship Id="rId10" Type="http://schemas.openxmlformats.org/officeDocument/2006/relationships/image" Target="../media/image6.svg"/><Relationship Id="rId4" Type="http://schemas.openxmlformats.org/officeDocument/2006/relationships/image" Target="../media/image9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sv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19.png"/><Relationship Id="rId5" Type="http://schemas.openxmlformats.org/officeDocument/2006/relationships/image" Target="../media/image7.png"/><Relationship Id="rId10" Type="http://schemas.openxmlformats.org/officeDocument/2006/relationships/image" Target="../media/image18.sv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svg"/><Relationship Id="rId7" Type="http://schemas.openxmlformats.org/officeDocument/2006/relationships/image" Target="../media/image5.png"/><Relationship Id="rId12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20.png"/><Relationship Id="rId5" Type="http://schemas.openxmlformats.org/officeDocument/2006/relationships/image" Target="../media/image7.png"/><Relationship Id="rId10" Type="http://schemas.openxmlformats.org/officeDocument/2006/relationships/image" Target="../media/image18.sv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svg"/><Relationship Id="rId7" Type="http://schemas.openxmlformats.org/officeDocument/2006/relationships/image" Target="../media/image6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svg"/><Relationship Id="rId5" Type="http://schemas.openxmlformats.org/officeDocument/2006/relationships/image" Target="../media/image22.png"/><Relationship Id="rId10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2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svg"/><Relationship Id="rId7" Type="http://schemas.openxmlformats.org/officeDocument/2006/relationships/image" Target="../media/image6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svg"/><Relationship Id="rId5" Type="http://schemas.openxmlformats.org/officeDocument/2006/relationships/image" Target="../media/image25.png"/><Relationship Id="rId10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svg"/><Relationship Id="rId7" Type="http://schemas.openxmlformats.org/officeDocument/2006/relationships/image" Target="../media/image6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svg"/><Relationship Id="rId5" Type="http://schemas.openxmlformats.org/officeDocument/2006/relationships/image" Target="../media/image26.png"/><Relationship Id="rId10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2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svg"/><Relationship Id="rId7" Type="http://schemas.openxmlformats.org/officeDocument/2006/relationships/image" Target="../media/image6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svg"/><Relationship Id="rId5" Type="http://schemas.openxmlformats.org/officeDocument/2006/relationships/image" Target="../media/image27.png"/><Relationship Id="rId10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2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svg"/><Relationship Id="rId7" Type="http://schemas.openxmlformats.org/officeDocument/2006/relationships/image" Target="../media/image6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svg"/><Relationship Id="rId5" Type="http://schemas.openxmlformats.org/officeDocument/2006/relationships/image" Target="../media/image28.png"/><Relationship Id="rId10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2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svg"/><Relationship Id="rId7" Type="http://schemas.openxmlformats.org/officeDocument/2006/relationships/image" Target="../media/image6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svg"/><Relationship Id="rId5" Type="http://schemas.openxmlformats.org/officeDocument/2006/relationships/image" Target="../media/image29.png"/><Relationship Id="rId10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24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3.svg"/><Relationship Id="rId7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30.png"/><Relationship Id="rId5" Type="http://schemas.openxmlformats.org/officeDocument/2006/relationships/image" Target="../media/image5.png"/><Relationship Id="rId10" Type="http://schemas.openxmlformats.org/officeDocument/2006/relationships/image" Target="../media/image8.sv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svg"/><Relationship Id="rId7" Type="http://schemas.openxmlformats.org/officeDocument/2006/relationships/image" Target="../media/image6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svg"/><Relationship Id="rId5" Type="http://schemas.openxmlformats.org/officeDocument/2006/relationships/image" Target="../media/image31.png"/><Relationship Id="rId10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24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svg"/><Relationship Id="rId7" Type="http://schemas.openxmlformats.org/officeDocument/2006/relationships/image" Target="../media/image5.png"/><Relationship Id="rId12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34.png"/><Relationship Id="rId5" Type="http://schemas.openxmlformats.org/officeDocument/2006/relationships/image" Target="../media/image7.png"/><Relationship Id="rId10" Type="http://schemas.openxmlformats.org/officeDocument/2006/relationships/image" Target="../media/image33.svg"/><Relationship Id="rId4" Type="http://schemas.openxmlformats.org/officeDocument/2006/relationships/image" Target="../media/image9.png"/><Relationship Id="rId9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svg"/><Relationship Id="rId7" Type="http://schemas.openxmlformats.org/officeDocument/2006/relationships/image" Target="../media/image5.png"/><Relationship Id="rId12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36.png"/><Relationship Id="rId5" Type="http://schemas.openxmlformats.org/officeDocument/2006/relationships/image" Target="../media/image7.png"/><Relationship Id="rId10" Type="http://schemas.openxmlformats.org/officeDocument/2006/relationships/image" Target="../media/image33.svg"/><Relationship Id="rId4" Type="http://schemas.openxmlformats.org/officeDocument/2006/relationships/image" Target="../media/image9.png"/><Relationship Id="rId9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sv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39.svg"/><Relationship Id="rId4" Type="http://schemas.openxmlformats.org/officeDocument/2006/relationships/image" Target="../media/image9.png"/><Relationship Id="rId9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sv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40.png"/><Relationship Id="rId5" Type="http://schemas.openxmlformats.org/officeDocument/2006/relationships/image" Target="../media/image7.png"/><Relationship Id="rId10" Type="http://schemas.openxmlformats.org/officeDocument/2006/relationships/image" Target="../media/image39.svg"/><Relationship Id="rId4" Type="http://schemas.openxmlformats.org/officeDocument/2006/relationships/image" Target="../media/image9.png"/><Relationship Id="rId9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sv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41.png"/><Relationship Id="rId5" Type="http://schemas.openxmlformats.org/officeDocument/2006/relationships/image" Target="../media/image7.png"/><Relationship Id="rId10" Type="http://schemas.openxmlformats.org/officeDocument/2006/relationships/image" Target="../media/image39.svg"/><Relationship Id="rId4" Type="http://schemas.openxmlformats.org/officeDocument/2006/relationships/image" Target="../media/image9.png"/><Relationship Id="rId9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sv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42.png"/><Relationship Id="rId5" Type="http://schemas.openxmlformats.org/officeDocument/2006/relationships/image" Target="../media/image7.png"/><Relationship Id="rId10" Type="http://schemas.openxmlformats.org/officeDocument/2006/relationships/image" Target="../media/image39.svg"/><Relationship Id="rId4" Type="http://schemas.openxmlformats.org/officeDocument/2006/relationships/image" Target="../media/image9.png"/><Relationship Id="rId9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sv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44.svg"/><Relationship Id="rId4" Type="http://schemas.openxmlformats.org/officeDocument/2006/relationships/image" Target="../media/image9.png"/><Relationship Id="rId9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sv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45.png"/><Relationship Id="rId5" Type="http://schemas.openxmlformats.org/officeDocument/2006/relationships/image" Target="../media/image7.png"/><Relationship Id="rId10" Type="http://schemas.openxmlformats.org/officeDocument/2006/relationships/image" Target="../media/image44.svg"/><Relationship Id="rId4" Type="http://schemas.openxmlformats.org/officeDocument/2006/relationships/image" Target="../media/image9.png"/><Relationship Id="rId9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sv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46.png"/><Relationship Id="rId5" Type="http://schemas.openxmlformats.org/officeDocument/2006/relationships/image" Target="../media/image7.png"/><Relationship Id="rId10" Type="http://schemas.openxmlformats.org/officeDocument/2006/relationships/image" Target="../media/image44.svg"/><Relationship Id="rId4" Type="http://schemas.openxmlformats.org/officeDocument/2006/relationships/image" Target="../media/image9.png"/><Relationship Id="rId9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sv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47.png"/><Relationship Id="rId5" Type="http://schemas.openxmlformats.org/officeDocument/2006/relationships/image" Target="../media/image7.png"/><Relationship Id="rId10" Type="http://schemas.openxmlformats.org/officeDocument/2006/relationships/image" Target="../media/image44.svg"/><Relationship Id="rId4" Type="http://schemas.openxmlformats.org/officeDocument/2006/relationships/image" Target="../media/image9.png"/><Relationship Id="rId9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sv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50.png"/><Relationship Id="rId5" Type="http://schemas.openxmlformats.org/officeDocument/2006/relationships/image" Target="../media/image7.png"/><Relationship Id="rId10" Type="http://schemas.openxmlformats.org/officeDocument/2006/relationships/image" Target="../media/image49.svg"/><Relationship Id="rId4" Type="http://schemas.openxmlformats.org/officeDocument/2006/relationships/image" Target="../media/image9.png"/><Relationship Id="rId9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sv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51.png"/><Relationship Id="rId5" Type="http://schemas.openxmlformats.org/officeDocument/2006/relationships/image" Target="../media/image7.png"/><Relationship Id="rId10" Type="http://schemas.openxmlformats.org/officeDocument/2006/relationships/image" Target="../media/image49.svg"/><Relationship Id="rId4" Type="http://schemas.openxmlformats.org/officeDocument/2006/relationships/image" Target="../media/image9.png"/><Relationship Id="rId9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sv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52.png"/><Relationship Id="rId5" Type="http://schemas.openxmlformats.org/officeDocument/2006/relationships/image" Target="../media/image7.png"/><Relationship Id="rId10" Type="http://schemas.openxmlformats.org/officeDocument/2006/relationships/image" Target="../media/image49.svg"/><Relationship Id="rId4" Type="http://schemas.openxmlformats.org/officeDocument/2006/relationships/image" Target="../media/image9.png"/><Relationship Id="rId9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sv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53.png"/><Relationship Id="rId5" Type="http://schemas.openxmlformats.org/officeDocument/2006/relationships/image" Target="../media/image7.png"/><Relationship Id="rId10" Type="http://schemas.openxmlformats.org/officeDocument/2006/relationships/image" Target="../media/image49.svg"/><Relationship Id="rId4" Type="http://schemas.openxmlformats.org/officeDocument/2006/relationships/image" Target="../media/image9.png"/><Relationship Id="rId9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sv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56.jpeg"/><Relationship Id="rId5" Type="http://schemas.openxmlformats.org/officeDocument/2006/relationships/image" Target="../media/image7.png"/><Relationship Id="rId10" Type="http://schemas.openxmlformats.org/officeDocument/2006/relationships/image" Target="../media/image55.svg"/><Relationship Id="rId4" Type="http://schemas.openxmlformats.org/officeDocument/2006/relationships/image" Target="../media/image9.png"/><Relationship Id="rId9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sv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57.jpeg"/><Relationship Id="rId5" Type="http://schemas.openxmlformats.org/officeDocument/2006/relationships/image" Target="../media/image7.png"/><Relationship Id="rId10" Type="http://schemas.openxmlformats.org/officeDocument/2006/relationships/image" Target="../media/image55.svg"/><Relationship Id="rId4" Type="http://schemas.openxmlformats.org/officeDocument/2006/relationships/image" Target="../media/image9.png"/><Relationship Id="rId9" Type="http://schemas.openxmlformats.org/officeDocument/2006/relationships/image" Target="../media/image5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sv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58.jpeg"/><Relationship Id="rId5" Type="http://schemas.openxmlformats.org/officeDocument/2006/relationships/image" Target="../media/image7.png"/><Relationship Id="rId10" Type="http://schemas.openxmlformats.org/officeDocument/2006/relationships/image" Target="../media/image55.svg"/><Relationship Id="rId4" Type="http://schemas.openxmlformats.org/officeDocument/2006/relationships/image" Target="../media/image9.png"/><Relationship Id="rId9" Type="http://schemas.openxmlformats.org/officeDocument/2006/relationships/image" Target="../media/image5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sv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59.jpeg"/><Relationship Id="rId5" Type="http://schemas.openxmlformats.org/officeDocument/2006/relationships/image" Target="../media/image7.png"/><Relationship Id="rId10" Type="http://schemas.openxmlformats.org/officeDocument/2006/relationships/image" Target="../media/image55.svg"/><Relationship Id="rId4" Type="http://schemas.openxmlformats.org/officeDocument/2006/relationships/image" Target="../media/image9.png"/><Relationship Id="rId9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svg"/><Relationship Id="rId7" Type="http://schemas.openxmlformats.org/officeDocument/2006/relationships/image" Target="../media/image6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1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75461" y="3180387"/>
            <a:ext cx="11603160" cy="14213225"/>
          </a:xfrm>
          <a:custGeom>
            <a:avLst/>
            <a:gdLst/>
            <a:ahLst/>
            <a:cxnLst/>
            <a:rect l="l" t="t" r="r" b="b"/>
            <a:pathLst>
              <a:path w="11603160" h="14213225">
                <a:moveTo>
                  <a:pt x="0" y="0"/>
                </a:moveTo>
                <a:lnTo>
                  <a:pt x="11603160" y="0"/>
                </a:lnTo>
                <a:lnTo>
                  <a:pt x="11603160" y="14213226"/>
                </a:lnTo>
                <a:lnTo>
                  <a:pt x="0" y="142132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611406" y="6549121"/>
            <a:ext cx="9606500" cy="957288"/>
            <a:chOff x="0" y="0"/>
            <a:chExt cx="2530107" cy="2521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30107" cy="252125"/>
            </a:xfrm>
            <a:custGeom>
              <a:avLst/>
              <a:gdLst/>
              <a:ahLst/>
              <a:cxnLst/>
              <a:rect l="l" t="t" r="r" b="b"/>
              <a:pathLst>
                <a:path w="2530107" h="252125">
                  <a:moveTo>
                    <a:pt x="40295" y="0"/>
                  </a:moveTo>
                  <a:lnTo>
                    <a:pt x="2489812" y="0"/>
                  </a:lnTo>
                  <a:cubicBezTo>
                    <a:pt x="2500499" y="0"/>
                    <a:pt x="2510748" y="4245"/>
                    <a:pt x="2518305" y="11802"/>
                  </a:cubicBezTo>
                  <a:cubicBezTo>
                    <a:pt x="2525862" y="19359"/>
                    <a:pt x="2530107" y="29608"/>
                    <a:pt x="2530107" y="40295"/>
                  </a:cubicBezTo>
                  <a:lnTo>
                    <a:pt x="2530107" y="211830"/>
                  </a:lnTo>
                  <a:cubicBezTo>
                    <a:pt x="2530107" y="234085"/>
                    <a:pt x="2512066" y="252125"/>
                    <a:pt x="2489812" y="252125"/>
                  </a:cubicBezTo>
                  <a:lnTo>
                    <a:pt x="40295" y="252125"/>
                  </a:lnTo>
                  <a:cubicBezTo>
                    <a:pt x="29608" y="252125"/>
                    <a:pt x="19359" y="247880"/>
                    <a:pt x="11802" y="240323"/>
                  </a:cubicBezTo>
                  <a:cubicBezTo>
                    <a:pt x="4245" y="232766"/>
                    <a:pt x="0" y="222517"/>
                    <a:pt x="0" y="211830"/>
                  </a:cubicBezTo>
                  <a:lnTo>
                    <a:pt x="0" y="40295"/>
                  </a:lnTo>
                  <a:cubicBezTo>
                    <a:pt x="0" y="29608"/>
                    <a:pt x="4245" y="19359"/>
                    <a:pt x="11802" y="11802"/>
                  </a:cubicBezTo>
                  <a:cubicBezTo>
                    <a:pt x="19359" y="4245"/>
                    <a:pt x="29608" y="0"/>
                    <a:pt x="40295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530107" cy="309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345637" y="-1192173"/>
            <a:ext cx="5512535" cy="5033403"/>
          </a:xfrm>
          <a:custGeom>
            <a:avLst/>
            <a:gdLst/>
            <a:ahLst/>
            <a:cxnLst/>
            <a:rect l="l" t="t" r="r" b="b"/>
            <a:pathLst>
              <a:path w="5512535" h="5033403">
                <a:moveTo>
                  <a:pt x="0" y="0"/>
                </a:moveTo>
                <a:lnTo>
                  <a:pt x="5512535" y="0"/>
                </a:lnTo>
                <a:lnTo>
                  <a:pt x="5512535" y="5033403"/>
                </a:lnTo>
                <a:lnTo>
                  <a:pt x="0" y="50334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570172" y="6445770"/>
            <a:ext cx="5512535" cy="5033403"/>
          </a:xfrm>
          <a:custGeom>
            <a:avLst/>
            <a:gdLst/>
            <a:ahLst/>
            <a:cxnLst/>
            <a:rect l="l" t="t" r="r" b="b"/>
            <a:pathLst>
              <a:path w="5512535" h="5033403">
                <a:moveTo>
                  <a:pt x="0" y="0"/>
                </a:moveTo>
                <a:lnTo>
                  <a:pt x="5512535" y="0"/>
                </a:lnTo>
                <a:lnTo>
                  <a:pt x="5512535" y="5033403"/>
                </a:lnTo>
                <a:lnTo>
                  <a:pt x="0" y="50334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28700" y="1324528"/>
            <a:ext cx="5151044" cy="7792853"/>
            <a:chOff x="0" y="0"/>
            <a:chExt cx="722457" cy="10929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22457" cy="1092983"/>
            </a:xfrm>
            <a:custGeom>
              <a:avLst/>
              <a:gdLst/>
              <a:ahLst/>
              <a:cxnLst/>
              <a:rect l="l" t="t" r="r" b="b"/>
              <a:pathLst>
                <a:path w="722457" h="1092983">
                  <a:moveTo>
                    <a:pt x="90179" y="0"/>
                  </a:moveTo>
                  <a:lnTo>
                    <a:pt x="632278" y="0"/>
                  </a:lnTo>
                  <a:cubicBezTo>
                    <a:pt x="656195" y="0"/>
                    <a:pt x="679133" y="9501"/>
                    <a:pt x="696044" y="26413"/>
                  </a:cubicBezTo>
                  <a:cubicBezTo>
                    <a:pt x="712956" y="43325"/>
                    <a:pt x="722457" y="66262"/>
                    <a:pt x="722457" y="90179"/>
                  </a:cubicBezTo>
                  <a:lnTo>
                    <a:pt x="722457" y="1002804"/>
                  </a:lnTo>
                  <a:cubicBezTo>
                    <a:pt x="722457" y="1026721"/>
                    <a:pt x="712956" y="1049658"/>
                    <a:pt x="696044" y="1066570"/>
                  </a:cubicBezTo>
                  <a:cubicBezTo>
                    <a:pt x="679133" y="1083482"/>
                    <a:pt x="656195" y="1092983"/>
                    <a:pt x="632278" y="1092983"/>
                  </a:cubicBezTo>
                  <a:lnTo>
                    <a:pt x="90179" y="1092983"/>
                  </a:lnTo>
                  <a:cubicBezTo>
                    <a:pt x="66262" y="1092983"/>
                    <a:pt x="43325" y="1083482"/>
                    <a:pt x="26413" y="1066570"/>
                  </a:cubicBezTo>
                  <a:cubicBezTo>
                    <a:pt x="9501" y="1049658"/>
                    <a:pt x="0" y="1026721"/>
                    <a:pt x="0" y="1002804"/>
                  </a:cubicBezTo>
                  <a:lnTo>
                    <a:pt x="0" y="90179"/>
                  </a:lnTo>
                  <a:cubicBezTo>
                    <a:pt x="0" y="66262"/>
                    <a:pt x="9501" y="43325"/>
                    <a:pt x="26413" y="26413"/>
                  </a:cubicBezTo>
                  <a:cubicBezTo>
                    <a:pt x="43325" y="9501"/>
                    <a:pt x="66262" y="0"/>
                    <a:pt x="90179" y="0"/>
                  </a:cubicBezTo>
                  <a:close/>
                </a:path>
              </a:pathLst>
            </a:custGeom>
            <a:blipFill>
              <a:blip r:embed="rId5"/>
              <a:stretch>
                <a:fillRect l="-10514" r="-10514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 flipH="1" flipV="1">
            <a:off x="-744089" y="9418642"/>
            <a:ext cx="4348311" cy="656200"/>
          </a:xfrm>
          <a:custGeom>
            <a:avLst/>
            <a:gdLst/>
            <a:ahLst/>
            <a:cxnLst/>
            <a:rect l="l" t="t" r="r" b="b"/>
            <a:pathLst>
              <a:path w="4348311" h="656200">
                <a:moveTo>
                  <a:pt x="4348311" y="656199"/>
                </a:moveTo>
                <a:lnTo>
                  <a:pt x="0" y="656199"/>
                </a:lnTo>
                <a:lnTo>
                  <a:pt x="0" y="0"/>
                </a:lnTo>
                <a:lnTo>
                  <a:pt x="4348311" y="0"/>
                </a:lnTo>
                <a:lnTo>
                  <a:pt x="4348311" y="65619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345637" y="372500"/>
            <a:ext cx="4348311" cy="656200"/>
          </a:xfrm>
          <a:custGeom>
            <a:avLst/>
            <a:gdLst/>
            <a:ahLst/>
            <a:cxnLst/>
            <a:rect l="l" t="t" r="r" b="b"/>
            <a:pathLst>
              <a:path w="4348311" h="656200">
                <a:moveTo>
                  <a:pt x="0" y="0"/>
                </a:moveTo>
                <a:lnTo>
                  <a:pt x="4348312" y="0"/>
                </a:lnTo>
                <a:lnTo>
                  <a:pt x="4348312" y="656200"/>
                </a:lnTo>
                <a:lnTo>
                  <a:pt x="0" y="656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611406" y="2072350"/>
            <a:ext cx="10217289" cy="4203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45"/>
              </a:lnSpc>
            </a:pPr>
            <a:r>
              <a:rPr lang="en-US" sz="11180" b="1" dirty="0">
                <a:solidFill>
                  <a:srgbClr val="FFFBF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Hotel Booking Cancellation Prediction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42011" y="6812183"/>
            <a:ext cx="6694325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dirty="0">
                <a:solidFill>
                  <a:srgbClr val="9560FF"/>
                </a:solidFill>
                <a:latin typeface="Open Sauce"/>
                <a:ea typeface="Open Sauce"/>
                <a:cs typeface="Open Sauce"/>
                <a:sym typeface="Open Sauce"/>
              </a:rPr>
              <a:t>Hotel Signals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01093" y="7763585"/>
            <a:ext cx="5453736" cy="406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8"/>
              </a:lnSpc>
            </a:pPr>
            <a:r>
              <a:rPr lang="en-US" sz="2699" b="1" dirty="0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Supervised by: </a:t>
            </a:r>
            <a:r>
              <a:rPr lang="en-US" sz="2699" dirty="0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Eng. Fady Attia</a:t>
            </a:r>
          </a:p>
        </p:txBody>
      </p:sp>
      <p:sp>
        <p:nvSpPr>
          <p:cNvPr id="15" name="Freeform 15"/>
          <p:cNvSpPr/>
          <p:nvPr/>
        </p:nvSpPr>
        <p:spPr>
          <a:xfrm>
            <a:off x="1028700" y="365551"/>
            <a:ext cx="526910" cy="654177"/>
          </a:xfrm>
          <a:custGeom>
            <a:avLst/>
            <a:gdLst/>
            <a:ahLst/>
            <a:cxnLst/>
            <a:rect l="l" t="t" r="r" b="b"/>
            <a:pathLst>
              <a:path w="526910" h="654177">
                <a:moveTo>
                  <a:pt x="0" y="0"/>
                </a:moveTo>
                <a:lnTo>
                  <a:pt x="526910" y="0"/>
                </a:lnTo>
                <a:lnTo>
                  <a:pt x="526910" y="654177"/>
                </a:lnTo>
                <a:lnTo>
                  <a:pt x="0" y="6541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805849" y="511810"/>
            <a:ext cx="298346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NTI - AI</a:t>
            </a:r>
          </a:p>
        </p:txBody>
      </p:sp>
      <p:sp>
        <p:nvSpPr>
          <p:cNvPr id="17" name="Freeform 17"/>
          <p:cNvSpPr/>
          <p:nvPr/>
        </p:nvSpPr>
        <p:spPr>
          <a:xfrm>
            <a:off x="13078599" y="9100206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0886" y="-2049095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0" y="0"/>
                </a:moveTo>
                <a:lnTo>
                  <a:pt x="9964777" y="0"/>
                </a:lnTo>
                <a:lnTo>
                  <a:pt x="9964777" y="9098671"/>
                </a:lnTo>
                <a:lnTo>
                  <a:pt x="0" y="9098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327663" y="3237424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9964777" y="9098671"/>
                </a:moveTo>
                <a:lnTo>
                  <a:pt x="0" y="9098671"/>
                </a:lnTo>
                <a:lnTo>
                  <a:pt x="0" y="0"/>
                </a:lnTo>
                <a:lnTo>
                  <a:pt x="9964777" y="0"/>
                </a:lnTo>
                <a:lnTo>
                  <a:pt x="9964777" y="9098671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307306">
            <a:off x="8638171" y="265703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307306">
            <a:off x="-7950368" y="-721331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38755" y="1240326"/>
            <a:ext cx="16520545" cy="7859879"/>
            <a:chOff x="0" y="0"/>
            <a:chExt cx="4351090" cy="20700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51090" cy="2070092"/>
            </a:xfrm>
            <a:custGeom>
              <a:avLst/>
              <a:gdLst/>
              <a:ahLst/>
              <a:cxnLst/>
              <a:rect l="l" t="t" r="r" b="b"/>
              <a:pathLst>
                <a:path w="4351090" h="2070092">
                  <a:moveTo>
                    <a:pt x="23431" y="0"/>
                  </a:moveTo>
                  <a:lnTo>
                    <a:pt x="4327659" y="0"/>
                  </a:lnTo>
                  <a:cubicBezTo>
                    <a:pt x="4333873" y="0"/>
                    <a:pt x="4339833" y="2469"/>
                    <a:pt x="4344227" y="6863"/>
                  </a:cubicBezTo>
                  <a:cubicBezTo>
                    <a:pt x="4348621" y="11257"/>
                    <a:pt x="4351090" y="17217"/>
                    <a:pt x="4351090" y="23431"/>
                  </a:cubicBezTo>
                  <a:lnTo>
                    <a:pt x="4351090" y="2046661"/>
                  </a:lnTo>
                  <a:cubicBezTo>
                    <a:pt x="4351090" y="2059601"/>
                    <a:pt x="4340599" y="2070092"/>
                    <a:pt x="4327659" y="2070092"/>
                  </a:cubicBezTo>
                  <a:lnTo>
                    <a:pt x="23431" y="2070092"/>
                  </a:lnTo>
                  <a:cubicBezTo>
                    <a:pt x="17217" y="2070092"/>
                    <a:pt x="11257" y="2067623"/>
                    <a:pt x="6863" y="2063229"/>
                  </a:cubicBezTo>
                  <a:cubicBezTo>
                    <a:pt x="2469" y="2058835"/>
                    <a:pt x="0" y="2052875"/>
                    <a:pt x="0" y="2046661"/>
                  </a:cubicBezTo>
                  <a:lnTo>
                    <a:pt x="0" y="23431"/>
                  </a:lnTo>
                  <a:cubicBezTo>
                    <a:pt x="0" y="17217"/>
                    <a:pt x="2469" y="11257"/>
                    <a:pt x="6863" y="6863"/>
                  </a:cubicBezTo>
                  <a:cubicBezTo>
                    <a:pt x="11257" y="2469"/>
                    <a:pt x="17217" y="0"/>
                    <a:pt x="23431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351090" cy="2127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365551"/>
            <a:ext cx="526910" cy="654177"/>
          </a:xfrm>
          <a:custGeom>
            <a:avLst/>
            <a:gdLst/>
            <a:ahLst/>
            <a:cxnLst/>
            <a:rect l="l" t="t" r="r" b="b"/>
            <a:pathLst>
              <a:path w="526910" h="654177">
                <a:moveTo>
                  <a:pt x="0" y="0"/>
                </a:moveTo>
                <a:lnTo>
                  <a:pt x="526910" y="0"/>
                </a:lnTo>
                <a:lnTo>
                  <a:pt x="526910" y="654177"/>
                </a:lnTo>
                <a:lnTo>
                  <a:pt x="0" y="6541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078599" y="9100206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91571" y="1625118"/>
            <a:ext cx="1275200" cy="1275200"/>
          </a:xfrm>
          <a:custGeom>
            <a:avLst/>
            <a:gdLst/>
            <a:ahLst/>
            <a:cxnLst/>
            <a:rect l="l" t="t" r="r" b="b"/>
            <a:pathLst>
              <a:path w="1275200" h="1275200">
                <a:moveTo>
                  <a:pt x="0" y="0"/>
                </a:moveTo>
                <a:lnTo>
                  <a:pt x="1275200" y="0"/>
                </a:lnTo>
                <a:lnTo>
                  <a:pt x="1275200" y="1275200"/>
                </a:lnTo>
                <a:lnTo>
                  <a:pt x="0" y="12752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92155" y="4730594"/>
            <a:ext cx="1546432" cy="1546432"/>
          </a:xfrm>
          <a:custGeom>
            <a:avLst/>
            <a:gdLst/>
            <a:ahLst/>
            <a:cxnLst/>
            <a:rect l="l" t="t" r="r" b="b"/>
            <a:pathLst>
              <a:path w="1546432" h="1546432">
                <a:moveTo>
                  <a:pt x="0" y="0"/>
                </a:moveTo>
                <a:lnTo>
                  <a:pt x="1546432" y="0"/>
                </a:lnTo>
                <a:lnTo>
                  <a:pt x="1546432" y="1546431"/>
                </a:lnTo>
                <a:lnTo>
                  <a:pt x="0" y="154643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738002" y="1546322"/>
            <a:ext cx="9852706" cy="120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8000" b="1" dirty="0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 Definition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38002" y="4915216"/>
            <a:ext cx="7363145" cy="120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8000" b="1" dirty="0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 Goals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91571" y="6544900"/>
            <a:ext cx="4720387" cy="2286952"/>
            <a:chOff x="0" y="0"/>
            <a:chExt cx="1243229" cy="60232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43229" cy="602325"/>
            </a:xfrm>
            <a:custGeom>
              <a:avLst/>
              <a:gdLst/>
              <a:ahLst/>
              <a:cxnLst/>
              <a:rect l="l" t="t" r="r" b="b"/>
              <a:pathLst>
                <a:path w="1243229" h="602325">
                  <a:moveTo>
                    <a:pt x="82005" y="0"/>
                  </a:moveTo>
                  <a:lnTo>
                    <a:pt x="1161224" y="0"/>
                  </a:lnTo>
                  <a:cubicBezTo>
                    <a:pt x="1206514" y="0"/>
                    <a:pt x="1243229" y="36715"/>
                    <a:pt x="1243229" y="82005"/>
                  </a:cubicBezTo>
                  <a:lnTo>
                    <a:pt x="1243229" y="520320"/>
                  </a:lnTo>
                  <a:cubicBezTo>
                    <a:pt x="1243229" y="565610"/>
                    <a:pt x="1206514" y="602325"/>
                    <a:pt x="1161224" y="602325"/>
                  </a:cubicBezTo>
                  <a:lnTo>
                    <a:pt x="82005" y="602325"/>
                  </a:lnTo>
                  <a:cubicBezTo>
                    <a:pt x="36715" y="602325"/>
                    <a:pt x="0" y="565610"/>
                    <a:pt x="0" y="520320"/>
                  </a:cubicBezTo>
                  <a:lnTo>
                    <a:pt x="0" y="82005"/>
                  </a:lnTo>
                  <a:cubicBezTo>
                    <a:pt x="0" y="36715"/>
                    <a:pt x="36715" y="0"/>
                    <a:pt x="82005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243229" cy="65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419575" y="6544900"/>
            <a:ext cx="4485522" cy="2158058"/>
            <a:chOff x="0" y="0"/>
            <a:chExt cx="1181372" cy="56837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81372" cy="568378"/>
            </a:xfrm>
            <a:custGeom>
              <a:avLst/>
              <a:gdLst/>
              <a:ahLst/>
              <a:cxnLst/>
              <a:rect l="l" t="t" r="r" b="b"/>
              <a:pathLst>
                <a:path w="1181372" h="568378">
                  <a:moveTo>
                    <a:pt x="86299" y="0"/>
                  </a:moveTo>
                  <a:lnTo>
                    <a:pt x="1095073" y="0"/>
                  </a:lnTo>
                  <a:cubicBezTo>
                    <a:pt x="1142735" y="0"/>
                    <a:pt x="1181372" y="38637"/>
                    <a:pt x="1181372" y="86299"/>
                  </a:cubicBezTo>
                  <a:lnTo>
                    <a:pt x="1181372" y="482079"/>
                  </a:lnTo>
                  <a:cubicBezTo>
                    <a:pt x="1181372" y="529740"/>
                    <a:pt x="1142735" y="568378"/>
                    <a:pt x="1095073" y="568378"/>
                  </a:cubicBezTo>
                  <a:lnTo>
                    <a:pt x="86299" y="568378"/>
                  </a:lnTo>
                  <a:cubicBezTo>
                    <a:pt x="38637" y="568378"/>
                    <a:pt x="0" y="529740"/>
                    <a:pt x="0" y="482079"/>
                  </a:cubicBezTo>
                  <a:lnTo>
                    <a:pt x="0" y="86299"/>
                  </a:lnTo>
                  <a:cubicBezTo>
                    <a:pt x="0" y="38637"/>
                    <a:pt x="38637" y="0"/>
                    <a:pt x="86299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1181372" cy="625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650886" y="6544900"/>
            <a:ext cx="5332189" cy="2158058"/>
            <a:chOff x="0" y="0"/>
            <a:chExt cx="1404363" cy="56837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04363" cy="568378"/>
            </a:xfrm>
            <a:custGeom>
              <a:avLst/>
              <a:gdLst/>
              <a:ahLst/>
              <a:cxnLst/>
              <a:rect l="l" t="t" r="r" b="b"/>
              <a:pathLst>
                <a:path w="1404363" h="568378">
                  <a:moveTo>
                    <a:pt x="72596" y="0"/>
                  </a:moveTo>
                  <a:lnTo>
                    <a:pt x="1331767" y="0"/>
                  </a:lnTo>
                  <a:cubicBezTo>
                    <a:pt x="1371860" y="0"/>
                    <a:pt x="1404363" y="32502"/>
                    <a:pt x="1404363" y="72596"/>
                  </a:cubicBezTo>
                  <a:lnTo>
                    <a:pt x="1404363" y="495781"/>
                  </a:lnTo>
                  <a:cubicBezTo>
                    <a:pt x="1404363" y="535875"/>
                    <a:pt x="1371860" y="568378"/>
                    <a:pt x="1331767" y="568378"/>
                  </a:cubicBezTo>
                  <a:lnTo>
                    <a:pt x="72596" y="568378"/>
                  </a:lnTo>
                  <a:cubicBezTo>
                    <a:pt x="32502" y="568378"/>
                    <a:pt x="0" y="535875"/>
                    <a:pt x="0" y="495781"/>
                  </a:cubicBezTo>
                  <a:lnTo>
                    <a:pt x="0" y="72596"/>
                  </a:lnTo>
                  <a:cubicBezTo>
                    <a:pt x="0" y="32502"/>
                    <a:pt x="32502" y="0"/>
                    <a:pt x="72596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1404363" cy="625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555610" y="6732159"/>
            <a:ext cx="4079161" cy="1916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Build accurate models to identify bookings that are likely to be cancelled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34498" y="6871221"/>
            <a:ext cx="4055675" cy="1417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Evaluate different algorithms to find the best-performing model.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721489" y="6732159"/>
            <a:ext cx="5261586" cy="1819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Understand key factors that influence cancellations and suggest actionable recommendations.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55610" y="2949910"/>
            <a:ext cx="14931332" cy="1780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2"/>
              </a:lnSpc>
            </a:pPr>
            <a:r>
              <a:rPr lang="en-US" sz="3394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Hotel booking cancellations create uncertainty in hotel operations, leading to empty rooms, revenue loss, and inefficient resource planning.</a:t>
            </a:r>
          </a:p>
        </p:txBody>
      </p:sp>
      <p:sp>
        <p:nvSpPr>
          <p:cNvPr id="29" name="Freeform 29"/>
          <p:cNvSpPr/>
          <p:nvPr/>
        </p:nvSpPr>
        <p:spPr>
          <a:xfrm flipH="1" flipV="1">
            <a:off x="-744089" y="9418642"/>
            <a:ext cx="4348311" cy="656200"/>
          </a:xfrm>
          <a:custGeom>
            <a:avLst/>
            <a:gdLst/>
            <a:ahLst/>
            <a:cxnLst/>
            <a:rect l="l" t="t" r="r" b="b"/>
            <a:pathLst>
              <a:path w="4348311" h="656200">
                <a:moveTo>
                  <a:pt x="4348311" y="656199"/>
                </a:moveTo>
                <a:lnTo>
                  <a:pt x="0" y="656199"/>
                </a:lnTo>
                <a:lnTo>
                  <a:pt x="0" y="0"/>
                </a:lnTo>
                <a:lnTo>
                  <a:pt x="4348311" y="0"/>
                </a:lnTo>
                <a:lnTo>
                  <a:pt x="4348311" y="65619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4345637" y="372500"/>
            <a:ext cx="4348311" cy="656200"/>
          </a:xfrm>
          <a:custGeom>
            <a:avLst/>
            <a:gdLst/>
            <a:ahLst/>
            <a:cxnLst/>
            <a:rect l="l" t="t" r="r" b="b"/>
            <a:pathLst>
              <a:path w="4348311" h="656200">
                <a:moveTo>
                  <a:pt x="0" y="0"/>
                </a:moveTo>
                <a:lnTo>
                  <a:pt x="4348312" y="0"/>
                </a:lnTo>
                <a:lnTo>
                  <a:pt x="4348312" y="656200"/>
                </a:lnTo>
                <a:lnTo>
                  <a:pt x="0" y="656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16">
            <a:extLst>
              <a:ext uri="{FF2B5EF4-FFF2-40B4-BE49-F238E27FC236}">
                <a16:creationId xmlns:a16="http://schemas.microsoft.com/office/drawing/2014/main" id="{31FE6934-AC75-ABD8-2686-6F724FFC2F4D}"/>
              </a:ext>
            </a:extLst>
          </p:cNvPr>
          <p:cNvSpPr txBox="1"/>
          <p:nvPr/>
        </p:nvSpPr>
        <p:spPr>
          <a:xfrm>
            <a:off x="1805849" y="511810"/>
            <a:ext cx="298346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NTI - AI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0886" y="-2049095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0" y="0"/>
                </a:moveTo>
                <a:lnTo>
                  <a:pt x="9964777" y="0"/>
                </a:lnTo>
                <a:lnTo>
                  <a:pt x="9964777" y="9098671"/>
                </a:lnTo>
                <a:lnTo>
                  <a:pt x="0" y="9098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327663" y="3237424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9964777" y="9098671"/>
                </a:moveTo>
                <a:lnTo>
                  <a:pt x="0" y="9098671"/>
                </a:lnTo>
                <a:lnTo>
                  <a:pt x="0" y="0"/>
                </a:lnTo>
                <a:lnTo>
                  <a:pt x="9964777" y="0"/>
                </a:lnTo>
                <a:lnTo>
                  <a:pt x="9964777" y="9098671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307306">
            <a:off x="8638171" y="265703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307306">
            <a:off x="-7950368" y="-721331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809215" y="1357758"/>
            <a:ext cx="16450085" cy="7900542"/>
            <a:chOff x="0" y="0"/>
            <a:chExt cx="4332533" cy="20808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32533" cy="2080801"/>
            </a:xfrm>
            <a:custGeom>
              <a:avLst/>
              <a:gdLst/>
              <a:ahLst/>
              <a:cxnLst/>
              <a:rect l="l" t="t" r="r" b="b"/>
              <a:pathLst>
                <a:path w="4332533" h="2080801">
                  <a:moveTo>
                    <a:pt x="23532" y="0"/>
                  </a:moveTo>
                  <a:lnTo>
                    <a:pt x="4309001" y="0"/>
                  </a:lnTo>
                  <a:cubicBezTo>
                    <a:pt x="4315242" y="0"/>
                    <a:pt x="4321228" y="2479"/>
                    <a:pt x="4325641" y="6892"/>
                  </a:cubicBezTo>
                  <a:cubicBezTo>
                    <a:pt x="4330054" y="11305"/>
                    <a:pt x="4332533" y="17291"/>
                    <a:pt x="4332533" y="23532"/>
                  </a:cubicBezTo>
                  <a:lnTo>
                    <a:pt x="4332533" y="2057270"/>
                  </a:lnTo>
                  <a:cubicBezTo>
                    <a:pt x="4332533" y="2070266"/>
                    <a:pt x="4321997" y="2080801"/>
                    <a:pt x="4309001" y="2080801"/>
                  </a:cubicBezTo>
                  <a:lnTo>
                    <a:pt x="23532" y="2080801"/>
                  </a:lnTo>
                  <a:cubicBezTo>
                    <a:pt x="17291" y="2080801"/>
                    <a:pt x="11305" y="2078322"/>
                    <a:pt x="6892" y="2073909"/>
                  </a:cubicBezTo>
                  <a:cubicBezTo>
                    <a:pt x="2479" y="2069496"/>
                    <a:pt x="0" y="2063510"/>
                    <a:pt x="0" y="2057270"/>
                  </a:cubicBezTo>
                  <a:lnTo>
                    <a:pt x="0" y="23532"/>
                  </a:lnTo>
                  <a:cubicBezTo>
                    <a:pt x="0" y="17291"/>
                    <a:pt x="2479" y="11305"/>
                    <a:pt x="6892" y="6892"/>
                  </a:cubicBezTo>
                  <a:cubicBezTo>
                    <a:pt x="11305" y="2479"/>
                    <a:pt x="17291" y="0"/>
                    <a:pt x="23532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332533" cy="2137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661970" y="1809936"/>
            <a:ext cx="9054167" cy="1192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8000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Dataset Overveiw</a:t>
            </a:r>
          </a:p>
        </p:txBody>
      </p:sp>
      <p:sp>
        <p:nvSpPr>
          <p:cNvPr id="10" name="Freeform 10"/>
          <p:cNvSpPr/>
          <p:nvPr/>
        </p:nvSpPr>
        <p:spPr>
          <a:xfrm>
            <a:off x="2153807" y="1677320"/>
            <a:ext cx="1143777" cy="1438713"/>
          </a:xfrm>
          <a:custGeom>
            <a:avLst/>
            <a:gdLst/>
            <a:ahLst/>
            <a:cxnLst/>
            <a:rect l="l" t="t" r="r" b="b"/>
            <a:pathLst>
              <a:path w="1143777" h="1438713">
                <a:moveTo>
                  <a:pt x="0" y="0"/>
                </a:moveTo>
                <a:lnTo>
                  <a:pt x="1143777" y="0"/>
                </a:lnTo>
                <a:lnTo>
                  <a:pt x="1143777" y="1438713"/>
                </a:lnTo>
                <a:lnTo>
                  <a:pt x="0" y="14387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28700" y="365551"/>
            <a:ext cx="526910" cy="654177"/>
          </a:xfrm>
          <a:custGeom>
            <a:avLst/>
            <a:gdLst/>
            <a:ahLst/>
            <a:cxnLst/>
            <a:rect l="l" t="t" r="r" b="b"/>
            <a:pathLst>
              <a:path w="526910" h="654177">
                <a:moveTo>
                  <a:pt x="0" y="0"/>
                </a:moveTo>
                <a:lnTo>
                  <a:pt x="526910" y="0"/>
                </a:lnTo>
                <a:lnTo>
                  <a:pt x="526910" y="654177"/>
                </a:lnTo>
                <a:lnTo>
                  <a:pt x="0" y="6541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078599" y="9100206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81578" y="3244624"/>
            <a:ext cx="5979160" cy="4481095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2153807" y="3650166"/>
            <a:ext cx="4878491" cy="1589621"/>
            <a:chOff x="0" y="0"/>
            <a:chExt cx="1284870" cy="41866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84870" cy="418666"/>
            </a:xfrm>
            <a:custGeom>
              <a:avLst/>
              <a:gdLst/>
              <a:ahLst/>
              <a:cxnLst/>
              <a:rect l="l" t="t" r="r" b="b"/>
              <a:pathLst>
                <a:path w="1284870" h="418666">
                  <a:moveTo>
                    <a:pt x="123782" y="0"/>
                  </a:moveTo>
                  <a:lnTo>
                    <a:pt x="1161088" y="0"/>
                  </a:lnTo>
                  <a:cubicBezTo>
                    <a:pt x="1229451" y="0"/>
                    <a:pt x="1284870" y="55419"/>
                    <a:pt x="1284870" y="123782"/>
                  </a:cubicBezTo>
                  <a:lnTo>
                    <a:pt x="1284870" y="294884"/>
                  </a:lnTo>
                  <a:cubicBezTo>
                    <a:pt x="1284870" y="363247"/>
                    <a:pt x="1229451" y="418666"/>
                    <a:pt x="1161088" y="418666"/>
                  </a:cubicBezTo>
                  <a:lnTo>
                    <a:pt x="123782" y="418666"/>
                  </a:lnTo>
                  <a:cubicBezTo>
                    <a:pt x="55419" y="418666"/>
                    <a:pt x="0" y="363247"/>
                    <a:pt x="0" y="294884"/>
                  </a:cubicBezTo>
                  <a:lnTo>
                    <a:pt x="0" y="123782"/>
                  </a:lnTo>
                  <a:cubicBezTo>
                    <a:pt x="0" y="55419"/>
                    <a:pt x="55419" y="0"/>
                    <a:pt x="123782" y="0"/>
                  </a:cubicBezTo>
                  <a:close/>
                </a:path>
              </a:pathLst>
            </a:custGeom>
            <a:solidFill>
              <a:srgbClr val="9560FF">
                <a:alpha val="49804"/>
              </a:srgbClr>
            </a:solidFill>
            <a:ln w="19050" cap="rnd">
              <a:gradFill>
                <a:gsLst>
                  <a:gs pos="0">
                    <a:srgbClr val="9560FF">
                      <a:alpha val="0"/>
                    </a:srgbClr>
                  </a:gs>
                  <a:gs pos="100000">
                    <a:srgbClr val="9560FF">
                      <a:alpha val="5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28575"/>
              <a:ext cx="1284870" cy="3900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7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686763" y="3666687"/>
            <a:ext cx="3950351" cy="1476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2"/>
              </a:lnSpc>
            </a:pPr>
            <a:r>
              <a:rPr lang="en-US" sz="4244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199,390 Records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496708" y="3648383"/>
            <a:ext cx="4878491" cy="1589621"/>
            <a:chOff x="0" y="0"/>
            <a:chExt cx="1284870" cy="41866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84870" cy="418666"/>
            </a:xfrm>
            <a:custGeom>
              <a:avLst/>
              <a:gdLst/>
              <a:ahLst/>
              <a:cxnLst/>
              <a:rect l="l" t="t" r="r" b="b"/>
              <a:pathLst>
                <a:path w="1284870" h="418666">
                  <a:moveTo>
                    <a:pt x="123782" y="0"/>
                  </a:moveTo>
                  <a:lnTo>
                    <a:pt x="1161088" y="0"/>
                  </a:lnTo>
                  <a:cubicBezTo>
                    <a:pt x="1229451" y="0"/>
                    <a:pt x="1284870" y="55419"/>
                    <a:pt x="1284870" y="123782"/>
                  </a:cubicBezTo>
                  <a:lnTo>
                    <a:pt x="1284870" y="294884"/>
                  </a:lnTo>
                  <a:cubicBezTo>
                    <a:pt x="1284870" y="363247"/>
                    <a:pt x="1229451" y="418666"/>
                    <a:pt x="1161088" y="418666"/>
                  </a:cubicBezTo>
                  <a:lnTo>
                    <a:pt x="123782" y="418666"/>
                  </a:lnTo>
                  <a:cubicBezTo>
                    <a:pt x="55419" y="418666"/>
                    <a:pt x="0" y="363247"/>
                    <a:pt x="0" y="294884"/>
                  </a:cubicBezTo>
                  <a:lnTo>
                    <a:pt x="0" y="123782"/>
                  </a:lnTo>
                  <a:cubicBezTo>
                    <a:pt x="0" y="55419"/>
                    <a:pt x="55419" y="0"/>
                    <a:pt x="123782" y="0"/>
                  </a:cubicBezTo>
                  <a:close/>
                </a:path>
              </a:pathLst>
            </a:custGeom>
            <a:solidFill>
              <a:srgbClr val="9560FF">
                <a:alpha val="49804"/>
              </a:srgbClr>
            </a:solidFill>
            <a:ln w="19050" cap="rnd">
              <a:gradFill>
                <a:gsLst>
                  <a:gs pos="0">
                    <a:srgbClr val="9560FF">
                      <a:alpha val="0"/>
                    </a:srgbClr>
                  </a:gs>
                  <a:gs pos="100000">
                    <a:srgbClr val="9560FF">
                      <a:alpha val="5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28575"/>
              <a:ext cx="1284870" cy="3900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7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153807" y="6254766"/>
            <a:ext cx="4878491" cy="1589621"/>
            <a:chOff x="0" y="0"/>
            <a:chExt cx="1284870" cy="41866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84870" cy="418666"/>
            </a:xfrm>
            <a:custGeom>
              <a:avLst/>
              <a:gdLst/>
              <a:ahLst/>
              <a:cxnLst/>
              <a:rect l="l" t="t" r="r" b="b"/>
              <a:pathLst>
                <a:path w="1284870" h="418666">
                  <a:moveTo>
                    <a:pt x="123782" y="0"/>
                  </a:moveTo>
                  <a:lnTo>
                    <a:pt x="1161088" y="0"/>
                  </a:lnTo>
                  <a:cubicBezTo>
                    <a:pt x="1229451" y="0"/>
                    <a:pt x="1284870" y="55419"/>
                    <a:pt x="1284870" y="123782"/>
                  </a:cubicBezTo>
                  <a:lnTo>
                    <a:pt x="1284870" y="294884"/>
                  </a:lnTo>
                  <a:cubicBezTo>
                    <a:pt x="1284870" y="363247"/>
                    <a:pt x="1229451" y="418666"/>
                    <a:pt x="1161088" y="418666"/>
                  </a:cubicBezTo>
                  <a:lnTo>
                    <a:pt x="123782" y="418666"/>
                  </a:lnTo>
                  <a:cubicBezTo>
                    <a:pt x="55419" y="418666"/>
                    <a:pt x="0" y="363247"/>
                    <a:pt x="0" y="294884"/>
                  </a:cubicBezTo>
                  <a:lnTo>
                    <a:pt x="0" y="123782"/>
                  </a:lnTo>
                  <a:cubicBezTo>
                    <a:pt x="0" y="55419"/>
                    <a:pt x="55419" y="0"/>
                    <a:pt x="123782" y="0"/>
                  </a:cubicBezTo>
                  <a:close/>
                </a:path>
              </a:pathLst>
            </a:custGeom>
            <a:solidFill>
              <a:srgbClr val="9560FF">
                <a:alpha val="49804"/>
              </a:srgbClr>
            </a:solidFill>
            <a:ln w="19050" cap="rnd">
              <a:gradFill>
                <a:gsLst>
                  <a:gs pos="0">
                    <a:srgbClr val="9560FF">
                      <a:alpha val="0"/>
                    </a:srgbClr>
                  </a:gs>
                  <a:gs pos="100000">
                    <a:srgbClr val="9560FF">
                      <a:alpha val="5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28575"/>
              <a:ext cx="1284870" cy="3900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7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7960777" y="3946558"/>
            <a:ext cx="3950351" cy="888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2"/>
              </a:lnSpc>
            </a:pPr>
            <a:r>
              <a:rPr lang="en-US" sz="514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33 Features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312554" y="6358948"/>
            <a:ext cx="4560998" cy="1305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02"/>
              </a:lnSpc>
            </a:pPr>
            <a:r>
              <a:rPr lang="en-US" sz="414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Target Variable:</a:t>
            </a:r>
          </a:p>
          <a:p>
            <a:pPr algn="ctr">
              <a:lnSpc>
                <a:spcPts val="4682"/>
              </a:lnSpc>
            </a:pPr>
            <a:r>
              <a:rPr lang="en-US" sz="334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is_canceled(yes/no)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496708" y="6254766"/>
            <a:ext cx="4878491" cy="1589621"/>
            <a:chOff x="0" y="0"/>
            <a:chExt cx="1284870" cy="41866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84870" cy="418666"/>
            </a:xfrm>
            <a:custGeom>
              <a:avLst/>
              <a:gdLst/>
              <a:ahLst/>
              <a:cxnLst/>
              <a:rect l="l" t="t" r="r" b="b"/>
              <a:pathLst>
                <a:path w="1284870" h="418666">
                  <a:moveTo>
                    <a:pt x="123782" y="0"/>
                  </a:moveTo>
                  <a:lnTo>
                    <a:pt x="1161088" y="0"/>
                  </a:lnTo>
                  <a:cubicBezTo>
                    <a:pt x="1229451" y="0"/>
                    <a:pt x="1284870" y="55419"/>
                    <a:pt x="1284870" y="123782"/>
                  </a:cubicBezTo>
                  <a:lnTo>
                    <a:pt x="1284870" y="294884"/>
                  </a:lnTo>
                  <a:cubicBezTo>
                    <a:pt x="1284870" y="363247"/>
                    <a:pt x="1229451" y="418666"/>
                    <a:pt x="1161088" y="418666"/>
                  </a:cubicBezTo>
                  <a:lnTo>
                    <a:pt x="123782" y="418666"/>
                  </a:lnTo>
                  <a:cubicBezTo>
                    <a:pt x="55419" y="418666"/>
                    <a:pt x="0" y="363247"/>
                    <a:pt x="0" y="294884"/>
                  </a:cubicBezTo>
                  <a:lnTo>
                    <a:pt x="0" y="123782"/>
                  </a:lnTo>
                  <a:cubicBezTo>
                    <a:pt x="0" y="55419"/>
                    <a:pt x="55419" y="0"/>
                    <a:pt x="123782" y="0"/>
                  </a:cubicBezTo>
                  <a:close/>
                </a:path>
              </a:pathLst>
            </a:custGeom>
            <a:solidFill>
              <a:srgbClr val="9560FF">
                <a:alpha val="49804"/>
              </a:srgbClr>
            </a:solidFill>
            <a:ln w="19050" cap="rnd">
              <a:gradFill>
                <a:gsLst>
                  <a:gs pos="0">
                    <a:srgbClr val="9560FF">
                      <a:alpha val="0"/>
                    </a:srgbClr>
                  </a:gs>
                  <a:gs pos="100000">
                    <a:srgbClr val="9560FF">
                      <a:alpha val="5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28575"/>
              <a:ext cx="1284870" cy="3900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7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7960777" y="6273069"/>
            <a:ext cx="3950351" cy="1476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2"/>
              </a:lnSpc>
            </a:pPr>
            <a:r>
              <a:rPr lang="en-US" sz="424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Cancellation Rate: 37%</a:t>
            </a:r>
          </a:p>
        </p:txBody>
      </p:sp>
      <p:sp>
        <p:nvSpPr>
          <p:cNvPr id="31" name="Freeform 31"/>
          <p:cNvSpPr/>
          <p:nvPr/>
        </p:nvSpPr>
        <p:spPr>
          <a:xfrm>
            <a:off x="14345637" y="372500"/>
            <a:ext cx="4348311" cy="656200"/>
          </a:xfrm>
          <a:custGeom>
            <a:avLst/>
            <a:gdLst/>
            <a:ahLst/>
            <a:cxnLst/>
            <a:rect l="l" t="t" r="r" b="b"/>
            <a:pathLst>
              <a:path w="4348311" h="656200">
                <a:moveTo>
                  <a:pt x="0" y="0"/>
                </a:moveTo>
                <a:lnTo>
                  <a:pt x="4348312" y="0"/>
                </a:lnTo>
                <a:lnTo>
                  <a:pt x="4348312" y="656200"/>
                </a:lnTo>
                <a:lnTo>
                  <a:pt x="0" y="6562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 flipH="1" flipV="1">
            <a:off x="-744089" y="9418642"/>
            <a:ext cx="4348311" cy="656200"/>
          </a:xfrm>
          <a:custGeom>
            <a:avLst/>
            <a:gdLst/>
            <a:ahLst/>
            <a:cxnLst/>
            <a:rect l="l" t="t" r="r" b="b"/>
            <a:pathLst>
              <a:path w="4348311" h="656200">
                <a:moveTo>
                  <a:pt x="4348311" y="656199"/>
                </a:moveTo>
                <a:lnTo>
                  <a:pt x="0" y="656199"/>
                </a:lnTo>
                <a:lnTo>
                  <a:pt x="0" y="0"/>
                </a:lnTo>
                <a:lnTo>
                  <a:pt x="4348311" y="0"/>
                </a:lnTo>
                <a:lnTo>
                  <a:pt x="4348311" y="656199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16">
            <a:extLst>
              <a:ext uri="{FF2B5EF4-FFF2-40B4-BE49-F238E27FC236}">
                <a16:creationId xmlns:a16="http://schemas.microsoft.com/office/drawing/2014/main" id="{71397A7B-80F3-ADB7-2F41-1B523DBCACED}"/>
              </a:ext>
            </a:extLst>
          </p:cNvPr>
          <p:cNvSpPr txBox="1"/>
          <p:nvPr/>
        </p:nvSpPr>
        <p:spPr>
          <a:xfrm>
            <a:off x="1805849" y="511810"/>
            <a:ext cx="298346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NTI - AI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0886" y="-2049095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0" y="0"/>
                </a:moveTo>
                <a:lnTo>
                  <a:pt x="9964777" y="0"/>
                </a:lnTo>
                <a:lnTo>
                  <a:pt x="9964777" y="9098671"/>
                </a:lnTo>
                <a:lnTo>
                  <a:pt x="0" y="9098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327663" y="3237424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9964777" y="9098671"/>
                </a:moveTo>
                <a:lnTo>
                  <a:pt x="0" y="9098671"/>
                </a:lnTo>
                <a:lnTo>
                  <a:pt x="0" y="0"/>
                </a:lnTo>
                <a:lnTo>
                  <a:pt x="9964777" y="0"/>
                </a:lnTo>
                <a:lnTo>
                  <a:pt x="9964777" y="9098671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307306">
            <a:off x="8638171" y="265703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307306">
            <a:off x="-7950368" y="-721331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527377" y="1151491"/>
            <a:ext cx="16450085" cy="8675594"/>
            <a:chOff x="0" y="0"/>
            <a:chExt cx="4332533" cy="22849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32533" cy="2284930"/>
            </a:xfrm>
            <a:custGeom>
              <a:avLst/>
              <a:gdLst/>
              <a:ahLst/>
              <a:cxnLst/>
              <a:rect l="l" t="t" r="r" b="b"/>
              <a:pathLst>
                <a:path w="4332533" h="2284930">
                  <a:moveTo>
                    <a:pt x="23532" y="0"/>
                  </a:moveTo>
                  <a:lnTo>
                    <a:pt x="4309001" y="0"/>
                  </a:lnTo>
                  <a:cubicBezTo>
                    <a:pt x="4315242" y="0"/>
                    <a:pt x="4321228" y="2479"/>
                    <a:pt x="4325641" y="6892"/>
                  </a:cubicBezTo>
                  <a:cubicBezTo>
                    <a:pt x="4330054" y="11305"/>
                    <a:pt x="4332533" y="17291"/>
                    <a:pt x="4332533" y="23532"/>
                  </a:cubicBezTo>
                  <a:lnTo>
                    <a:pt x="4332533" y="2261399"/>
                  </a:lnTo>
                  <a:cubicBezTo>
                    <a:pt x="4332533" y="2267639"/>
                    <a:pt x="4330054" y="2273625"/>
                    <a:pt x="4325641" y="2278038"/>
                  </a:cubicBezTo>
                  <a:cubicBezTo>
                    <a:pt x="4321228" y="2282451"/>
                    <a:pt x="4315242" y="2284930"/>
                    <a:pt x="4309001" y="2284930"/>
                  </a:cubicBezTo>
                  <a:lnTo>
                    <a:pt x="23532" y="2284930"/>
                  </a:lnTo>
                  <a:cubicBezTo>
                    <a:pt x="10535" y="2284930"/>
                    <a:pt x="0" y="2274395"/>
                    <a:pt x="0" y="2261399"/>
                  </a:cubicBezTo>
                  <a:lnTo>
                    <a:pt x="0" y="23532"/>
                  </a:lnTo>
                  <a:cubicBezTo>
                    <a:pt x="0" y="17291"/>
                    <a:pt x="2479" y="11305"/>
                    <a:pt x="6892" y="6892"/>
                  </a:cubicBezTo>
                  <a:cubicBezTo>
                    <a:pt x="11305" y="2479"/>
                    <a:pt x="17291" y="0"/>
                    <a:pt x="23532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332533" cy="2342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365551"/>
            <a:ext cx="526910" cy="654177"/>
          </a:xfrm>
          <a:custGeom>
            <a:avLst/>
            <a:gdLst/>
            <a:ahLst/>
            <a:cxnLst/>
            <a:rect l="l" t="t" r="r" b="b"/>
            <a:pathLst>
              <a:path w="526910" h="654177">
                <a:moveTo>
                  <a:pt x="0" y="0"/>
                </a:moveTo>
                <a:lnTo>
                  <a:pt x="526910" y="0"/>
                </a:lnTo>
                <a:lnTo>
                  <a:pt x="526910" y="654177"/>
                </a:lnTo>
                <a:lnTo>
                  <a:pt x="0" y="6541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102380" y="-55074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659517" y="3269655"/>
            <a:ext cx="4270129" cy="1440423"/>
            <a:chOff x="0" y="0"/>
            <a:chExt cx="1124643" cy="3793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24643" cy="379371"/>
            </a:xfrm>
            <a:custGeom>
              <a:avLst/>
              <a:gdLst/>
              <a:ahLst/>
              <a:cxnLst/>
              <a:rect l="l" t="t" r="r" b="b"/>
              <a:pathLst>
                <a:path w="1124643" h="379371">
                  <a:moveTo>
                    <a:pt x="141417" y="0"/>
                  </a:moveTo>
                  <a:lnTo>
                    <a:pt x="983226" y="0"/>
                  </a:lnTo>
                  <a:cubicBezTo>
                    <a:pt x="1020732" y="0"/>
                    <a:pt x="1056702" y="14899"/>
                    <a:pt x="1083223" y="41420"/>
                  </a:cubicBezTo>
                  <a:cubicBezTo>
                    <a:pt x="1109744" y="67941"/>
                    <a:pt x="1124643" y="103911"/>
                    <a:pt x="1124643" y="141417"/>
                  </a:cubicBezTo>
                  <a:lnTo>
                    <a:pt x="1124643" y="237953"/>
                  </a:lnTo>
                  <a:cubicBezTo>
                    <a:pt x="1124643" y="275460"/>
                    <a:pt x="1109744" y="311430"/>
                    <a:pt x="1083223" y="337950"/>
                  </a:cubicBezTo>
                  <a:cubicBezTo>
                    <a:pt x="1056702" y="364471"/>
                    <a:pt x="1020732" y="379371"/>
                    <a:pt x="983226" y="379371"/>
                  </a:cubicBezTo>
                  <a:lnTo>
                    <a:pt x="141417" y="379371"/>
                  </a:lnTo>
                  <a:cubicBezTo>
                    <a:pt x="103911" y="379371"/>
                    <a:pt x="67941" y="364471"/>
                    <a:pt x="41420" y="337950"/>
                  </a:cubicBezTo>
                  <a:cubicBezTo>
                    <a:pt x="14899" y="311430"/>
                    <a:pt x="0" y="275460"/>
                    <a:pt x="0" y="237953"/>
                  </a:cubicBezTo>
                  <a:lnTo>
                    <a:pt x="0" y="141417"/>
                  </a:lnTo>
                  <a:cubicBezTo>
                    <a:pt x="0" y="103911"/>
                    <a:pt x="14899" y="67941"/>
                    <a:pt x="41420" y="41420"/>
                  </a:cubicBezTo>
                  <a:cubicBezTo>
                    <a:pt x="67941" y="14899"/>
                    <a:pt x="103911" y="0"/>
                    <a:pt x="141417" y="0"/>
                  </a:cubicBezTo>
                  <a:close/>
                </a:path>
              </a:pathLst>
            </a:custGeom>
            <a:solidFill>
              <a:srgbClr val="9560FF">
                <a:alpha val="49804"/>
              </a:srgbClr>
            </a:solidFill>
            <a:ln w="19050" cap="rnd">
              <a:gradFill>
                <a:gsLst>
                  <a:gs pos="0">
                    <a:srgbClr val="9560FF">
                      <a:alpha val="0"/>
                    </a:srgbClr>
                  </a:gs>
                  <a:gs pos="100000">
                    <a:srgbClr val="9560FF">
                      <a:alpha val="5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28575"/>
              <a:ext cx="1124643" cy="350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7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555610" y="1508291"/>
            <a:ext cx="1494740" cy="1494740"/>
          </a:xfrm>
          <a:custGeom>
            <a:avLst/>
            <a:gdLst/>
            <a:ahLst/>
            <a:cxnLst/>
            <a:rect l="l" t="t" r="r" b="b"/>
            <a:pathLst>
              <a:path w="1494740" h="1494740">
                <a:moveTo>
                  <a:pt x="0" y="0"/>
                </a:moveTo>
                <a:lnTo>
                  <a:pt x="1494741" y="0"/>
                </a:lnTo>
                <a:lnTo>
                  <a:pt x="1494741" y="1494740"/>
                </a:lnTo>
                <a:lnTo>
                  <a:pt x="0" y="149474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805849" y="4910102"/>
            <a:ext cx="12288032" cy="1091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2"/>
              </a:lnSpc>
            </a:pPr>
            <a:r>
              <a:rPr lang="en-US" sz="3144" b="1">
                <a:solidFill>
                  <a:srgbClr val="956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Missing Values</a:t>
            </a:r>
            <a:r>
              <a:rPr lang="en-US" sz="314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Identified and handled missing data across columns such as </a:t>
            </a:r>
            <a:r>
              <a:rPr lang="en-US" sz="3144" b="1">
                <a:solidFill>
                  <a:srgbClr val="956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children, country, agent, and company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339023" y="3269655"/>
            <a:ext cx="3612509" cy="1440423"/>
            <a:chOff x="0" y="0"/>
            <a:chExt cx="951443" cy="3793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51443" cy="379371"/>
            </a:xfrm>
            <a:custGeom>
              <a:avLst/>
              <a:gdLst/>
              <a:ahLst/>
              <a:cxnLst/>
              <a:rect l="l" t="t" r="r" b="b"/>
              <a:pathLst>
                <a:path w="951443" h="379371">
                  <a:moveTo>
                    <a:pt x="167161" y="0"/>
                  </a:moveTo>
                  <a:lnTo>
                    <a:pt x="784282" y="0"/>
                  </a:lnTo>
                  <a:cubicBezTo>
                    <a:pt x="828616" y="0"/>
                    <a:pt x="871134" y="17612"/>
                    <a:pt x="902483" y="48960"/>
                  </a:cubicBezTo>
                  <a:cubicBezTo>
                    <a:pt x="933831" y="80309"/>
                    <a:pt x="951443" y="122827"/>
                    <a:pt x="951443" y="167161"/>
                  </a:cubicBezTo>
                  <a:lnTo>
                    <a:pt x="951443" y="212210"/>
                  </a:lnTo>
                  <a:cubicBezTo>
                    <a:pt x="951443" y="304530"/>
                    <a:pt x="876602" y="379371"/>
                    <a:pt x="784282" y="379371"/>
                  </a:cubicBezTo>
                  <a:lnTo>
                    <a:pt x="167161" y="379371"/>
                  </a:lnTo>
                  <a:cubicBezTo>
                    <a:pt x="74840" y="379371"/>
                    <a:pt x="0" y="304530"/>
                    <a:pt x="0" y="212210"/>
                  </a:cubicBezTo>
                  <a:lnTo>
                    <a:pt x="0" y="167161"/>
                  </a:lnTo>
                  <a:cubicBezTo>
                    <a:pt x="0" y="74840"/>
                    <a:pt x="74840" y="0"/>
                    <a:pt x="167161" y="0"/>
                  </a:cubicBezTo>
                  <a:close/>
                </a:path>
              </a:pathLst>
            </a:custGeom>
            <a:solidFill>
              <a:srgbClr val="9560FF">
                <a:alpha val="49804"/>
              </a:srgbClr>
            </a:solidFill>
            <a:ln w="19050" cap="rnd">
              <a:gradFill>
                <a:gsLst>
                  <a:gs pos="0">
                    <a:srgbClr val="9560FF">
                      <a:alpha val="0"/>
                    </a:srgbClr>
                  </a:gs>
                  <a:gs pos="100000">
                    <a:srgbClr val="9560FF">
                      <a:alpha val="5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28575"/>
              <a:ext cx="951443" cy="350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7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88931" y="4953978"/>
            <a:ext cx="731589" cy="731589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33350" cap="sq">
              <a:gradFill>
                <a:gsLst>
                  <a:gs pos="0">
                    <a:srgbClr val="9560FF">
                      <a:alpha val="63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2302980" y="6601873"/>
            <a:ext cx="10413091" cy="2182762"/>
          </a:xfrm>
          <a:custGeom>
            <a:avLst/>
            <a:gdLst/>
            <a:ahLst/>
            <a:cxnLst/>
            <a:rect l="l" t="t" r="r" b="b"/>
            <a:pathLst>
              <a:path w="10413091" h="2182762">
                <a:moveTo>
                  <a:pt x="0" y="0"/>
                </a:moveTo>
                <a:lnTo>
                  <a:pt x="10413091" y="0"/>
                </a:lnTo>
                <a:lnTo>
                  <a:pt x="10413091" y="2182762"/>
                </a:lnTo>
                <a:lnTo>
                  <a:pt x="0" y="218276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6520" r="-140314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3297584" y="1635012"/>
            <a:ext cx="7527550" cy="1250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10"/>
              </a:lnSpc>
            </a:pPr>
            <a:r>
              <a:rPr lang="en-US" sz="8299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Cleaning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93363" y="3346374"/>
            <a:ext cx="3103828" cy="1220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26"/>
              </a:lnSpc>
            </a:pPr>
            <a:r>
              <a:rPr lang="en-US" sz="351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 Duplicated Rows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043033" y="3346374"/>
            <a:ext cx="3503097" cy="1220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26"/>
              </a:lnSpc>
            </a:pPr>
            <a:r>
              <a:rPr lang="en-US" sz="351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129,425 Missing Values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2144124" y="6501488"/>
            <a:ext cx="11949758" cy="2383531"/>
            <a:chOff x="0" y="0"/>
            <a:chExt cx="3147261" cy="62776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147261" cy="627761"/>
            </a:xfrm>
            <a:custGeom>
              <a:avLst/>
              <a:gdLst/>
              <a:ahLst/>
              <a:cxnLst/>
              <a:rect l="l" t="t" r="r" b="b"/>
              <a:pathLst>
                <a:path w="3147261" h="627761">
                  <a:moveTo>
                    <a:pt x="31098" y="0"/>
                  </a:moveTo>
                  <a:lnTo>
                    <a:pt x="3116163" y="0"/>
                  </a:lnTo>
                  <a:cubicBezTo>
                    <a:pt x="3133338" y="0"/>
                    <a:pt x="3147261" y="13923"/>
                    <a:pt x="3147261" y="31098"/>
                  </a:cubicBezTo>
                  <a:lnTo>
                    <a:pt x="3147261" y="596663"/>
                  </a:lnTo>
                  <a:cubicBezTo>
                    <a:pt x="3147261" y="613838"/>
                    <a:pt x="3133338" y="627761"/>
                    <a:pt x="3116163" y="627761"/>
                  </a:cubicBezTo>
                  <a:lnTo>
                    <a:pt x="31098" y="627761"/>
                  </a:lnTo>
                  <a:cubicBezTo>
                    <a:pt x="13923" y="627761"/>
                    <a:pt x="0" y="613838"/>
                    <a:pt x="0" y="596663"/>
                  </a:cubicBezTo>
                  <a:lnTo>
                    <a:pt x="0" y="31098"/>
                  </a:lnTo>
                  <a:cubicBezTo>
                    <a:pt x="0" y="13923"/>
                    <a:pt x="13923" y="0"/>
                    <a:pt x="31098" y="0"/>
                  </a:cubicBezTo>
                  <a:close/>
                </a:path>
              </a:pathLst>
            </a:custGeom>
            <a:ln w="104775" cap="rnd">
              <a:gradFill>
                <a:gsLst>
                  <a:gs pos="0">
                    <a:srgbClr val="9560FF">
                      <a:alpha val="10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85725"/>
              <a:ext cx="3147261" cy="713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3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108332" y="3317280"/>
            <a:ext cx="6712833" cy="1440423"/>
            <a:chOff x="0" y="0"/>
            <a:chExt cx="1767989" cy="37937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767989" cy="379371"/>
            </a:xfrm>
            <a:custGeom>
              <a:avLst/>
              <a:gdLst/>
              <a:ahLst/>
              <a:cxnLst/>
              <a:rect l="l" t="t" r="r" b="b"/>
              <a:pathLst>
                <a:path w="1767989" h="379371">
                  <a:moveTo>
                    <a:pt x="89958" y="0"/>
                  </a:moveTo>
                  <a:lnTo>
                    <a:pt x="1678031" y="0"/>
                  </a:lnTo>
                  <a:cubicBezTo>
                    <a:pt x="1701890" y="0"/>
                    <a:pt x="1724771" y="9478"/>
                    <a:pt x="1741641" y="26348"/>
                  </a:cubicBezTo>
                  <a:cubicBezTo>
                    <a:pt x="1758511" y="43218"/>
                    <a:pt x="1767989" y="66099"/>
                    <a:pt x="1767989" y="89958"/>
                  </a:cubicBezTo>
                  <a:lnTo>
                    <a:pt x="1767989" y="289413"/>
                  </a:lnTo>
                  <a:cubicBezTo>
                    <a:pt x="1767989" y="313271"/>
                    <a:pt x="1758511" y="336152"/>
                    <a:pt x="1741641" y="353023"/>
                  </a:cubicBezTo>
                  <a:cubicBezTo>
                    <a:pt x="1724771" y="369893"/>
                    <a:pt x="1701890" y="379371"/>
                    <a:pt x="1678031" y="379371"/>
                  </a:cubicBezTo>
                  <a:lnTo>
                    <a:pt x="89958" y="379371"/>
                  </a:lnTo>
                  <a:cubicBezTo>
                    <a:pt x="40275" y="379371"/>
                    <a:pt x="0" y="339095"/>
                    <a:pt x="0" y="289413"/>
                  </a:cubicBezTo>
                  <a:lnTo>
                    <a:pt x="0" y="89958"/>
                  </a:lnTo>
                  <a:cubicBezTo>
                    <a:pt x="0" y="66099"/>
                    <a:pt x="9478" y="43218"/>
                    <a:pt x="26348" y="26348"/>
                  </a:cubicBezTo>
                  <a:cubicBezTo>
                    <a:pt x="43218" y="9478"/>
                    <a:pt x="66099" y="0"/>
                    <a:pt x="89958" y="0"/>
                  </a:cubicBezTo>
                  <a:close/>
                </a:path>
              </a:pathLst>
            </a:custGeom>
            <a:solidFill>
              <a:srgbClr val="9560FF">
                <a:alpha val="49804"/>
              </a:srgbClr>
            </a:solidFill>
            <a:ln w="19050" cap="rnd">
              <a:gradFill>
                <a:gsLst>
                  <a:gs pos="0">
                    <a:srgbClr val="9560FF">
                      <a:alpha val="0"/>
                    </a:srgbClr>
                  </a:gs>
                  <a:gs pos="100000">
                    <a:srgbClr val="9560FF">
                      <a:alpha val="5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28575"/>
              <a:ext cx="1767989" cy="350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7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0742107" y="3393999"/>
            <a:ext cx="5335039" cy="1220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26"/>
              </a:lnSpc>
            </a:pPr>
            <a:r>
              <a:rPr lang="en-US" sz="351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Bookings with zero total guests were removed </a:t>
            </a:r>
          </a:p>
        </p:txBody>
      </p:sp>
      <p:sp>
        <p:nvSpPr>
          <p:cNvPr id="34" name="TextBox 16">
            <a:extLst>
              <a:ext uri="{FF2B5EF4-FFF2-40B4-BE49-F238E27FC236}">
                <a16:creationId xmlns:a16="http://schemas.microsoft.com/office/drawing/2014/main" id="{153C77D5-C707-2F2B-E48F-A96B7B32B359}"/>
              </a:ext>
            </a:extLst>
          </p:cNvPr>
          <p:cNvSpPr txBox="1"/>
          <p:nvPr/>
        </p:nvSpPr>
        <p:spPr>
          <a:xfrm>
            <a:off x="1805849" y="511810"/>
            <a:ext cx="298346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NTI - AI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0886" y="-2049095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0" y="0"/>
                </a:moveTo>
                <a:lnTo>
                  <a:pt x="9964777" y="0"/>
                </a:lnTo>
                <a:lnTo>
                  <a:pt x="9964777" y="9098671"/>
                </a:lnTo>
                <a:lnTo>
                  <a:pt x="0" y="9098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327663" y="3237424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9964777" y="9098671"/>
                </a:moveTo>
                <a:lnTo>
                  <a:pt x="0" y="9098671"/>
                </a:lnTo>
                <a:lnTo>
                  <a:pt x="0" y="0"/>
                </a:lnTo>
                <a:lnTo>
                  <a:pt x="9964777" y="0"/>
                </a:lnTo>
                <a:lnTo>
                  <a:pt x="9964777" y="9098671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307306">
            <a:off x="8638171" y="265703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307306">
            <a:off x="-7950368" y="-721331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809215" y="1240326"/>
            <a:ext cx="16450085" cy="8839999"/>
            <a:chOff x="0" y="0"/>
            <a:chExt cx="4332533" cy="23282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32533" cy="2328230"/>
            </a:xfrm>
            <a:custGeom>
              <a:avLst/>
              <a:gdLst/>
              <a:ahLst/>
              <a:cxnLst/>
              <a:rect l="l" t="t" r="r" b="b"/>
              <a:pathLst>
                <a:path w="4332533" h="2328230">
                  <a:moveTo>
                    <a:pt x="23532" y="0"/>
                  </a:moveTo>
                  <a:lnTo>
                    <a:pt x="4309001" y="0"/>
                  </a:lnTo>
                  <a:cubicBezTo>
                    <a:pt x="4315242" y="0"/>
                    <a:pt x="4321228" y="2479"/>
                    <a:pt x="4325641" y="6892"/>
                  </a:cubicBezTo>
                  <a:cubicBezTo>
                    <a:pt x="4330054" y="11305"/>
                    <a:pt x="4332533" y="17291"/>
                    <a:pt x="4332533" y="23532"/>
                  </a:cubicBezTo>
                  <a:lnTo>
                    <a:pt x="4332533" y="2304699"/>
                  </a:lnTo>
                  <a:cubicBezTo>
                    <a:pt x="4332533" y="2317695"/>
                    <a:pt x="4321997" y="2328230"/>
                    <a:pt x="4309001" y="2328230"/>
                  </a:cubicBezTo>
                  <a:lnTo>
                    <a:pt x="23532" y="2328230"/>
                  </a:lnTo>
                  <a:cubicBezTo>
                    <a:pt x="17291" y="2328230"/>
                    <a:pt x="11305" y="2325751"/>
                    <a:pt x="6892" y="2321338"/>
                  </a:cubicBezTo>
                  <a:cubicBezTo>
                    <a:pt x="2479" y="2316925"/>
                    <a:pt x="0" y="2310940"/>
                    <a:pt x="0" y="2304699"/>
                  </a:cubicBezTo>
                  <a:lnTo>
                    <a:pt x="0" y="23532"/>
                  </a:lnTo>
                  <a:cubicBezTo>
                    <a:pt x="0" y="17291"/>
                    <a:pt x="2479" y="11305"/>
                    <a:pt x="6892" y="6892"/>
                  </a:cubicBezTo>
                  <a:cubicBezTo>
                    <a:pt x="11305" y="2479"/>
                    <a:pt x="17291" y="0"/>
                    <a:pt x="23532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332533" cy="23853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365551"/>
            <a:ext cx="526910" cy="654177"/>
          </a:xfrm>
          <a:custGeom>
            <a:avLst/>
            <a:gdLst/>
            <a:ahLst/>
            <a:cxnLst/>
            <a:rect l="l" t="t" r="r" b="b"/>
            <a:pathLst>
              <a:path w="526910" h="654177">
                <a:moveTo>
                  <a:pt x="0" y="0"/>
                </a:moveTo>
                <a:lnTo>
                  <a:pt x="526910" y="0"/>
                </a:lnTo>
                <a:lnTo>
                  <a:pt x="526910" y="654177"/>
                </a:lnTo>
                <a:lnTo>
                  <a:pt x="0" y="6541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102380" y="-55074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55610" y="1508291"/>
            <a:ext cx="1494740" cy="1494740"/>
          </a:xfrm>
          <a:custGeom>
            <a:avLst/>
            <a:gdLst/>
            <a:ahLst/>
            <a:cxnLst/>
            <a:rect l="l" t="t" r="r" b="b"/>
            <a:pathLst>
              <a:path w="1494740" h="1494740">
                <a:moveTo>
                  <a:pt x="0" y="0"/>
                </a:moveTo>
                <a:lnTo>
                  <a:pt x="1494741" y="0"/>
                </a:lnTo>
                <a:lnTo>
                  <a:pt x="1494741" y="1494740"/>
                </a:lnTo>
                <a:lnTo>
                  <a:pt x="0" y="149474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571391" y="3366169"/>
            <a:ext cx="731589" cy="731589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33350" cap="sq">
              <a:gradFill>
                <a:gsLst>
                  <a:gs pos="0">
                    <a:srgbClr val="9560FF">
                      <a:alpha val="63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71391" y="6249229"/>
            <a:ext cx="731589" cy="731589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33350" cap="sq">
              <a:gradFill>
                <a:gsLst>
                  <a:gs pos="0">
                    <a:srgbClr val="9560FF">
                      <a:alpha val="63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4460953" y="4740895"/>
            <a:ext cx="6848354" cy="1305344"/>
          </a:xfrm>
          <a:custGeom>
            <a:avLst/>
            <a:gdLst/>
            <a:ahLst/>
            <a:cxnLst/>
            <a:rect l="l" t="t" r="r" b="b"/>
            <a:pathLst>
              <a:path w="6848354" h="1305344">
                <a:moveTo>
                  <a:pt x="0" y="0"/>
                </a:moveTo>
                <a:lnTo>
                  <a:pt x="6848354" y="0"/>
                </a:lnTo>
                <a:lnTo>
                  <a:pt x="6848354" y="1305343"/>
                </a:lnTo>
                <a:lnTo>
                  <a:pt x="0" y="130534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2069" r="-243995" b="-2069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2880443" y="7626674"/>
            <a:ext cx="10009374" cy="2127082"/>
          </a:xfrm>
          <a:custGeom>
            <a:avLst/>
            <a:gdLst/>
            <a:ahLst/>
            <a:cxnLst/>
            <a:rect l="l" t="t" r="r" b="b"/>
            <a:pathLst>
              <a:path w="10009374" h="2127082">
                <a:moveTo>
                  <a:pt x="0" y="0"/>
                </a:moveTo>
                <a:lnTo>
                  <a:pt x="10009374" y="0"/>
                </a:lnTo>
                <a:lnTo>
                  <a:pt x="10009374" y="2127082"/>
                </a:lnTo>
                <a:lnTo>
                  <a:pt x="0" y="21270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087" r="-71212" b="-4302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3297584" y="1635012"/>
            <a:ext cx="7527550" cy="1250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10"/>
              </a:lnSpc>
            </a:pPr>
            <a:r>
              <a:rPr lang="en-US" sz="8299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Cleaning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99045" y="3299494"/>
            <a:ext cx="11457934" cy="1091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2"/>
              </a:lnSpc>
            </a:pPr>
            <a:r>
              <a:rPr lang="en-US" sz="3144" b="1">
                <a:solidFill>
                  <a:srgbClr val="956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Duplicates:</a:t>
            </a:r>
            <a:r>
              <a:rPr lang="en-US" sz="314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Checked the dataset for duplicate records and found no duplicate bookings.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499045" y="6182554"/>
            <a:ext cx="14247844" cy="1091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2"/>
              </a:lnSpc>
            </a:pPr>
            <a:r>
              <a:rPr lang="en-US" sz="3144" b="1">
                <a:solidFill>
                  <a:srgbClr val="956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Leakage: </a:t>
            </a:r>
            <a:r>
              <a:rPr lang="en-US" sz="314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Removed </a:t>
            </a:r>
            <a:r>
              <a:rPr lang="en-US" sz="3144" b="1">
                <a:solidFill>
                  <a:srgbClr val="956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reservation_status </a:t>
            </a:r>
            <a:r>
              <a:rPr lang="en-US" sz="314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and </a:t>
            </a:r>
            <a:r>
              <a:rPr lang="en-US" sz="3144" b="1">
                <a:solidFill>
                  <a:srgbClr val="956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reservation_status_date</a:t>
            </a:r>
            <a:r>
              <a:rPr lang="en-US" sz="314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because they could reveal information about the booking outcome.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2880443" y="7636199"/>
            <a:ext cx="11785353" cy="2117557"/>
            <a:chOff x="0" y="0"/>
            <a:chExt cx="3103961" cy="55771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103961" cy="557710"/>
            </a:xfrm>
            <a:custGeom>
              <a:avLst/>
              <a:gdLst/>
              <a:ahLst/>
              <a:cxnLst/>
              <a:rect l="l" t="t" r="r" b="b"/>
              <a:pathLst>
                <a:path w="3103961" h="557710">
                  <a:moveTo>
                    <a:pt x="31532" y="0"/>
                  </a:moveTo>
                  <a:lnTo>
                    <a:pt x="3072430" y="0"/>
                  </a:lnTo>
                  <a:cubicBezTo>
                    <a:pt x="3080792" y="0"/>
                    <a:pt x="3088812" y="3322"/>
                    <a:pt x="3094726" y="9235"/>
                  </a:cubicBezTo>
                  <a:cubicBezTo>
                    <a:pt x="3100639" y="15149"/>
                    <a:pt x="3103961" y="23169"/>
                    <a:pt x="3103961" y="31532"/>
                  </a:cubicBezTo>
                  <a:lnTo>
                    <a:pt x="3103961" y="526179"/>
                  </a:lnTo>
                  <a:cubicBezTo>
                    <a:pt x="3103961" y="543593"/>
                    <a:pt x="3089844" y="557710"/>
                    <a:pt x="3072430" y="557710"/>
                  </a:cubicBezTo>
                  <a:lnTo>
                    <a:pt x="31532" y="557710"/>
                  </a:lnTo>
                  <a:cubicBezTo>
                    <a:pt x="23169" y="557710"/>
                    <a:pt x="15149" y="554388"/>
                    <a:pt x="9235" y="548475"/>
                  </a:cubicBezTo>
                  <a:cubicBezTo>
                    <a:pt x="3322" y="542562"/>
                    <a:pt x="0" y="534541"/>
                    <a:pt x="0" y="526179"/>
                  </a:cubicBezTo>
                  <a:lnTo>
                    <a:pt x="0" y="31532"/>
                  </a:lnTo>
                  <a:cubicBezTo>
                    <a:pt x="0" y="23169"/>
                    <a:pt x="3322" y="15149"/>
                    <a:pt x="9235" y="9235"/>
                  </a:cubicBezTo>
                  <a:cubicBezTo>
                    <a:pt x="15149" y="3322"/>
                    <a:pt x="23169" y="0"/>
                    <a:pt x="31532" y="0"/>
                  </a:cubicBezTo>
                  <a:close/>
                </a:path>
              </a:pathLst>
            </a:custGeom>
            <a:ln w="104775" cap="rnd">
              <a:gradFill>
                <a:gsLst>
                  <a:gs pos="0">
                    <a:srgbClr val="9560FF">
                      <a:alpha val="10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85725"/>
              <a:ext cx="3103961" cy="643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3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345591" y="4740895"/>
            <a:ext cx="8544226" cy="1374599"/>
            <a:chOff x="0" y="0"/>
            <a:chExt cx="2250331" cy="36203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250331" cy="362034"/>
            </a:xfrm>
            <a:custGeom>
              <a:avLst/>
              <a:gdLst/>
              <a:ahLst/>
              <a:cxnLst/>
              <a:rect l="l" t="t" r="r" b="b"/>
              <a:pathLst>
                <a:path w="2250331" h="362034">
                  <a:moveTo>
                    <a:pt x="43493" y="0"/>
                  </a:moveTo>
                  <a:lnTo>
                    <a:pt x="2206838" y="0"/>
                  </a:lnTo>
                  <a:cubicBezTo>
                    <a:pt x="2230859" y="0"/>
                    <a:pt x="2250331" y="19472"/>
                    <a:pt x="2250331" y="43493"/>
                  </a:cubicBezTo>
                  <a:lnTo>
                    <a:pt x="2250331" y="318542"/>
                  </a:lnTo>
                  <a:cubicBezTo>
                    <a:pt x="2250331" y="342562"/>
                    <a:pt x="2230859" y="362034"/>
                    <a:pt x="2206838" y="362034"/>
                  </a:cubicBezTo>
                  <a:lnTo>
                    <a:pt x="43493" y="362034"/>
                  </a:lnTo>
                  <a:cubicBezTo>
                    <a:pt x="19472" y="362034"/>
                    <a:pt x="0" y="342562"/>
                    <a:pt x="0" y="318542"/>
                  </a:cubicBezTo>
                  <a:lnTo>
                    <a:pt x="0" y="43493"/>
                  </a:lnTo>
                  <a:cubicBezTo>
                    <a:pt x="0" y="19472"/>
                    <a:pt x="19472" y="0"/>
                    <a:pt x="43493" y="0"/>
                  </a:cubicBezTo>
                  <a:close/>
                </a:path>
              </a:pathLst>
            </a:custGeom>
            <a:ln w="104775" cap="rnd">
              <a:gradFill>
                <a:gsLst>
                  <a:gs pos="0">
                    <a:srgbClr val="9560FF">
                      <a:alpha val="10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85725"/>
              <a:ext cx="2250331" cy="447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3"/>
                </a:lnSpc>
              </a:pPr>
              <a:endParaRPr/>
            </a:p>
          </p:txBody>
        </p:sp>
      </p:grpSp>
      <p:sp>
        <p:nvSpPr>
          <p:cNvPr id="30" name="TextBox 16">
            <a:extLst>
              <a:ext uri="{FF2B5EF4-FFF2-40B4-BE49-F238E27FC236}">
                <a16:creationId xmlns:a16="http://schemas.microsoft.com/office/drawing/2014/main" id="{1E6181FC-C404-4519-4C62-1FCB978C6A13}"/>
              </a:ext>
            </a:extLst>
          </p:cNvPr>
          <p:cNvSpPr txBox="1"/>
          <p:nvPr/>
        </p:nvSpPr>
        <p:spPr>
          <a:xfrm>
            <a:off x="1805849" y="511810"/>
            <a:ext cx="298346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NTI - AI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3032" y="-1244549"/>
            <a:ext cx="5512535" cy="5033403"/>
          </a:xfrm>
          <a:custGeom>
            <a:avLst/>
            <a:gdLst/>
            <a:ahLst/>
            <a:cxnLst/>
            <a:rect l="l" t="t" r="r" b="b"/>
            <a:pathLst>
              <a:path w="5512535" h="5033403">
                <a:moveTo>
                  <a:pt x="0" y="0"/>
                </a:moveTo>
                <a:lnTo>
                  <a:pt x="5512536" y="0"/>
                </a:lnTo>
                <a:lnTo>
                  <a:pt x="5512536" y="5033403"/>
                </a:lnTo>
                <a:lnTo>
                  <a:pt x="0" y="5033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1570172" y="6445770"/>
            <a:ext cx="5512535" cy="5033403"/>
          </a:xfrm>
          <a:custGeom>
            <a:avLst/>
            <a:gdLst/>
            <a:ahLst/>
            <a:cxnLst/>
            <a:rect l="l" t="t" r="r" b="b"/>
            <a:pathLst>
              <a:path w="5512535" h="5033403">
                <a:moveTo>
                  <a:pt x="5512535" y="5033403"/>
                </a:moveTo>
                <a:lnTo>
                  <a:pt x="0" y="5033403"/>
                </a:lnTo>
                <a:lnTo>
                  <a:pt x="0" y="0"/>
                </a:lnTo>
                <a:lnTo>
                  <a:pt x="5512535" y="0"/>
                </a:lnTo>
                <a:lnTo>
                  <a:pt x="5512535" y="5033403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9385474">
            <a:off x="11564721" y="2731974"/>
            <a:ext cx="12686060" cy="14220711"/>
          </a:xfrm>
          <a:custGeom>
            <a:avLst/>
            <a:gdLst/>
            <a:ahLst/>
            <a:cxnLst/>
            <a:rect l="l" t="t" r="r" b="b"/>
            <a:pathLst>
              <a:path w="12686060" h="14220711">
                <a:moveTo>
                  <a:pt x="0" y="0"/>
                </a:moveTo>
                <a:lnTo>
                  <a:pt x="12686060" y="0"/>
                </a:lnTo>
                <a:lnTo>
                  <a:pt x="12686060" y="14220711"/>
                </a:lnTo>
                <a:lnTo>
                  <a:pt x="0" y="142207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132515" y="3386453"/>
            <a:ext cx="7303893" cy="5576019"/>
            <a:chOff x="0" y="0"/>
            <a:chExt cx="1923659" cy="14685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23659" cy="1468581"/>
            </a:xfrm>
            <a:custGeom>
              <a:avLst/>
              <a:gdLst/>
              <a:ahLst/>
              <a:cxnLst/>
              <a:rect l="l" t="t" r="r" b="b"/>
              <a:pathLst>
                <a:path w="1923659" h="1468581">
                  <a:moveTo>
                    <a:pt x="52999" y="0"/>
                  </a:moveTo>
                  <a:lnTo>
                    <a:pt x="1870661" y="0"/>
                  </a:lnTo>
                  <a:cubicBezTo>
                    <a:pt x="1884717" y="0"/>
                    <a:pt x="1898197" y="5584"/>
                    <a:pt x="1908136" y="15523"/>
                  </a:cubicBezTo>
                  <a:cubicBezTo>
                    <a:pt x="1918075" y="25462"/>
                    <a:pt x="1923659" y="38942"/>
                    <a:pt x="1923659" y="52999"/>
                  </a:cubicBezTo>
                  <a:lnTo>
                    <a:pt x="1923659" y="1415582"/>
                  </a:lnTo>
                  <a:cubicBezTo>
                    <a:pt x="1923659" y="1429639"/>
                    <a:pt x="1918075" y="1443119"/>
                    <a:pt x="1908136" y="1453058"/>
                  </a:cubicBezTo>
                  <a:cubicBezTo>
                    <a:pt x="1898197" y="1462997"/>
                    <a:pt x="1884717" y="1468581"/>
                    <a:pt x="1870661" y="1468581"/>
                  </a:cubicBezTo>
                  <a:lnTo>
                    <a:pt x="52999" y="1468581"/>
                  </a:lnTo>
                  <a:cubicBezTo>
                    <a:pt x="38942" y="1468581"/>
                    <a:pt x="25462" y="1462997"/>
                    <a:pt x="15523" y="1453058"/>
                  </a:cubicBezTo>
                  <a:cubicBezTo>
                    <a:pt x="5584" y="1443119"/>
                    <a:pt x="0" y="1429639"/>
                    <a:pt x="0" y="1415582"/>
                  </a:cubicBezTo>
                  <a:lnTo>
                    <a:pt x="0" y="52999"/>
                  </a:lnTo>
                  <a:cubicBezTo>
                    <a:pt x="0" y="38942"/>
                    <a:pt x="5584" y="25462"/>
                    <a:pt x="15523" y="15523"/>
                  </a:cubicBezTo>
                  <a:cubicBezTo>
                    <a:pt x="25462" y="5584"/>
                    <a:pt x="38942" y="0"/>
                    <a:pt x="52999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923659" cy="15257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65245" y="2566087"/>
            <a:ext cx="8827561" cy="7313175"/>
            <a:chOff x="0" y="0"/>
            <a:chExt cx="1367620" cy="11330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67620" cy="1133002"/>
            </a:xfrm>
            <a:custGeom>
              <a:avLst/>
              <a:gdLst/>
              <a:ahLst/>
              <a:cxnLst/>
              <a:rect l="l" t="t" r="r" b="b"/>
              <a:pathLst>
                <a:path w="1367620" h="1133002">
                  <a:moveTo>
                    <a:pt x="20171" y="0"/>
                  </a:moveTo>
                  <a:lnTo>
                    <a:pt x="1347449" y="0"/>
                  </a:lnTo>
                  <a:cubicBezTo>
                    <a:pt x="1352799" y="0"/>
                    <a:pt x="1357929" y="2125"/>
                    <a:pt x="1361712" y="5908"/>
                  </a:cubicBezTo>
                  <a:cubicBezTo>
                    <a:pt x="1365495" y="9691"/>
                    <a:pt x="1367620" y="14822"/>
                    <a:pt x="1367620" y="20171"/>
                  </a:cubicBezTo>
                  <a:lnTo>
                    <a:pt x="1367620" y="1112831"/>
                  </a:lnTo>
                  <a:cubicBezTo>
                    <a:pt x="1367620" y="1118181"/>
                    <a:pt x="1365495" y="1123311"/>
                    <a:pt x="1361712" y="1127094"/>
                  </a:cubicBezTo>
                  <a:cubicBezTo>
                    <a:pt x="1357929" y="1130877"/>
                    <a:pt x="1352799" y="1133002"/>
                    <a:pt x="1347449" y="1133002"/>
                  </a:cubicBezTo>
                  <a:lnTo>
                    <a:pt x="20171" y="1133002"/>
                  </a:lnTo>
                  <a:cubicBezTo>
                    <a:pt x="14822" y="1133002"/>
                    <a:pt x="9691" y="1130877"/>
                    <a:pt x="5908" y="1127094"/>
                  </a:cubicBezTo>
                  <a:cubicBezTo>
                    <a:pt x="2125" y="1123311"/>
                    <a:pt x="0" y="1118181"/>
                    <a:pt x="0" y="1112831"/>
                  </a:cubicBezTo>
                  <a:lnTo>
                    <a:pt x="0" y="20171"/>
                  </a:lnTo>
                  <a:cubicBezTo>
                    <a:pt x="0" y="14822"/>
                    <a:pt x="2125" y="9691"/>
                    <a:pt x="5908" y="5908"/>
                  </a:cubicBezTo>
                  <a:cubicBezTo>
                    <a:pt x="9691" y="2125"/>
                    <a:pt x="14822" y="0"/>
                    <a:pt x="20171" y="0"/>
                  </a:cubicBezTo>
                  <a:close/>
                </a:path>
              </a:pathLst>
            </a:custGeom>
            <a:blipFill>
              <a:blip r:embed="rId5"/>
              <a:stretch>
                <a:fillRect t="-835" b="-835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13102380" y="-188315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86511" y="957290"/>
            <a:ext cx="1437347" cy="1437347"/>
          </a:xfrm>
          <a:custGeom>
            <a:avLst/>
            <a:gdLst/>
            <a:ahLst/>
            <a:cxnLst/>
            <a:rect l="l" t="t" r="r" b="b"/>
            <a:pathLst>
              <a:path w="1437347" h="1437347">
                <a:moveTo>
                  <a:pt x="0" y="0"/>
                </a:moveTo>
                <a:lnTo>
                  <a:pt x="1437347" y="0"/>
                </a:lnTo>
                <a:lnTo>
                  <a:pt x="1437347" y="1437347"/>
                </a:lnTo>
                <a:lnTo>
                  <a:pt x="0" y="14373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65245" y="134334"/>
            <a:ext cx="526910" cy="654177"/>
          </a:xfrm>
          <a:custGeom>
            <a:avLst/>
            <a:gdLst/>
            <a:ahLst/>
            <a:cxnLst/>
            <a:rect l="l" t="t" r="r" b="b"/>
            <a:pathLst>
              <a:path w="526910" h="654177">
                <a:moveTo>
                  <a:pt x="0" y="0"/>
                </a:moveTo>
                <a:lnTo>
                  <a:pt x="526910" y="0"/>
                </a:lnTo>
                <a:lnTo>
                  <a:pt x="526910" y="654178"/>
                </a:lnTo>
                <a:lnTo>
                  <a:pt x="0" y="6541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078599" y="9100206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177376" y="976340"/>
            <a:ext cx="13333348" cy="120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8000" b="1" dirty="0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Exploratory Data 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537396" y="3788854"/>
            <a:ext cx="5973328" cy="945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3199" b="1" dirty="0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Canceled vs Non-Canceled Bookings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62208" y="5463540"/>
            <a:ext cx="6698417" cy="2212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77"/>
              </a:lnSpc>
            </a:pPr>
            <a:r>
              <a:rPr lang="en-US" sz="2737" dirty="0">
                <a:solidFill>
                  <a:srgbClr val="FFFBF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Non-canceled bookings represent about 62.9% of all bookings, while canceled bookings account for about 37.1%, showing that cancellation is a substantial part of the dataset.</a:t>
            </a:r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D00C046F-4B75-D0C0-0AE5-F63AEB9A042D}"/>
              </a:ext>
            </a:extLst>
          </p:cNvPr>
          <p:cNvSpPr txBox="1"/>
          <p:nvPr/>
        </p:nvSpPr>
        <p:spPr>
          <a:xfrm>
            <a:off x="1805849" y="511810"/>
            <a:ext cx="298346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NTI - AI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3032" y="-1244549"/>
            <a:ext cx="5512535" cy="5033403"/>
          </a:xfrm>
          <a:custGeom>
            <a:avLst/>
            <a:gdLst/>
            <a:ahLst/>
            <a:cxnLst/>
            <a:rect l="l" t="t" r="r" b="b"/>
            <a:pathLst>
              <a:path w="5512535" h="5033403">
                <a:moveTo>
                  <a:pt x="0" y="0"/>
                </a:moveTo>
                <a:lnTo>
                  <a:pt x="5512536" y="0"/>
                </a:lnTo>
                <a:lnTo>
                  <a:pt x="5512536" y="5033403"/>
                </a:lnTo>
                <a:lnTo>
                  <a:pt x="0" y="5033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1570172" y="6445770"/>
            <a:ext cx="5512535" cy="5033403"/>
          </a:xfrm>
          <a:custGeom>
            <a:avLst/>
            <a:gdLst/>
            <a:ahLst/>
            <a:cxnLst/>
            <a:rect l="l" t="t" r="r" b="b"/>
            <a:pathLst>
              <a:path w="5512535" h="5033403">
                <a:moveTo>
                  <a:pt x="5512535" y="5033403"/>
                </a:moveTo>
                <a:lnTo>
                  <a:pt x="0" y="5033403"/>
                </a:lnTo>
                <a:lnTo>
                  <a:pt x="0" y="0"/>
                </a:lnTo>
                <a:lnTo>
                  <a:pt x="5512535" y="0"/>
                </a:lnTo>
                <a:lnTo>
                  <a:pt x="5512535" y="5033403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9385474">
            <a:off x="11564721" y="2731974"/>
            <a:ext cx="12686060" cy="14220711"/>
          </a:xfrm>
          <a:custGeom>
            <a:avLst/>
            <a:gdLst/>
            <a:ahLst/>
            <a:cxnLst/>
            <a:rect l="l" t="t" r="r" b="b"/>
            <a:pathLst>
              <a:path w="12686060" h="14220711">
                <a:moveTo>
                  <a:pt x="0" y="0"/>
                </a:moveTo>
                <a:lnTo>
                  <a:pt x="12686060" y="0"/>
                </a:lnTo>
                <a:lnTo>
                  <a:pt x="12686060" y="14220711"/>
                </a:lnTo>
                <a:lnTo>
                  <a:pt x="0" y="142207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397267" y="3000660"/>
            <a:ext cx="12217636" cy="5961812"/>
            <a:chOff x="0" y="0"/>
            <a:chExt cx="1892832" cy="92364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92832" cy="923641"/>
            </a:xfrm>
            <a:custGeom>
              <a:avLst/>
              <a:gdLst/>
              <a:ahLst/>
              <a:cxnLst/>
              <a:rect l="l" t="t" r="r" b="b"/>
              <a:pathLst>
                <a:path w="1892832" h="923641">
                  <a:moveTo>
                    <a:pt x="14574" y="0"/>
                  </a:moveTo>
                  <a:lnTo>
                    <a:pt x="1878257" y="0"/>
                  </a:lnTo>
                  <a:cubicBezTo>
                    <a:pt x="1882123" y="0"/>
                    <a:pt x="1885830" y="1536"/>
                    <a:pt x="1888563" y="4269"/>
                  </a:cubicBezTo>
                  <a:cubicBezTo>
                    <a:pt x="1891296" y="7002"/>
                    <a:pt x="1892832" y="10709"/>
                    <a:pt x="1892832" y="14574"/>
                  </a:cubicBezTo>
                  <a:lnTo>
                    <a:pt x="1892832" y="909066"/>
                  </a:lnTo>
                  <a:cubicBezTo>
                    <a:pt x="1892832" y="912932"/>
                    <a:pt x="1891296" y="916639"/>
                    <a:pt x="1888563" y="919372"/>
                  </a:cubicBezTo>
                  <a:cubicBezTo>
                    <a:pt x="1885830" y="922105"/>
                    <a:pt x="1882123" y="923641"/>
                    <a:pt x="1878257" y="923641"/>
                  </a:cubicBezTo>
                  <a:lnTo>
                    <a:pt x="14574" y="923641"/>
                  </a:lnTo>
                  <a:cubicBezTo>
                    <a:pt x="10709" y="923641"/>
                    <a:pt x="7002" y="922105"/>
                    <a:pt x="4269" y="919372"/>
                  </a:cubicBezTo>
                  <a:cubicBezTo>
                    <a:pt x="1536" y="916639"/>
                    <a:pt x="0" y="912932"/>
                    <a:pt x="0" y="909066"/>
                  </a:cubicBezTo>
                  <a:lnTo>
                    <a:pt x="0" y="14574"/>
                  </a:lnTo>
                  <a:cubicBezTo>
                    <a:pt x="0" y="10709"/>
                    <a:pt x="1536" y="7002"/>
                    <a:pt x="4269" y="4269"/>
                  </a:cubicBezTo>
                  <a:cubicBezTo>
                    <a:pt x="7002" y="1536"/>
                    <a:pt x="10709" y="0"/>
                    <a:pt x="14574" y="0"/>
                  </a:cubicBezTo>
                  <a:close/>
                </a:path>
              </a:pathLst>
            </a:custGeom>
            <a:blipFill>
              <a:blip r:embed="rId5"/>
              <a:stretch>
                <a:fillRect l="-829" r="-829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3102380" y="-188315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86511" y="957290"/>
            <a:ext cx="1437347" cy="1437347"/>
          </a:xfrm>
          <a:custGeom>
            <a:avLst/>
            <a:gdLst/>
            <a:ahLst/>
            <a:cxnLst/>
            <a:rect l="l" t="t" r="r" b="b"/>
            <a:pathLst>
              <a:path w="1437347" h="1437347">
                <a:moveTo>
                  <a:pt x="0" y="0"/>
                </a:moveTo>
                <a:lnTo>
                  <a:pt x="1437347" y="0"/>
                </a:lnTo>
                <a:lnTo>
                  <a:pt x="1437347" y="1437347"/>
                </a:lnTo>
                <a:lnTo>
                  <a:pt x="0" y="14373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65245" y="134334"/>
            <a:ext cx="526910" cy="654177"/>
          </a:xfrm>
          <a:custGeom>
            <a:avLst/>
            <a:gdLst/>
            <a:ahLst/>
            <a:cxnLst/>
            <a:rect l="l" t="t" r="r" b="b"/>
            <a:pathLst>
              <a:path w="526910" h="654177">
                <a:moveTo>
                  <a:pt x="0" y="0"/>
                </a:moveTo>
                <a:lnTo>
                  <a:pt x="526910" y="0"/>
                </a:lnTo>
                <a:lnTo>
                  <a:pt x="526910" y="654178"/>
                </a:lnTo>
                <a:lnTo>
                  <a:pt x="0" y="6541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078599" y="9100206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177376" y="976340"/>
            <a:ext cx="13333348" cy="120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8000" b="1" dirty="0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Exploratory Data Analysis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2903913" y="3000660"/>
            <a:ext cx="5003837" cy="6099545"/>
            <a:chOff x="0" y="0"/>
            <a:chExt cx="1317883" cy="160646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17883" cy="1606465"/>
            </a:xfrm>
            <a:custGeom>
              <a:avLst/>
              <a:gdLst/>
              <a:ahLst/>
              <a:cxnLst/>
              <a:rect l="l" t="t" r="r" b="b"/>
              <a:pathLst>
                <a:path w="1317883" h="1606465">
                  <a:moveTo>
                    <a:pt x="77360" y="0"/>
                  </a:moveTo>
                  <a:lnTo>
                    <a:pt x="1240523" y="0"/>
                  </a:lnTo>
                  <a:cubicBezTo>
                    <a:pt x="1261040" y="0"/>
                    <a:pt x="1280717" y="8150"/>
                    <a:pt x="1295225" y="22658"/>
                  </a:cubicBezTo>
                  <a:cubicBezTo>
                    <a:pt x="1309733" y="37166"/>
                    <a:pt x="1317883" y="56843"/>
                    <a:pt x="1317883" y="77360"/>
                  </a:cubicBezTo>
                  <a:lnTo>
                    <a:pt x="1317883" y="1529105"/>
                  </a:lnTo>
                  <a:cubicBezTo>
                    <a:pt x="1317883" y="1571829"/>
                    <a:pt x="1283248" y="1606465"/>
                    <a:pt x="1240523" y="1606465"/>
                  </a:cubicBezTo>
                  <a:lnTo>
                    <a:pt x="77360" y="1606465"/>
                  </a:lnTo>
                  <a:cubicBezTo>
                    <a:pt x="34635" y="1606465"/>
                    <a:pt x="0" y="1571829"/>
                    <a:pt x="0" y="1529105"/>
                  </a:cubicBezTo>
                  <a:lnTo>
                    <a:pt x="0" y="77360"/>
                  </a:lnTo>
                  <a:cubicBezTo>
                    <a:pt x="0" y="34635"/>
                    <a:pt x="34635" y="0"/>
                    <a:pt x="77360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317883" cy="1663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3078599" y="3507017"/>
            <a:ext cx="4585030" cy="478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3199" b="1" dirty="0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Cancellation vs City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148035" y="4021975"/>
            <a:ext cx="4515593" cy="478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Booking volume varies slightly across cities, but every city shows a considerable number of cancellations alongside successful bookings.</a:t>
            </a:r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AD43C01A-E493-E6A7-21D6-7B72D7F80ED0}"/>
              </a:ext>
            </a:extLst>
          </p:cNvPr>
          <p:cNvSpPr txBox="1"/>
          <p:nvPr/>
        </p:nvSpPr>
        <p:spPr>
          <a:xfrm>
            <a:off x="1805849" y="511810"/>
            <a:ext cx="298346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NTI - AI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3032" y="-1244549"/>
            <a:ext cx="5512535" cy="5033403"/>
          </a:xfrm>
          <a:custGeom>
            <a:avLst/>
            <a:gdLst/>
            <a:ahLst/>
            <a:cxnLst/>
            <a:rect l="l" t="t" r="r" b="b"/>
            <a:pathLst>
              <a:path w="5512535" h="5033403">
                <a:moveTo>
                  <a:pt x="0" y="0"/>
                </a:moveTo>
                <a:lnTo>
                  <a:pt x="5512536" y="0"/>
                </a:lnTo>
                <a:lnTo>
                  <a:pt x="5512536" y="5033403"/>
                </a:lnTo>
                <a:lnTo>
                  <a:pt x="0" y="5033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1570172" y="6445770"/>
            <a:ext cx="5512535" cy="5033403"/>
          </a:xfrm>
          <a:custGeom>
            <a:avLst/>
            <a:gdLst/>
            <a:ahLst/>
            <a:cxnLst/>
            <a:rect l="l" t="t" r="r" b="b"/>
            <a:pathLst>
              <a:path w="5512535" h="5033403">
                <a:moveTo>
                  <a:pt x="5512535" y="5033403"/>
                </a:moveTo>
                <a:lnTo>
                  <a:pt x="0" y="5033403"/>
                </a:lnTo>
                <a:lnTo>
                  <a:pt x="0" y="0"/>
                </a:lnTo>
                <a:lnTo>
                  <a:pt x="5512535" y="0"/>
                </a:lnTo>
                <a:lnTo>
                  <a:pt x="5512535" y="5033403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9385474">
            <a:off x="11564721" y="2731974"/>
            <a:ext cx="12686060" cy="14220711"/>
          </a:xfrm>
          <a:custGeom>
            <a:avLst/>
            <a:gdLst/>
            <a:ahLst/>
            <a:cxnLst/>
            <a:rect l="l" t="t" r="r" b="b"/>
            <a:pathLst>
              <a:path w="12686060" h="14220711">
                <a:moveTo>
                  <a:pt x="0" y="0"/>
                </a:moveTo>
                <a:lnTo>
                  <a:pt x="12686060" y="0"/>
                </a:lnTo>
                <a:lnTo>
                  <a:pt x="12686060" y="14220711"/>
                </a:lnTo>
                <a:lnTo>
                  <a:pt x="0" y="142207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561672" y="3000660"/>
            <a:ext cx="9705134" cy="5961812"/>
            <a:chOff x="0" y="0"/>
            <a:chExt cx="1503579" cy="92364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03579" cy="923641"/>
            </a:xfrm>
            <a:custGeom>
              <a:avLst/>
              <a:gdLst/>
              <a:ahLst/>
              <a:cxnLst/>
              <a:rect l="l" t="t" r="r" b="b"/>
              <a:pathLst>
                <a:path w="1503579" h="923641">
                  <a:moveTo>
                    <a:pt x="18347" y="0"/>
                  </a:moveTo>
                  <a:lnTo>
                    <a:pt x="1485232" y="0"/>
                  </a:lnTo>
                  <a:cubicBezTo>
                    <a:pt x="1490098" y="0"/>
                    <a:pt x="1494764" y="1933"/>
                    <a:pt x="1498205" y="5374"/>
                  </a:cubicBezTo>
                  <a:cubicBezTo>
                    <a:pt x="1501646" y="8815"/>
                    <a:pt x="1503579" y="13481"/>
                    <a:pt x="1503579" y="18347"/>
                  </a:cubicBezTo>
                  <a:lnTo>
                    <a:pt x="1503579" y="905293"/>
                  </a:lnTo>
                  <a:cubicBezTo>
                    <a:pt x="1503579" y="910159"/>
                    <a:pt x="1501646" y="914826"/>
                    <a:pt x="1498205" y="918267"/>
                  </a:cubicBezTo>
                  <a:cubicBezTo>
                    <a:pt x="1494764" y="921708"/>
                    <a:pt x="1490098" y="923641"/>
                    <a:pt x="1485232" y="923641"/>
                  </a:cubicBezTo>
                  <a:lnTo>
                    <a:pt x="18347" y="923641"/>
                  </a:lnTo>
                  <a:cubicBezTo>
                    <a:pt x="13481" y="923641"/>
                    <a:pt x="8815" y="921708"/>
                    <a:pt x="5374" y="918267"/>
                  </a:cubicBezTo>
                  <a:cubicBezTo>
                    <a:pt x="1933" y="914826"/>
                    <a:pt x="0" y="910159"/>
                    <a:pt x="0" y="905293"/>
                  </a:cubicBezTo>
                  <a:lnTo>
                    <a:pt x="0" y="18347"/>
                  </a:lnTo>
                  <a:cubicBezTo>
                    <a:pt x="0" y="13481"/>
                    <a:pt x="1933" y="8815"/>
                    <a:pt x="5374" y="5374"/>
                  </a:cubicBezTo>
                  <a:cubicBezTo>
                    <a:pt x="8815" y="1933"/>
                    <a:pt x="13481" y="0"/>
                    <a:pt x="18347" y="0"/>
                  </a:cubicBezTo>
                  <a:close/>
                </a:path>
              </a:pathLst>
            </a:custGeom>
            <a:blipFill>
              <a:blip r:embed="rId5"/>
              <a:stretch>
                <a:fillRect t="-20" b="-20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3102380" y="-188315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86511" y="957290"/>
            <a:ext cx="1437347" cy="1437347"/>
          </a:xfrm>
          <a:custGeom>
            <a:avLst/>
            <a:gdLst/>
            <a:ahLst/>
            <a:cxnLst/>
            <a:rect l="l" t="t" r="r" b="b"/>
            <a:pathLst>
              <a:path w="1437347" h="1437347">
                <a:moveTo>
                  <a:pt x="0" y="0"/>
                </a:moveTo>
                <a:lnTo>
                  <a:pt x="1437347" y="0"/>
                </a:lnTo>
                <a:lnTo>
                  <a:pt x="1437347" y="1437347"/>
                </a:lnTo>
                <a:lnTo>
                  <a:pt x="0" y="14373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65245" y="134334"/>
            <a:ext cx="526910" cy="654177"/>
          </a:xfrm>
          <a:custGeom>
            <a:avLst/>
            <a:gdLst/>
            <a:ahLst/>
            <a:cxnLst/>
            <a:rect l="l" t="t" r="r" b="b"/>
            <a:pathLst>
              <a:path w="526910" h="654177">
                <a:moveTo>
                  <a:pt x="0" y="0"/>
                </a:moveTo>
                <a:lnTo>
                  <a:pt x="526910" y="0"/>
                </a:lnTo>
                <a:lnTo>
                  <a:pt x="526910" y="654178"/>
                </a:lnTo>
                <a:lnTo>
                  <a:pt x="0" y="6541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078599" y="9100206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177376" y="976340"/>
            <a:ext cx="13333348" cy="120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8000" b="1" dirty="0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Exploratory Data Analysis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719676" y="3000660"/>
            <a:ext cx="6835779" cy="6099545"/>
            <a:chOff x="0" y="0"/>
            <a:chExt cx="1800370" cy="160646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00370" cy="1606465"/>
            </a:xfrm>
            <a:custGeom>
              <a:avLst/>
              <a:gdLst/>
              <a:ahLst/>
              <a:cxnLst/>
              <a:rect l="l" t="t" r="r" b="b"/>
              <a:pathLst>
                <a:path w="1800370" h="1606465">
                  <a:moveTo>
                    <a:pt x="56628" y="0"/>
                  </a:moveTo>
                  <a:lnTo>
                    <a:pt x="1743742" y="0"/>
                  </a:lnTo>
                  <a:cubicBezTo>
                    <a:pt x="1758760" y="0"/>
                    <a:pt x="1773164" y="5966"/>
                    <a:pt x="1783784" y="16586"/>
                  </a:cubicBezTo>
                  <a:cubicBezTo>
                    <a:pt x="1794404" y="27206"/>
                    <a:pt x="1800370" y="41609"/>
                    <a:pt x="1800370" y="56628"/>
                  </a:cubicBezTo>
                  <a:lnTo>
                    <a:pt x="1800370" y="1549837"/>
                  </a:lnTo>
                  <a:cubicBezTo>
                    <a:pt x="1800370" y="1564855"/>
                    <a:pt x="1794404" y="1579259"/>
                    <a:pt x="1783784" y="1589879"/>
                  </a:cubicBezTo>
                  <a:cubicBezTo>
                    <a:pt x="1773164" y="1600499"/>
                    <a:pt x="1758760" y="1606465"/>
                    <a:pt x="1743742" y="1606465"/>
                  </a:cubicBezTo>
                  <a:lnTo>
                    <a:pt x="56628" y="1606465"/>
                  </a:lnTo>
                  <a:cubicBezTo>
                    <a:pt x="41609" y="1606465"/>
                    <a:pt x="27206" y="1600499"/>
                    <a:pt x="16586" y="1589879"/>
                  </a:cubicBezTo>
                  <a:cubicBezTo>
                    <a:pt x="5966" y="1579259"/>
                    <a:pt x="0" y="1564855"/>
                    <a:pt x="0" y="1549837"/>
                  </a:cubicBezTo>
                  <a:lnTo>
                    <a:pt x="0" y="56628"/>
                  </a:lnTo>
                  <a:cubicBezTo>
                    <a:pt x="0" y="41609"/>
                    <a:pt x="5966" y="27206"/>
                    <a:pt x="16586" y="16586"/>
                  </a:cubicBezTo>
                  <a:cubicBezTo>
                    <a:pt x="27206" y="5966"/>
                    <a:pt x="41609" y="0"/>
                    <a:pt x="56628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800370" cy="1663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210405" y="3314458"/>
            <a:ext cx="4843380" cy="945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3199" b="1" dirty="0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Cancellation Rate by Customer Type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05082" y="4556395"/>
            <a:ext cx="6189813" cy="418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Cancellation behavior differs across customer types, showing that some customer groups are more likely to cancel than others even when their total booking volumes are smaller.</a:t>
            </a:r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E5E5D2C1-4E9E-B94F-5DEC-07B913E19EF0}"/>
              </a:ext>
            </a:extLst>
          </p:cNvPr>
          <p:cNvSpPr txBox="1"/>
          <p:nvPr/>
        </p:nvSpPr>
        <p:spPr>
          <a:xfrm>
            <a:off x="1805849" y="511810"/>
            <a:ext cx="298346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NTI - AI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3032" y="-1244549"/>
            <a:ext cx="5512535" cy="5033403"/>
          </a:xfrm>
          <a:custGeom>
            <a:avLst/>
            <a:gdLst/>
            <a:ahLst/>
            <a:cxnLst/>
            <a:rect l="l" t="t" r="r" b="b"/>
            <a:pathLst>
              <a:path w="5512535" h="5033403">
                <a:moveTo>
                  <a:pt x="0" y="0"/>
                </a:moveTo>
                <a:lnTo>
                  <a:pt x="5512536" y="0"/>
                </a:lnTo>
                <a:lnTo>
                  <a:pt x="5512536" y="5033403"/>
                </a:lnTo>
                <a:lnTo>
                  <a:pt x="0" y="5033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1570172" y="6445770"/>
            <a:ext cx="5512535" cy="5033403"/>
          </a:xfrm>
          <a:custGeom>
            <a:avLst/>
            <a:gdLst/>
            <a:ahLst/>
            <a:cxnLst/>
            <a:rect l="l" t="t" r="r" b="b"/>
            <a:pathLst>
              <a:path w="5512535" h="5033403">
                <a:moveTo>
                  <a:pt x="5512535" y="5033403"/>
                </a:moveTo>
                <a:lnTo>
                  <a:pt x="0" y="5033403"/>
                </a:lnTo>
                <a:lnTo>
                  <a:pt x="0" y="0"/>
                </a:lnTo>
                <a:lnTo>
                  <a:pt x="5512535" y="0"/>
                </a:lnTo>
                <a:lnTo>
                  <a:pt x="5512535" y="5033403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9385474">
            <a:off x="11564721" y="2731974"/>
            <a:ext cx="12686060" cy="14220711"/>
          </a:xfrm>
          <a:custGeom>
            <a:avLst/>
            <a:gdLst/>
            <a:ahLst/>
            <a:cxnLst/>
            <a:rect l="l" t="t" r="r" b="b"/>
            <a:pathLst>
              <a:path w="12686060" h="14220711">
                <a:moveTo>
                  <a:pt x="0" y="0"/>
                </a:moveTo>
                <a:lnTo>
                  <a:pt x="12686060" y="0"/>
                </a:lnTo>
                <a:lnTo>
                  <a:pt x="12686060" y="14220711"/>
                </a:lnTo>
                <a:lnTo>
                  <a:pt x="0" y="142207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397267" y="2653632"/>
            <a:ext cx="10158004" cy="6793602"/>
            <a:chOff x="0" y="0"/>
            <a:chExt cx="1573741" cy="105250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73741" cy="1052507"/>
            </a:xfrm>
            <a:custGeom>
              <a:avLst/>
              <a:gdLst/>
              <a:ahLst/>
              <a:cxnLst/>
              <a:rect l="l" t="t" r="r" b="b"/>
              <a:pathLst>
                <a:path w="1573741" h="1052507">
                  <a:moveTo>
                    <a:pt x="17529" y="0"/>
                  </a:moveTo>
                  <a:lnTo>
                    <a:pt x="1556211" y="0"/>
                  </a:lnTo>
                  <a:cubicBezTo>
                    <a:pt x="1560860" y="0"/>
                    <a:pt x="1565319" y="1847"/>
                    <a:pt x="1568606" y="5134"/>
                  </a:cubicBezTo>
                  <a:cubicBezTo>
                    <a:pt x="1571894" y="8422"/>
                    <a:pt x="1573741" y="12880"/>
                    <a:pt x="1573741" y="17529"/>
                  </a:cubicBezTo>
                  <a:lnTo>
                    <a:pt x="1573741" y="1034977"/>
                  </a:lnTo>
                  <a:cubicBezTo>
                    <a:pt x="1573741" y="1039626"/>
                    <a:pt x="1571894" y="1044085"/>
                    <a:pt x="1568606" y="1047372"/>
                  </a:cubicBezTo>
                  <a:cubicBezTo>
                    <a:pt x="1565319" y="1050660"/>
                    <a:pt x="1560860" y="1052507"/>
                    <a:pt x="1556211" y="1052507"/>
                  </a:cubicBezTo>
                  <a:lnTo>
                    <a:pt x="17529" y="1052507"/>
                  </a:lnTo>
                  <a:cubicBezTo>
                    <a:pt x="12880" y="1052507"/>
                    <a:pt x="8422" y="1050660"/>
                    <a:pt x="5134" y="1047372"/>
                  </a:cubicBezTo>
                  <a:cubicBezTo>
                    <a:pt x="1847" y="1044085"/>
                    <a:pt x="0" y="1039626"/>
                    <a:pt x="0" y="1034977"/>
                  </a:cubicBezTo>
                  <a:lnTo>
                    <a:pt x="0" y="17529"/>
                  </a:lnTo>
                  <a:cubicBezTo>
                    <a:pt x="0" y="12880"/>
                    <a:pt x="1847" y="8422"/>
                    <a:pt x="5134" y="5134"/>
                  </a:cubicBezTo>
                  <a:cubicBezTo>
                    <a:pt x="8422" y="1847"/>
                    <a:pt x="12880" y="0"/>
                    <a:pt x="17529" y="0"/>
                  </a:cubicBezTo>
                  <a:close/>
                </a:path>
              </a:pathLst>
            </a:custGeom>
            <a:blipFill>
              <a:blip r:embed="rId5"/>
              <a:stretch>
                <a:fillRect t="-430" b="-430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3102380" y="-188315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86511" y="957290"/>
            <a:ext cx="1437347" cy="1437347"/>
          </a:xfrm>
          <a:custGeom>
            <a:avLst/>
            <a:gdLst/>
            <a:ahLst/>
            <a:cxnLst/>
            <a:rect l="l" t="t" r="r" b="b"/>
            <a:pathLst>
              <a:path w="1437347" h="1437347">
                <a:moveTo>
                  <a:pt x="0" y="0"/>
                </a:moveTo>
                <a:lnTo>
                  <a:pt x="1437347" y="0"/>
                </a:lnTo>
                <a:lnTo>
                  <a:pt x="1437347" y="1437347"/>
                </a:lnTo>
                <a:lnTo>
                  <a:pt x="0" y="14373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65245" y="134334"/>
            <a:ext cx="526910" cy="654177"/>
          </a:xfrm>
          <a:custGeom>
            <a:avLst/>
            <a:gdLst/>
            <a:ahLst/>
            <a:cxnLst/>
            <a:rect l="l" t="t" r="r" b="b"/>
            <a:pathLst>
              <a:path w="526910" h="654177">
                <a:moveTo>
                  <a:pt x="0" y="0"/>
                </a:moveTo>
                <a:lnTo>
                  <a:pt x="526910" y="0"/>
                </a:lnTo>
                <a:lnTo>
                  <a:pt x="526910" y="654178"/>
                </a:lnTo>
                <a:lnTo>
                  <a:pt x="0" y="6541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078599" y="9100206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177376" y="976340"/>
            <a:ext cx="13333348" cy="120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8000" b="1" dirty="0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Exploratory Data Analysis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719676" y="3000660"/>
            <a:ext cx="6835779" cy="6099545"/>
            <a:chOff x="0" y="0"/>
            <a:chExt cx="1800370" cy="160646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00370" cy="1606465"/>
            </a:xfrm>
            <a:custGeom>
              <a:avLst/>
              <a:gdLst/>
              <a:ahLst/>
              <a:cxnLst/>
              <a:rect l="l" t="t" r="r" b="b"/>
              <a:pathLst>
                <a:path w="1800370" h="1606465">
                  <a:moveTo>
                    <a:pt x="56628" y="0"/>
                  </a:moveTo>
                  <a:lnTo>
                    <a:pt x="1743742" y="0"/>
                  </a:lnTo>
                  <a:cubicBezTo>
                    <a:pt x="1758760" y="0"/>
                    <a:pt x="1773164" y="5966"/>
                    <a:pt x="1783784" y="16586"/>
                  </a:cubicBezTo>
                  <a:cubicBezTo>
                    <a:pt x="1794404" y="27206"/>
                    <a:pt x="1800370" y="41609"/>
                    <a:pt x="1800370" y="56628"/>
                  </a:cubicBezTo>
                  <a:lnTo>
                    <a:pt x="1800370" y="1549837"/>
                  </a:lnTo>
                  <a:cubicBezTo>
                    <a:pt x="1800370" y="1564855"/>
                    <a:pt x="1794404" y="1579259"/>
                    <a:pt x="1783784" y="1589879"/>
                  </a:cubicBezTo>
                  <a:cubicBezTo>
                    <a:pt x="1773164" y="1600499"/>
                    <a:pt x="1758760" y="1606465"/>
                    <a:pt x="1743742" y="1606465"/>
                  </a:cubicBezTo>
                  <a:lnTo>
                    <a:pt x="56628" y="1606465"/>
                  </a:lnTo>
                  <a:cubicBezTo>
                    <a:pt x="41609" y="1606465"/>
                    <a:pt x="27206" y="1600499"/>
                    <a:pt x="16586" y="1589879"/>
                  </a:cubicBezTo>
                  <a:cubicBezTo>
                    <a:pt x="5966" y="1579259"/>
                    <a:pt x="0" y="1564855"/>
                    <a:pt x="0" y="1549837"/>
                  </a:cubicBezTo>
                  <a:lnTo>
                    <a:pt x="0" y="56628"/>
                  </a:lnTo>
                  <a:cubicBezTo>
                    <a:pt x="0" y="41609"/>
                    <a:pt x="5966" y="27206"/>
                    <a:pt x="16586" y="16586"/>
                  </a:cubicBezTo>
                  <a:cubicBezTo>
                    <a:pt x="27206" y="5966"/>
                    <a:pt x="41609" y="0"/>
                    <a:pt x="56628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800370" cy="1663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210405" y="3314458"/>
            <a:ext cx="5712378" cy="945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3199" b="1" dirty="0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Cancellation Rate by Deposit Type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93759" y="4635729"/>
            <a:ext cx="6287612" cy="409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76"/>
              </a:lnSpc>
            </a:pPr>
            <a:r>
              <a:rPr lang="en-US" sz="3268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Deposit type shows a strong relationship with cancellation, </a:t>
            </a:r>
            <a:r>
              <a:rPr lang="en-US" sz="326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with Non-Refund </a:t>
            </a:r>
            <a:r>
              <a:rPr lang="en-US" sz="3268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bookings having an exceptionally high cancellation rate compared with the other deposit categories.</a:t>
            </a:r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1F91BEFA-E540-BE77-F71D-D928F5F86D70}"/>
              </a:ext>
            </a:extLst>
          </p:cNvPr>
          <p:cNvSpPr txBox="1"/>
          <p:nvPr/>
        </p:nvSpPr>
        <p:spPr>
          <a:xfrm>
            <a:off x="1805849" y="511810"/>
            <a:ext cx="298346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NTI - AI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3032" y="-1244549"/>
            <a:ext cx="5512535" cy="5033403"/>
          </a:xfrm>
          <a:custGeom>
            <a:avLst/>
            <a:gdLst/>
            <a:ahLst/>
            <a:cxnLst/>
            <a:rect l="l" t="t" r="r" b="b"/>
            <a:pathLst>
              <a:path w="5512535" h="5033403">
                <a:moveTo>
                  <a:pt x="0" y="0"/>
                </a:moveTo>
                <a:lnTo>
                  <a:pt x="5512536" y="0"/>
                </a:lnTo>
                <a:lnTo>
                  <a:pt x="5512536" y="5033403"/>
                </a:lnTo>
                <a:lnTo>
                  <a:pt x="0" y="5033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1570172" y="6445770"/>
            <a:ext cx="5512535" cy="5033403"/>
          </a:xfrm>
          <a:custGeom>
            <a:avLst/>
            <a:gdLst/>
            <a:ahLst/>
            <a:cxnLst/>
            <a:rect l="l" t="t" r="r" b="b"/>
            <a:pathLst>
              <a:path w="5512535" h="5033403">
                <a:moveTo>
                  <a:pt x="5512535" y="5033403"/>
                </a:moveTo>
                <a:lnTo>
                  <a:pt x="0" y="5033403"/>
                </a:lnTo>
                <a:lnTo>
                  <a:pt x="0" y="0"/>
                </a:lnTo>
                <a:lnTo>
                  <a:pt x="5512535" y="0"/>
                </a:lnTo>
                <a:lnTo>
                  <a:pt x="5512535" y="5033403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9385474">
            <a:off x="11564721" y="2731974"/>
            <a:ext cx="12686060" cy="14220711"/>
          </a:xfrm>
          <a:custGeom>
            <a:avLst/>
            <a:gdLst/>
            <a:ahLst/>
            <a:cxnLst/>
            <a:rect l="l" t="t" r="r" b="b"/>
            <a:pathLst>
              <a:path w="12686060" h="14220711">
                <a:moveTo>
                  <a:pt x="0" y="0"/>
                </a:moveTo>
                <a:lnTo>
                  <a:pt x="12686060" y="0"/>
                </a:lnTo>
                <a:lnTo>
                  <a:pt x="12686060" y="14220711"/>
                </a:lnTo>
                <a:lnTo>
                  <a:pt x="0" y="142207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397267" y="2653632"/>
            <a:ext cx="10158004" cy="6793602"/>
            <a:chOff x="0" y="0"/>
            <a:chExt cx="1573741" cy="105250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73741" cy="1052507"/>
            </a:xfrm>
            <a:custGeom>
              <a:avLst/>
              <a:gdLst/>
              <a:ahLst/>
              <a:cxnLst/>
              <a:rect l="l" t="t" r="r" b="b"/>
              <a:pathLst>
                <a:path w="1573741" h="1052507">
                  <a:moveTo>
                    <a:pt x="17529" y="0"/>
                  </a:moveTo>
                  <a:lnTo>
                    <a:pt x="1556211" y="0"/>
                  </a:lnTo>
                  <a:cubicBezTo>
                    <a:pt x="1560860" y="0"/>
                    <a:pt x="1565319" y="1847"/>
                    <a:pt x="1568606" y="5134"/>
                  </a:cubicBezTo>
                  <a:cubicBezTo>
                    <a:pt x="1571894" y="8422"/>
                    <a:pt x="1573741" y="12880"/>
                    <a:pt x="1573741" y="17529"/>
                  </a:cubicBezTo>
                  <a:lnTo>
                    <a:pt x="1573741" y="1034977"/>
                  </a:lnTo>
                  <a:cubicBezTo>
                    <a:pt x="1573741" y="1039626"/>
                    <a:pt x="1571894" y="1044085"/>
                    <a:pt x="1568606" y="1047372"/>
                  </a:cubicBezTo>
                  <a:cubicBezTo>
                    <a:pt x="1565319" y="1050660"/>
                    <a:pt x="1560860" y="1052507"/>
                    <a:pt x="1556211" y="1052507"/>
                  </a:cubicBezTo>
                  <a:lnTo>
                    <a:pt x="17529" y="1052507"/>
                  </a:lnTo>
                  <a:cubicBezTo>
                    <a:pt x="12880" y="1052507"/>
                    <a:pt x="8422" y="1050660"/>
                    <a:pt x="5134" y="1047372"/>
                  </a:cubicBezTo>
                  <a:cubicBezTo>
                    <a:pt x="1847" y="1044085"/>
                    <a:pt x="0" y="1039626"/>
                    <a:pt x="0" y="1034977"/>
                  </a:cubicBezTo>
                  <a:lnTo>
                    <a:pt x="0" y="17529"/>
                  </a:lnTo>
                  <a:cubicBezTo>
                    <a:pt x="0" y="12880"/>
                    <a:pt x="1847" y="8422"/>
                    <a:pt x="5134" y="5134"/>
                  </a:cubicBezTo>
                  <a:cubicBezTo>
                    <a:pt x="8422" y="1847"/>
                    <a:pt x="12880" y="0"/>
                    <a:pt x="17529" y="0"/>
                  </a:cubicBezTo>
                  <a:close/>
                </a:path>
              </a:pathLst>
            </a:custGeom>
            <a:blipFill>
              <a:blip r:embed="rId5"/>
              <a:stretch>
                <a:fillRect t="-430" b="-430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3102380" y="-188315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86511" y="957290"/>
            <a:ext cx="1437347" cy="1437347"/>
          </a:xfrm>
          <a:custGeom>
            <a:avLst/>
            <a:gdLst/>
            <a:ahLst/>
            <a:cxnLst/>
            <a:rect l="l" t="t" r="r" b="b"/>
            <a:pathLst>
              <a:path w="1437347" h="1437347">
                <a:moveTo>
                  <a:pt x="0" y="0"/>
                </a:moveTo>
                <a:lnTo>
                  <a:pt x="1437347" y="0"/>
                </a:lnTo>
                <a:lnTo>
                  <a:pt x="1437347" y="1437347"/>
                </a:lnTo>
                <a:lnTo>
                  <a:pt x="0" y="14373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65245" y="134334"/>
            <a:ext cx="526910" cy="654177"/>
          </a:xfrm>
          <a:custGeom>
            <a:avLst/>
            <a:gdLst/>
            <a:ahLst/>
            <a:cxnLst/>
            <a:rect l="l" t="t" r="r" b="b"/>
            <a:pathLst>
              <a:path w="526910" h="654177">
                <a:moveTo>
                  <a:pt x="0" y="0"/>
                </a:moveTo>
                <a:lnTo>
                  <a:pt x="526910" y="0"/>
                </a:lnTo>
                <a:lnTo>
                  <a:pt x="526910" y="654178"/>
                </a:lnTo>
                <a:lnTo>
                  <a:pt x="0" y="6541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078599" y="9100206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177376" y="976340"/>
            <a:ext cx="13333348" cy="120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8000" b="1" dirty="0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Exploratory Data Analysis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719676" y="3000660"/>
            <a:ext cx="6835779" cy="6099545"/>
            <a:chOff x="0" y="0"/>
            <a:chExt cx="1800370" cy="160646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00370" cy="1606465"/>
            </a:xfrm>
            <a:custGeom>
              <a:avLst/>
              <a:gdLst/>
              <a:ahLst/>
              <a:cxnLst/>
              <a:rect l="l" t="t" r="r" b="b"/>
              <a:pathLst>
                <a:path w="1800370" h="1606465">
                  <a:moveTo>
                    <a:pt x="56628" y="0"/>
                  </a:moveTo>
                  <a:lnTo>
                    <a:pt x="1743742" y="0"/>
                  </a:lnTo>
                  <a:cubicBezTo>
                    <a:pt x="1758760" y="0"/>
                    <a:pt x="1773164" y="5966"/>
                    <a:pt x="1783784" y="16586"/>
                  </a:cubicBezTo>
                  <a:cubicBezTo>
                    <a:pt x="1794404" y="27206"/>
                    <a:pt x="1800370" y="41609"/>
                    <a:pt x="1800370" y="56628"/>
                  </a:cubicBezTo>
                  <a:lnTo>
                    <a:pt x="1800370" y="1549837"/>
                  </a:lnTo>
                  <a:cubicBezTo>
                    <a:pt x="1800370" y="1564855"/>
                    <a:pt x="1794404" y="1579259"/>
                    <a:pt x="1783784" y="1589879"/>
                  </a:cubicBezTo>
                  <a:cubicBezTo>
                    <a:pt x="1773164" y="1600499"/>
                    <a:pt x="1758760" y="1606465"/>
                    <a:pt x="1743742" y="1606465"/>
                  </a:cubicBezTo>
                  <a:lnTo>
                    <a:pt x="56628" y="1606465"/>
                  </a:lnTo>
                  <a:cubicBezTo>
                    <a:pt x="41609" y="1606465"/>
                    <a:pt x="27206" y="1600499"/>
                    <a:pt x="16586" y="1589879"/>
                  </a:cubicBezTo>
                  <a:cubicBezTo>
                    <a:pt x="5966" y="1579259"/>
                    <a:pt x="0" y="1564855"/>
                    <a:pt x="0" y="1549837"/>
                  </a:cubicBezTo>
                  <a:lnTo>
                    <a:pt x="0" y="56628"/>
                  </a:lnTo>
                  <a:cubicBezTo>
                    <a:pt x="0" y="41609"/>
                    <a:pt x="5966" y="27206"/>
                    <a:pt x="16586" y="16586"/>
                  </a:cubicBezTo>
                  <a:cubicBezTo>
                    <a:pt x="27206" y="5966"/>
                    <a:pt x="41609" y="0"/>
                    <a:pt x="56628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800370" cy="1663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281376" y="3549396"/>
            <a:ext cx="5712378" cy="478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3199" b="1" dirty="0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ADR vs Cancellation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93759" y="4294475"/>
            <a:ext cx="6287612" cy="3445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76"/>
              </a:lnSpc>
            </a:pPr>
            <a:r>
              <a:rPr lang="en-US" sz="3268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central ADR distributions of canceled and non-canceled bookings are relatively similar, suggesting that ADR alone does not strongly distinguish between the two groups.</a:t>
            </a:r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B1D0DAC6-C0DE-893B-9B55-DFE6F91E02F9}"/>
              </a:ext>
            </a:extLst>
          </p:cNvPr>
          <p:cNvSpPr txBox="1"/>
          <p:nvPr/>
        </p:nvSpPr>
        <p:spPr>
          <a:xfrm>
            <a:off x="1805849" y="511810"/>
            <a:ext cx="298346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NTI - AI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3032" y="-1244549"/>
            <a:ext cx="5512535" cy="5033403"/>
          </a:xfrm>
          <a:custGeom>
            <a:avLst/>
            <a:gdLst/>
            <a:ahLst/>
            <a:cxnLst/>
            <a:rect l="l" t="t" r="r" b="b"/>
            <a:pathLst>
              <a:path w="5512535" h="5033403">
                <a:moveTo>
                  <a:pt x="0" y="0"/>
                </a:moveTo>
                <a:lnTo>
                  <a:pt x="5512536" y="0"/>
                </a:lnTo>
                <a:lnTo>
                  <a:pt x="5512536" y="5033403"/>
                </a:lnTo>
                <a:lnTo>
                  <a:pt x="0" y="5033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1570172" y="6445770"/>
            <a:ext cx="5512535" cy="5033403"/>
          </a:xfrm>
          <a:custGeom>
            <a:avLst/>
            <a:gdLst/>
            <a:ahLst/>
            <a:cxnLst/>
            <a:rect l="l" t="t" r="r" b="b"/>
            <a:pathLst>
              <a:path w="5512535" h="5033403">
                <a:moveTo>
                  <a:pt x="5512535" y="5033403"/>
                </a:moveTo>
                <a:lnTo>
                  <a:pt x="0" y="5033403"/>
                </a:lnTo>
                <a:lnTo>
                  <a:pt x="0" y="0"/>
                </a:lnTo>
                <a:lnTo>
                  <a:pt x="5512535" y="0"/>
                </a:lnTo>
                <a:lnTo>
                  <a:pt x="5512535" y="5033403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9385474">
            <a:off x="11564721" y="2731974"/>
            <a:ext cx="12686060" cy="14220711"/>
          </a:xfrm>
          <a:custGeom>
            <a:avLst/>
            <a:gdLst/>
            <a:ahLst/>
            <a:cxnLst/>
            <a:rect l="l" t="t" r="r" b="b"/>
            <a:pathLst>
              <a:path w="12686060" h="14220711">
                <a:moveTo>
                  <a:pt x="0" y="0"/>
                </a:moveTo>
                <a:lnTo>
                  <a:pt x="12686060" y="0"/>
                </a:lnTo>
                <a:lnTo>
                  <a:pt x="12686060" y="14220711"/>
                </a:lnTo>
                <a:lnTo>
                  <a:pt x="0" y="142207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397267" y="2653632"/>
            <a:ext cx="10158004" cy="6793602"/>
            <a:chOff x="0" y="0"/>
            <a:chExt cx="1573741" cy="105250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73741" cy="1052507"/>
            </a:xfrm>
            <a:custGeom>
              <a:avLst/>
              <a:gdLst/>
              <a:ahLst/>
              <a:cxnLst/>
              <a:rect l="l" t="t" r="r" b="b"/>
              <a:pathLst>
                <a:path w="1573741" h="1052507">
                  <a:moveTo>
                    <a:pt x="17529" y="0"/>
                  </a:moveTo>
                  <a:lnTo>
                    <a:pt x="1556211" y="0"/>
                  </a:lnTo>
                  <a:cubicBezTo>
                    <a:pt x="1560860" y="0"/>
                    <a:pt x="1565319" y="1847"/>
                    <a:pt x="1568606" y="5134"/>
                  </a:cubicBezTo>
                  <a:cubicBezTo>
                    <a:pt x="1571894" y="8422"/>
                    <a:pt x="1573741" y="12880"/>
                    <a:pt x="1573741" y="17529"/>
                  </a:cubicBezTo>
                  <a:lnTo>
                    <a:pt x="1573741" y="1034977"/>
                  </a:lnTo>
                  <a:cubicBezTo>
                    <a:pt x="1573741" y="1039626"/>
                    <a:pt x="1571894" y="1044085"/>
                    <a:pt x="1568606" y="1047372"/>
                  </a:cubicBezTo>
                  <a:cubicBezTo>
                    <a:pt x="1565319" y="1050660"/>
                    <a:pt x="1560860" y="1052507"/>
                    <a:pt x="1556211" y="1052507"/>
                  </a:cubicBezTo>
                  <a:lnTo>
                    <a:pt x="17529" y="1052507"/>
                  </a:lnTo>
                  <a:cubicBezTo>
                    <a:pt x="12880" y="1052507"/>
                    <a:pt x="8422" y="1050660"/>
                    <a:pt x="5134" y="1047372"/>
                  </a:cubicBezTo>
                  <a:cubicBezTo>
                    <a:pt x="1847" y="1044085"/>
                    <a:pt x="0" y="1039626"/>
                    <a:pt x="0" y="1034977"/>
                  </a:cubicBezTo>
                  <a:lnTo>
                    <a:pt x="0" y="17529"/>
                  </a:lnTo>
                  <a:cubicBezTo>
                    <a:pt x="0" y="12880"/>
                    <a:pt x="1847" y="8422"/>
                    <a:pt x="5134" y="5134"/>
                  </a:cubicBezTo>
                  <a:cubicBezTo>
                    <a:pt x="8422" y="1847"/>
                    <a:pt x="12880" y="0"/>
                    <a:pt x="17529" y="0"/>
                  </a:cubicBezTo>
                  <a:close/>
                </a:path>
              </a:pathLst>
            </a:custGeom>
            <a:blipFill>
              <a:blip r:embed="rId5"/>
              <a:stretch>
                <a:fillRect t="-430" b="-430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3102380" y="-188315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86511" y="957290"/>
            <a:ext cx="1437347" cy="1437347"/>
          </a:xfrm>
          <a:custGeom>
            <a:avLst/>
            <a:gdLst/>
            <a:ahLst/>
            <a:cxnLst/>
            <a:rect l="l" t="t" r="r" b="b"/>
            <a:pathLst>
              <a:path w="1437347" h="1437347">
                <a:moveTo>
                  <a:pt x="0" y="0"/>
                </a:moveTo>
                <a:lnTo>
                  <a:pt x="1437347" y="0"/>
                </a:lnTo>
                <a:lnTo>
                  <a:pt x="1437347" y="1437347"/>
                </a:lnTo>
                <a:lnTo>
                  <a:pt x="0" y="14373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65245" y="134334"/>
            <a:ext cx="526910" cy="654177"/>
          </a:xfrm>
          <a:custGeom>
            <a:avLst/>
            <a:gdLst/>
            <a:ahLst/>
            <a:cxnLst/>
            <a:rect l="l" t="t" r="r" b="b"/>
            <a:pathLst>
              <a:path w="526910" h="654177">
                <a:moveTo>
                  <a:pt x="0" y="0"/>
                </a:moveTo>
                <a:lnTo>
                  <a:pt x="526910" y="0"/>
                </a:lnTo>
                <a:lnTo>
                  <a:pt x="526910" y="654178"/>
                </a:lnTo>
                <a:lnTo>
                  <a:pt x="0" y="6541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078599" y="9100206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177376" y="976340"/>
            <a:ext cx="13333348" cy="1192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8000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ExploratoryData Analysis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719676" y="3000660"/>
            <a:ext cx="6835779" cy="6099545"/>
            <a:chOff x="0" y="0"/>
            <a:chExt cx="1800370" cy="160646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00370" cy="1606465"/>
            </a:xfrm>
            <a:custGeom>
              <a:avLst/>
              <a:gdLst/>
              <a:ahLst/>
              <a:cxnLst/>
              <a:rect l="l" t="t" r="r" b="b"/>
              <a:pathLst>
                <a:path w="1800370" h="1606465">
                  <a:moveTo>
                    <a:pt x="56628" y="0"/>
                  </a:moveTo>
                  <a:lnTo>
                    <a:pt x="1743742" y="0"/>
                  </a:lnTo>
                  <a:cubicBezTo>
                    <a:pt x="1758760" y="0"/>
                    <a:pt x="1773164" y="5966"/>
                    <a:pt x="1783784" y="16586"/>
                  </a:cubicBezTo>
                  <a:cubicBezTo>
                    <a:pt x="1794404" y="27206"/>
                    <a:pt x="1800370" y="41609"/>
                    <a:pt x="1800370" y="56628"/>
                  </a:cubicBezTo>
                  <a:lnTo>
                    <a:pt x="1800370" y="1549837"/>
                  </a:lnTo>
                  <a:cubicBezTo>
                    <a:pt x="1800370" y="1564855"/>
                    <a:pt x="1794404" y="1579259"/>
                    <a:pt x="1783784" y="1589879"/>
                  </a:cubicBezTo>
                  <a:cubicBezTo>
                    <a:pt x="1773164" y="1600499"/>
                    <a:pt x="1758760" y="1606465"/>
                    <a:pt x="1743742" y="1606465"/>
                  </a:cubicBezTo>
                  <a:lnTo>
                    <a:pt x="56628" y="1606465"/>
                  </a:lnTo>
                  <a:cubicBezTo>
                    <a:pt x="41609" y="1606465"/>
                    <a:pt x="27206" y="1600499"/>
                    <a:pt x="16586" y="1589879"/>
                  </a:cubicBezTo>
                  <a:cubicBezTo>
                    <a:pt x="5966" y="1579259"/>
                    <a:pt x="0" y="1564855"/>
                    <a:pt x="0" y="1549837"/>
                  </a:cubicBezTo>
                  <a:lnTo>
                    <a:pt x="0" y="56628"/>
                  </a:lnTo>
                  <a:cubicBezTo>
                    <a:pt x="0" y="41609"/>
                    <a:pt x="5966" y="27206"/>
                    <a:pt x="16586" y="16586"/>
                  </a:cubicBezTo>
                  <a:cubicBezTo>
                    <a:pt x="27206" y="5966"/>
                    <a:pt x="41609" y="0"/>
                    <a:pt x="56628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800370" cy="1663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281376" y="3903154"/>
            <a:ext cx="5712378" cy="478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3199" b="1" dirty="0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Lead Time vs Cancellation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93759" y="4689813"/>
            <a:ext cx="6287612" cy="3445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76"/>
              </a:lnSpc>
            </a:pPr>
            <a:r>
              <a:rPr lang="en-US" sz="3268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Lead time is strongly right-skewed, meaning most bookings are made relatively close to arrival while only a small number are made many months in advance.</a:t>
            </a:r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EDCE3A7A-6C33-333E-7B7B-1E4924424837}"/>
              </a:ext>
            </a:extLst>
          </p:cNvPr>
          <p:cNvSpPr txBox="1"/>
          <p:nvPr/>
        </p:nvSpPr>
        <p:spPr>
          <a:xfrm>
            <a:off x="1805849" y="511810"/>
            <a:ext cx="298346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NTI - AI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3032" y="-1244549"/>
            <a:ext cx="5512535" cy="5033403"/>
          </a:xfrm>
          <a:custGeom>
            <a:avLst/>
            <a:gdLst/>
            <a:ahLst/>
            <a:cxnLst/>
            <a:rect l="l" t="t" r="r" b="b"/>
            <a:pathLst>
              <a:path w="5512535" h="5033403">
                <a:moveTo>
                  <a:pt x="0" y="0"/>
                </a:moveTo>
                <a:lnTo>
                  <a:pt x="5512536" y="0"/>
                </a:lnTo>
                <a:lnTo>
                  <a:pt x="5512536" y="5033403"/>
                </a:lnTo>
                <a:lnTo>
                  <a:pt x="0" y="5033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1570172" y="6445770"/>
            <a:ext cx="5512535" cy="5033403"/>
          </a:xfrm>
          <a:custGeom>
            <a:avLst/>
            <a:gdLst/>
            <a:ahLst/>
            <a:cxnLst/>
            <a:rect l="l" t="t" r="r" b="b"/>
            <a:pathLst>
              <a:path w="5512535" h="5033403">
                <a:moveTo>
                  <a:pt x="5512535" y="5033403"/>
                </a:moveTo>
                <a:lnTo>
                  <a:pt x="0" y="5033403"/>
                </a:lnTo>
                <a:lnTo>
                  <a:pt x="0" y="0"/>
                </a:lnTo>
                <a:lnTo>
                  <a:pt x="5512535" y="0"/>
                </a:lnTo>
                <a:lnTo>
                  <a:pt x="5512535" y="5033403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9385474">
            <a:off x="11564721" y="2731974"/>
            <a:ext cx="12686060" cy="14220711"/>
          </a:xfrm>
          <a:custGeom>
            <a:avLst/>
            <a:gdLst/>
            <a:ahLst/>
            <a:cxnLst/>
            <a:rect l="l" t="t" r="r" b="b"/>
            <a:pathLst>
              <a:path w="12686060" h="14220711">
                <a:moveTo>
                  <a:pt x="0" y="0"/>
                </a:moveTo>
                <a:lnTo>
                  <a:pt x="12686060" y="0"/>
                </a:lnTo>
                <a:lnTo>
                  <a:pt x="12686060" y="14220711"/>
                </a:lnTo>
                <a:lnTo>
                  <a:pt x="0" y="142207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102380" y="-188315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86511" y="957290"/>
            <a:ext cx="1437347" cy="1437347"/>
          </a:xfrm>
          <a:custGeom>
            <a:avLst/>
            <a:gdLst/>
            <a:ahLst/>
            <a:cxnLst/>
            <a:rect l="l" t="t" r="r" b="b"/>
            <a:pathLst>
              <a:path w="1437347" h="1437347">
                <a:moveTo>
                  <a:pt x="0" y="0"/>
                </a:moveTo>
                <a:lnTo>
                  <a:pt x="1437347" y="0"/>
                </a:lnTo>
                <a:lnTo>
                  <a:pt x="1437347" y="1437347"/>
                </a:lnTo>
                <a:lnTo>
                  <a:pt x="0" y="14373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65245" y="134334"/>
            <a:ext cx="526910" cy="654177"/>
          </a:xfrm>
          <a:custGeom>
            <a:avLst/>
            <a:gdLst/>
            <a:ahLst/>
            <a:cxnLst/>
            <a:rect l="l" t="t" r="r" b="b"/>
            <a:pathLst>
              <a:path w="526910" h="654177">
                <a:moveTo>
                  <a:pt x="0" y="0"/>
                </a:moveTo>
                <a:lnTo>
                  <a:pt x="526910" y="0"/>
                </a:lnTo>
                <a:lnTo>
                  <a:pt x="526910" y="654178"/>
                </a:lnTo>
                <a:lnTo>
                  <a:pt x="0" y="6541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078599" y="9100206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177376" y="976340"/>
            <a:ext cx="13333348" cy="1192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8000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ExploratoryData Analysis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697604" y="2566087"/>
            <a:ext cx="6835779" cy="6534119"/>
            <a:chOff x="0" y="0"/>
            <a:chExt cx="1800370" cy="17209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00370" cy="1720920"/>
            </a:xfrm>
            <a:custGeom>
              <a:avLst/>
              <a:gdLst/>
              <a:ahLst/>
              <a:cxnLst/>
              <a:rect l="l" t="t" r="r" b="b"/>
              <a:pathLst>
                <a:path w="1800370" h="1720920">
                  <a:moveTo>
                    <a:pt x="56628" y="0"/>
                  </a:moveTo>
                  <a:lnTo>
                    <a:pt x="1743742" y="0"/>
                  </a:lnTo>
                  <a:cubicBezTo>
                    <a:pt x="1758760" y="0"/>
                    <a:pt x="1773164" y="5966"/>
                    <a:pt x="1783784" y="16586"/>
                  </a:cubicBezTo>
                  <a:cubicBezTo>
                    <a:pt x="1794404" y="27206"/>
                    <a:pt x="1800370" y="41609"/>
                    <a:pt x="1800370" y="56628"/>
                  </a:cubicBezTo>
                  <a:lnTo>
                    <a:pt x="1800370" y="1664292"/>
                  </a:lnTo>
                  <a:cubicBezTo>
                    <a:pt x="1800370" y="1679311"/>
                    <a:pt x="1794404" y="1693714"/>
                    <a:pt x="1783784" y="1704334"/>
                  </a:cubicBezTo>
                  <a:cubicBezTo>
                    <a:pt x="1773164" y="1714954"/>
                    <a:pt x="1758760" y="1720920"/>
                    <a:pt x="1743742" y="1720920"/>
                  </a:cubicBezTo>
                  <a:lnTo>
                    <a:pt x="56628" y="1720920"/>
                  </a:lnTo>
                  <a:cubicBezTo>
                    <a:pt x="41609" y="1720920"/>
                    <a:pt x="27206" y="1714954"/>
                    <a:pt x="16586" y="1704334"/>
                  </a:cubicBezTo>
                  <a:cubicBezTo>
                    <a:pt x="5966" y="1693714"/>
                    <a:pt x="0" y="1679311"/>
                    <a:pt x="0" y="1664292"/>
                  </a:cubicBezTo>
                  <a:lnTo>
                    <a:pt x="0" y="56628"/>
                  </a:lnTo>
                  <a:cubicBezTo>
                    <a:pt x="0" y="41609"/>
                    <a:pt x="5966" y="27206"/>
                    <a:pt x="16586" y="16586"/>
                  </a:cubicBezTo>
                  <a:cubicBezTo>
                    <a:pt x="27206" y="5966"/>
                    <a:pt x="41609" y="0"/>
                    <a:pt x="56628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800370" cy="1778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971688" y="2963697"/>
            <a:ext cx="5712378" cy="478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GB" sz="3199" b="1" dirty="0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Total Nights</a:t>
            </a:r>
            <a:r>
              <a:rPr lang="en-US" sz="3199" b="1" dirty="0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vs ADR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71688" y="3567851"/>
            <a:ext cx="6287612" cy="4555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This visualization make us know that </a:t>
            </a:r>
            <a:r>
              <a:rPr lang="ar-EG" sz="3600" dirty="0">
                <a:solidFill>
                  <a:schemeClr val="bg1"/>
                </a:solidFill>
              </a:rPr>
              <a:t>:</a:t>
            </a:r>
          </a:p>
          <a:p>
            <a:r>
              <a:rPr lang="en-GB" sz="3600" dirty="0">
                <a:solidFill>
                  <a:schemeClr val="bg1"/>
                </a:solidFill>
              </a:rPr>
              <a:t>ADR and total stay nights show no strong relationship, with most bookings concentrated around short stays and moderate ADR values.</a:t>
            </a:r>
          </a:p>
          <a:p>
            <a:endParaRPr lang="en-GB" sz="4400" dirty="0">
              <a:solidFill>
                <a:schemeClr val="bg1"/>
              </a:solidFill>
            </a:endParaRPr>
          </a:p>
        </p:txBody>
      </p:sp>
      <p:pic>
        <p:nvPicPr>
          <p:cNvPr id="21" name="Picture 20" descr="A graph of different colored dots&#10;&#10;AI-generated content may be incorrect.">
            <a:extLst>
              <a:ext uri="{FF2B5EF4-FFF2-40B4-BE49-F238E27FC236}">
                <a16:creationId xmlns:a16="http://schemas.microsoft.com/office/drawing/2014/main" id="{7A65FCAC-56D6-0016-E18B-639D972CF2D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07" y="2611117"/>
            <a:ext cx="9804287" cy="6489089"/>
          </a:xfrm>
          <a:prstGeom prst="rect">
            <a:avLst/>
          </a:prstGeom>
        </p:spPr>
      </p:pic>
      <p:sp>
        <p:nvSpPr>
          <p:cNvPr id="5" name="TextBox 16">
            <a:extLst>
              <a:ext uri="{FF2B5EF4-FFF2-40B4-BE49-F238E27FC236}">
                <a16:creationId xmlns:a16="http://schemas.microsoft.com/office/drawing/2014/main" id="{A1A93BAA-66C6-F797-9411-716FD139B369}"/>
              </a:ext>
            </a:extLst>
          </p:cNvPr>
          <p:cNvSpPr txBox="1"/>
          <p:nvPr/>
        </p:nvSpPr>
        <p:spPr>
          <a:xfrm>
            <a:off x="1805849" y="511810"/>
            <a:ext cx="298346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NTI - AI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3032" y="-1244549"/>
            <a:ext cx="5512535" cy="5033403"/>
          </a:xfrm>
          <a:custGeom>
            <a:avLst/>
            <a:gdLst/>
            <a:ahLst/>
            <a:cxnLst/>
            <a:rect l="l" t="t" r="r" b="b"/>
            <a:pathLst>
              <a:path w="5512535" h="5033403">
                <a:moveTo>
                  <a:pt x="0" y="0"/>
                </a:moveTo>
                <a:lnTo>
                  <a:pt x="5512536" y="0"/>
                </a:lnTo>
                <a:lnTo>
                  <a:pt x="5512536" y="5033403"/>
                </a:lnTo>
                <a:lnTo>
                  <a:pt x="0" y="5033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1570172" y="6445770"/>
            <a:ext cx="5512535" cy="5033403"/>
          </a:xfrm>
          <a:custGeom>
            <a:avLst/>
            <a:gdLst/>
            <a:ahLst/>
            <a:cxnLst/>
            <a:rect l="l" t="t" r="r" b="b"/>
            <a:pathLst>
              <a:path w="5512535" h="5033403">
                <a:moveTo>
                  <a:pt x="5512535" y="5033403"/>
                </a:moveTo>
                <a:lnTo>
                  <a:pt x="0" y="5033403"/>
                </a:lnTo>
                <a:lnTo>
                  <a:pt x="0" y="0"/>
                </a:lnTo>
                <a:lnTo>
                  <a:pt x="5512535" y="0"/>
                </a:lnTo>
                <a:lnTo>
                  <a:pt x="5512535" y="5033403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9385474">
            <a:off x="11564721" y="2731974"/>
            <a:ext cx="12686060" cy="14220711"/>
          </a:xfrm>
          <a:custGeom>
            <a:avLst/>
            <a:gdLst/>
            <a:ahLst/>
            <a:cxnLst/>
            <a:rect l="l" t="t" r="r" b="b"/>
            <a:pathLst>
              <a:path w="12686060" h="14220711">
                <a:moveTo>
                  <a:pt x="0" y="0"/>
                </a:moveTo>
                <a:lnTo>
                  <a:pt x="12686060" y="0"/>
                </a:lnTo>
                <a:lnTo>
                  <a:pt x="12686060" y="14220711"/>
                </a:lnTo>
                <a:lnTo>
                  <a:pt x="0" y="142207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132958" y="2394637"/>
            <a:ext cx="8711091" cy="7502010"/>
            <a:chOff x="0" y="0"/>
            <a:chExt cx="1349576" cy="11622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49576" cy="1162258"/>
            </a:xfrm>
            <a:custGeom>
              <a:avLst/>
              <a:gdLst/>
              <a:ahLst/>
              <a:cxnLst/>
              <a:rect l="l" t="t" r="r" b="b"/>
              <a:pathLst>
                <a:path w="1349576" h="1162258">
                  <a:moveTo>
                    <a:pt x="20441" y="0"/>
                  </a:moveTo>
                  <a:lnTo>
                    <a:pt x="1329135" y="0"/>
                  </a:lnTo>
                  <a:cubicBezTo>
                    <a:pt x="1340424" y="0"/>
                    <a:pt x="1349576" y="9152"/>
                    <a:pt x="1349576" y="20441"/>
                  </a:cubicBezTo>
                  <a:lnTo>
                    <a:pt x="1349576" y="1141817"/>
                  </a:lnTo>
                  <a:cubicBezTo>
                    <a:pt x="1349576" y="1153106"/>
                    <a:pt x="1340424" y="1162258"/>
                    <a:pt x="1329135" y="1162258"/>
                  </a:cubicBezTo>
                  <a:lnTo>
                    <a:pt x="20441" y="1162258"/>
                  </a:lnTo>
                  <a:cubicBezTo>
                    <a:pt x="15020" y="1162258"/>
                    <a:pt x="9821" y="1160104"/>
                    <a:pt x="5987" y="1156271"/>
                  </a:cubicBezTo>
                  <a:cubicBezTo>
                    <a:pt x="2154" y="1152437"/>
                    <a:pt x="0" y="1147238"/>
                    <a:pt x="0" y="1141817"/>
                  </a:cubicBezTo>
                  <a:lnTo>
                    <a:pt x="0" y="20441"/>
                  </a:lnTo>
                  <a:cubicBezTo>
                    <a:pt x="0" y="9152"/>
                    <a:pt x="9152" y="0"/>
                    <a:pt x="20441" y="0"/>
                  </a:cubicBezTo>
                  <a:close/>
                </a:path>
              </a:pathLst>
            </a:custGeom>
            <a:blipFill>
              <a:blip r:embed="rId5"/>
              <a:stretch>
                <a:fillRect l="-282" r="-282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3102380" y="-188315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40028" y="840385"/>
            <a:ext cx="1437347" cy="1437347"/>
          </a:xfrm>
          <a:custGeom>
            <a:avLst/>
            <a:gdLst/>
            <a:ahLst/>
            <a:cxnLst/>
            <a:rect l="l" t="t" r="r" b="b"/>
            <a:pathLst>
              <a:path w="1437347" h="1437347">
                <a:moveTo>
                  <a:pt x="0" y="0"/>
                </a:moveTo>
                <a:lnTo>
                  <a:pt x="1437348" y="0"/>
                </a:lnTo>
                <a:lnTo>
                  <a:pt x="1437348" y="1437348"/>
                </a:lnTo>
                <a:lnTo>
                  <a:pt x="0" y="14373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65245" y="134334"/>
            <a:ext cx="526910" cy="654177"/>
          </a:xfrm>
          <a:custGeom>
            <a:avLst/>
            <a:gdLst/>
            <a:ahLst/>
            <a:cxnLst/>
            <a:rect l="l" t="t" r="r" b="b"/>
            <a:pathLst>
              <a:path w="526910" h="654177">
                <a:moveTo>
                  <a:pt x="0" y="0"/>
                </a:moveTo>
                <a:lnTo>
                  <a:pt x="526910" y="0"/>
                </a:lnTo>
                <a:lnTo>
                  <a:pt x="526910" y="654178"/>
                </a:lnTo>
                <a:lnTo>
                  <a:pt x="0" y="6541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078599" y="9100206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365267" y="972319"/>
            <a:ext cx="13333348" cy="120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8000" b="1" dirty="0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Exploratory Data Analysis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719676" y="3000660"/>
            <a:ext cx="6835779" cy="6099545"/>
            <a:chOff x="0" y="0"/>
            <a:chExt cx="1800370" cy="160646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00370" cy="1606465"/>
            </a:xfrm>
            <a:custGeom>
              <a:avLst/>
              <a:gdLst/>
              <a:ahLst/>
              <a:cxnLst/>
              <a:rect l="l" t="t" r="r" b="b"/>
              <a:pathLst>
                <a:path w="1800370" h="1606465">
                  <a:moveTo>
                    <a:pt x="56628" y="0"/>
                  </a:moveTo>
                  <a:lnTo>
                    <a:pt x="1743742" y="0"/>
                  </a:lnTo>
                  <a:cubicBezTo>
                    <a:pt x="1758760" y="0"/>
                    <a:pt x="1773164" y="5966"/>
                    <a:pt x="1783784" y="16586"/>
                  </a:cubicBezTo>
                  <a:cubicBezTo>
                    <a:pt x="1794404" y="27206"/>
                    <a:pt x="1800370" y="41609"/>
                    <a:pt x="1800370" y="56628"/>
                  </a:cubicBezTo>
                  <a:lnTo>
                    <a:pt x="1800370" y="1549837"/>
                  </a:lnTo>
                  <a:cubicBezTo>
                    <a:pt x="1800370" y="1564855"/>
                    <a:pt x="1794404" y="1579259"/>
                    <a:pt x="1783784" y="1589879"/>
                  </a:cubicBezTo>
                  <a:cubicBezTo>
                    <a:pt x="1773164" y="1600499"/>
                    <a:pt x="1758760" y="1606465"/>
                    <a:pt x="1743742" y="1606465"/>
                  </a:cubicBezTo>
                  <a:lnTo>
                    <a:pt x="56628" y="1606465"/>
                  </a:lnTo>
                  <a:cubicBezTo>
                    <a:pt x="41609" y="1606465"/>
                    <a:pt x="27206" y="1600499"/>
                    <a:pt x="16586" y="1589879"/>
                  </a:cubicBezTo>
                  <a:cubicBezTo>
                    <a:pt x="5966" y="1579259"/>
                    <a:pt x="0" y="1564855"/>
                    <a:pt x="0" y="1549837"/>
                  </a:cubicBezTo>
                  <a:lnTo>
                    <a:pt x="0" y="56628"/>
                  </a:lnTo>
                  <a:cubicBezTo>
                    <a:pt x="0" y="41609"/>
                    <a:pt x="5966" y="27206"/>
                    <a:pt x="16586" y="16586"/>
                  </a:cubicBezTo>
                  <a:cubicBezTo>
                    <a:pt x="27206" y="5966"/>
                    <a:pt x="41609" y="0"/>
                    <a:pt x="56628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800370" cy="1663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140457" y="3316033"/>
            <a:ext cx="5712378" cy="945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3199" b="1" dirty="0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Correlation Heatmap of Numerical Feature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93759" y="4400106"/>
            <a:ext cx="6287612" cy="4022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76"/>
              </a:lnSpc>
            </a:pPr>
            <a:r>
              <a:rPr lang="en-US" sz="3268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correlation heatmap shows the strength and direction of relationships between numerical variables and helps identify features that may have useful associations with booking cancellation.</a:t>
            </a:r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899B45DE-904C-4BD7-7927-164FDAC486AE}"/>
              </a:ext>
            </a:extLst>
          </p:cNvPr>
          <p:cNvSpPr txBox="1"/>
          <p:nvPr/>
        </p:nvSpPr>
        <p:spPr>
          <a:xfrm>
            <a:off x="1805849" y="511810"/>
            <a:ext cx="298346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NTI - AI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0886" y="-2049095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0" y="0"/>
                </a:moveTo>
                <a:lnTo>
                  <a:pt x="9964777" y="0"/>
                </a:lnTo>
                <a:lnTo>
                  <a:pt x="9964777" y="9098671"/>
                </a:lnTo>
                <a:lnTo>
                  <a:pt x="0" y="9098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327663" y="3237424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9964777" y="9098671"/>
                </a:moveTo>
                <a:lnTo>
                  <a:pt x="0" y="9098671"/>
                </a:lnTo>
                <a:lnTo>
                  <a:pt x="0" y="0"/>
                </a:lnTo>
                <a:lnTo>
                  <a:pt x="9964777" y="0"/>
                </a:lnTo>
                <a:lnTo>
                  <a:pt x="9964777" y="9098671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307306">
            <a:off x="7997534" y="2984122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307306">
            <a:off x="-7950368" y="-721331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809215" y="973626"/>
            <a:ext cx="17107705" cy="9106699"/>
            <a:chOff x="0" y="0"/>
            <a:chExt cx="4505733" cy="23984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505733" cy="2398472"/>
            </a:xfrm>
            <a:custGeom>
              <a:avLst/>
              <a:gdLst/>
              <a:ahLst/>
              <a:cxnLst/>
              <a:rect l="l" t="t" r="r" b="b"/>
              <a:pathLst>
                <a:path w="4505733" h="2398472">
                  <a:moveTo>
                    <a:pt x="22627" y="0"/>
                  </a:moveTo>
                  <a:lnTo>
                    <a:pt x="4483106" y="0"/>
                  </a:lnTo>
                  <a:cubicBezTo>
                    <a:pt x="4489107" y="0"/>
                    <a:pt x="4494862" y="2384"/>
                    <a:pt x="4499106" y="6627"/>
                  </a:cubicBezTo>
                  <a:cubicBezTo>
                    <a:pt x="4503349" y="10871"/>
                    <a:pt x="4505733" y="16626"/>
                    <a:pt x="4505733" y="22627"/>
                  </a:cubicBezTo>
                  <a:lnTo>
                    <a:pt x="4505733" y="2375845"/>
                  </a:lnTo>
                  <a:cubicBezTo>
                    <a:pt x="4505733" y="2388342"/>
                    <a:pt x="4495603" y="2398472"/>
                    <a:pt x="4483106" y="2398472"/>
                  </a:cubicBezTo>
                  <a:lnTo>
                    <a:pt x="22627" y="2398472"/>
                  </a:lnTo>
                  <a:cubicBezTo>
                    <a:pt x="16626" y="2398472"/>
                    <a:pt x="10871" y="2396088"/>
                    <a:pt x="6627" y="2391845"/>
                  </a:cubicBezTo>
                  <a:cubicBezTo>
                    <a:pt x="2384" y="2387601"/>
                    <a:pt x="0" y="2381846"/>
                    <a:pt x="0" y="2375845"/>
                  </a:cubicBezTo>
                  <a:lnTo>
                    <a:pt x="0" y="22627"/>
                  </a:lnTo>
                  <a:cubicBezTo>
                    <a:pt x="0" y="16626"/>
                    <a:pt x="2384" y="10871"/>
                    <a:pt x="6627" y="6627"/>
                  </a:cubicBezTo>
                  <a:cubicBezTo>
                    <a:pt x="10871" y="2384"/>
                    <a:pt x="16626" y="0"/>
                    <a:pt x="22627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505733" cy="24556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82966" y="189620"/>
            <a:ext cx="526910" cy="654177"/>
          </a:xfrm>
          <a:custGeom>
            <a:avLst/>
            <a:gdLst/>
            <a:ahLst/>
            <a:cxnLst/>
            <a:rect l="l" t="t" r="r" b="b"/>
            <a:pathLst>
              <a:path w="526910" h="654177">
                <a:moveTo>
                  <a:pt x="0" y="0"/>
                </a:moveTo>
                <a:lnTo>
                  <a:pt x="526910" y="0"/>
                </a:lnTo>
                <a:lnTo>
                  <a:pt x="526910" y="654178"/>
                </a:lnTo>
                <a:lnTo>
                  <a:pt x="0" y="6541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102380" y="-55074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292155" y="2804001"/>
            <a:ext cx="4270129" cy="1297028"/>
            <a:chOff x="0" y="0"/>
            <a:chExt cx="1124643" cy="34160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24643" cy="341604"/>
            </a:xfrm>
            <a:custGeom>
              <a:avLst/>
              <a:gdLst/>
              <a:ahLst/>
              <a:cxnLst/>
              <a:rect l="l" t="t" r="r" b="b"/>
              <a:pathLst>
                <a:path w="1124643" h="341604">
                  <a:moveTo>
                    <a:pt x="141417" y="0"/>
                  </a:moveTo>
                  <a:lnTo>
                    <a:pt x="983226" y="0"/>
                  </a:lnTo>
                  <a:cubicBezTo>
                    <a:pt x="1020732" y="0"/>
                    <a:pt x="1056702" y="14899"/>
                    <a:pt x="1083223" y="41420"/>
                  </a:cubicBezTo>
                  <a:cubicBezTo>
                    <a:pt x="1109744" y="67941"/>
                    <a:pt x="1124643" y="103911"/>
                    <a:pt x="1124643" y="141417"/>
                  </a:cubicBezTo>
                  <a:lnTo>
                    <a:pt x="1124643" y="200187"/>
                  </a:lnTo>
                  <a:cubicBezTo>
                    <a:pt x="1124643" y="278290"/>
                    <a:pt x="1061328" y="341604"/>
                    <a:pt x="983226" y="341604"/>
                  </a:cubicBezTo>
                  <a:lnTo>
                    <a:pt x="141417" y="341604"/>
                  </a:lnTo>
                  <a:cubicBezTo>
                    <a:pt x="103911" y="341604"/>
                    <a:pt x="67941" y="326705"/>
                    <a:pt x="41420" y="300184"/>
                  </a:cubicBezTo>
                  <a:cubicBezTo>
                    <a:pt x="14899" y="273663"/>
                    <a:pt x="0" y="237693"/>
                    <a:pt x="0" y="200187"/>
                  </a:cubicBezTo>
                  <a:lnTo>
                    <a:pt x="0" y="141417"/>
                  </a:lnTo>
                  <a:cubicBezTo>
                    <a:pt x="0" y="103911"/>
                    <a:pt x="14899" y="67941"/>
                    <a:pt x="41420" y="41420"/>
                  </a:cubicBezTo>
                  <a:cubicBezTo>
                    <a:pt x="67941" y="14899"/>
                    <a:pt x="103911" y="0"/>
                    <a:pt x="141417" y="0"/>
                  </a:cubicBezTo>
                  <a:close/>
                </a:path>
              </a:pathLst>
            </a:custGeom>
            <a:solidFill>
              <a:srgbClr val="9560FF">
                <a:alpha val="49804"/>
              </a:srgbClr>
            </a:solidFill>
            <a:ln w="19050" cap="rnd">
              <a:gradFill>
                <a:gsLst>
                  <a:gs pos="0">
                    <a:srgbClr val="9560FF">
                      <a:alpha val="0"/>
                    </a:srgbClr>
                  </a:gs>
                  <a:gs pos="100000">
                    <a:srgbClr val="9560FF">
                      <a:alpha val="5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28575"/>
              <a:ext cx="1124643" cy="3130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844504" y="2732304"/>
            <a:ext cx="3612509" cy="1368726"/>
            <a:chOff x="0" y="0"/>
            <a:chExt cx="951443" cy="36048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51443" cy="360487"/>
            </a:xfrm>
            <a:custGeom>
              <a:avLst/>
              <a:gdLst/>
              <a:ahLst/>
              <a:cxnLst/>
              <a:rect l="l" t="t" r="r" b="b"/>
              <a:pathLst>
                <a:path w="951443" h="360487">
                  <a:moveTo>
                    <a:pt x="167161" y="0"/>
                  </a:moveTo>
                  <a:lnTo>
                    <a:pt x="784282" y="0"/>
                  </a:lnTo>
                  <a:cubicBezTo>
                    <a:pt x="828616" y="0"/>
                    <a:pt x="871134" y="17612"/>
                    <a:pt x="902483" y="48960"/>
                  </a:cubicBezTo>
                  <a:cubicBezTo>
                    <a:pt x="933831" y="80309"/>
                    <a:pt x="951443" y="122827"/>
                    <a:pt x="951443" y="167161"/>
                  </a:cubicBezTo>
                  <a:lnTo>
                    <a:pt x="951443" y="193327"/>
                  </a:lnTo>
                  <a:cubicBezTo>
                    <a:pt x="951443" y="285647"/>
                    <a:pt x="876602" y="360487"/>
                    <a:pt x="784282" y="360487"/>
                  </a:cubicBezTo>
                  <a:lnTo>
                    <a:pt x="167161" y="360487"/>
                  </a:lnTo>
                  <a:cubicBezTo>
                    <a:pt x="74840" y="360487"/>
                    <a:pt x="0" y="285647"/>
                    <a:pt x="0" y="193327"/>
                  </a:cubicBezTo>
                  <a:lnTo>
                    <a:pt x="0" y="167161"/>
                  </a:lnTo>
                  <a:cubicBezTo>
                    <a:pt x="0" y="74840"/>
                    <a:pt x="74840" y="0"/>
                    <a:pt x="167161" y="0"/>
                  </a:cubicBezTo>
                  <a:close/>
                </a:path>
              </a:pathLst>
            </a:custGeom>
            <a:solidFill>
              <a:srgbClr val="9560FF">
                <a:alpha val="49804"/>
              </a:srgbClr>
            </a:solidFill>
            <a:ln w="19050" cap="rnd">
              <a:gradFill>
                <a:gsLst>
                  <a:gs pos="0">
                    <a:srgbClr val="9560FF">
                      <a:alpha val="0"/>
                    </a:srgbClr>
                  </a:gs>
                  <a:gs pos="100000">
                    <a:srgbClr val="9560FF">
                      <a:alpha val="5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28575"/>
              <a:ext cx="951443" cy="331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7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79455" y="4310579"/>
            <a:ext cx="731589" cy="731589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33350" cap="sq">
              <a:gradFill>
                <a:gsLst>
                  <a:gs pos="0">
                    <a:srgbClr val="9560FF">
                      <a:alpha val="63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452118" y="1178837"/>
            <a:ext cx="1276853" cy="1410887"/>
          </a:xfrm>
          <a:custGeom>
            <a:avLst/>
            <a:gdLst/>
            <a:ahLst/>
            <a:cxnLst/>
            <a:rect l="l" t="t" r="r" b="b"/>
            <a:pathLst>
              <a:path w="1276853" h="1410887">
                <a:moveTo>
                  <a:pt x="0" y="0"/>
                </a:moveTo>
                <a:lnTo>
                  <a:pt x="1276853" y="0"/>
                </a:lnTo>
                <a:lnTo>
                  <a:pt x="1276853" y="1410887"/>
                </a:lnTo>
                <a:lnTo>
                  <a:pt x="0" y="14108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9674922" y="2732304"/>
            <a:ext cx="3612509" cy="1368726"/>
            <a:chOff x="0" y="0"/>
            <a:chExt cx="951443" cy="36048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51443" cy="360487"/>
            </a:xfrm>
            <a:custGeom>
              <a:avLst/>
              <a:gdLst/>
              <a:ahLst/>
              <a:cxnLst/>
              <a:rect l="l" t="t" r="r" b="b"/>
              <a:pathLst>
                <a:path w="951443" h="360487">
                  <a:moveTo>
                    <a:pt x="167161" y="0"/>
                  </a:moveTo>
                  <a:lnTo>
                    <a:pt x="784282" y="0"/>
                  </a:lnTo>
                  <a:cubicBezTo>
                    <a:pt x="828616" y="0"/>
                    <a:pt x="871134" y="17612"/>
                    <a:pt x="902483" y="48960"/>
                  </a:cubicBezTo>
                  <a:cubicBezTo>
                    <a:pt x="933831" y="80309"/>
                    <a:pt x="951443" y="122827"/>
                    <a:pt x="951443" y="167161"/>
                  </a:cubicBezTo>
                  <a:lnTo>
                    <a:pt x="951443" y="193327"/>
                  </a:lnTo>
                  <a:cubicBezTo>
                    <a:pt x="951443" y="285647"/>
                    <a:pt x="876602" y="360487"/>
                    <a:pt x="784282" y="360487"/>
                  </a:cubicBezTo>
                  <a:lnTo>
                    <a:pt x="167161" y="360487"/>
                  </a:lnTo>
                  <a:cubicBezTo>
                    <a:pt x="74840" y="360487"/>
                    <a:pt x="0" y="285647"/>
                    <a:pt x="0" y="193327"/>
                  </a:cubicBezTo>
                  <a:lnTo>
                    <a:pt x="0" y="167161"/>
                  </a:lnTo>
                  <a:cubicBezTo>
                    <a:pt x="0" y="74840"/>
                    <a:pt x="74840" y="0"/>
                    <a:pt x="167161" y="0"/>
                  </a:cubicBezTo>
                  <a:close/>
                </a:path>
              </a:pathLst>
            </a:custGeom>
            <a:solidFill>
              <a:srgbClr val="9560FF">
                <a:alpha val="49804"/>
              </a:srgbClr>
            </a:solidFill>
            <a:ln w="19050" cap="rnd">
              <a:gradFill>
                <a:gsLst>
                  <a:gs pos="0">
                    <a:srgbClr val="9560FF">
                      <a:alpha val="0"/>
                    </a:srgbClr>
                  </a:gs>
                  <a:gs pos="100000">
                    <a:srgbClr val="9560FF">
                      <a:alpha val="5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28575"/>
              <a:ext cx="951443" cy="331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7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620807" y="2768152"/>
            <a:ext cx="3458580" cy="1297028"/>
            <a:chOff x="0" y="0"/>
            <a:chExt cx="910902" cy="34160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10902" cy="341604"/>
            </a:xfrm>
            <a:custGeom>
              <a:avLst/>
              <a:gdLst/>
              <a:ahLst/>
              <a:cxnLst/>
              <a:rect l="l" t="t" r="r" b="b"/>
              <a:pathLst>
                <a:path w="910902" h="341604">
                  <a:moveTo>
                    <a:pt x="170802" y="0"/>
                  </a:moveTo>
                  <a:lnTo>
                    <a:pt x="740099" y="0"/>
                  </a:lnTo>
                  <a:cubicBezTo>
                    <a:pt x="834431" y="0"/>
                    <a:pt x="910902" y="76471"/>
                    <a:pt x="910902" y="170802"/>
                  </a:cubicBezTo>
                  <a:lnTo>
                    <a:pt x="910902" y="170802"/>
                  </a:lnTo>
                  <a:cubicBezTo>
                    <a:pt x="910902" y="265134"/>
                    <a:pt x="834431" y="341604"/>
                    <a:pt x="740099" y="341604"/>
                  </a:cubicBezTo>
                  <a:lnTo>
                    <a:pt x="170802" y="341604"/>
                  </a:lnTo>
                  <a:cubicBezTo>
                    <a:pt x="76471" y="341604"/>
                    <a:pt x="0" y="265134"/>
                    <a:pt x="0" y="170802"/>
                  </a:cubicBezTo>
                  <a:lnTo>
                    <a:pt x="0" y="170802"/>
                  </a:lnTo>
                  <a:cubicBezTo>
                    <a:pt x="0" y="76471"/>
                    <a:pt x="76471" y="0"/>
                    <a:pt x="170802" y="0"/>
                  </a:cubicBezTo>
                  <a:close/>
                </a:path>
              </a:pathLst>
            </a:custGeom>
            <a:solidFill>
              <a:srgbClr val="9560FF">
                <a:alpha val="49804"/>
              </a:srgbClr>
            </a:solidFill>
            <a:ln w="19050" cap="rnd">
              <a:gradFill>
                <a:gsLst>
                  <a:gs pos="0">
                    <a:srgbClr val="9560FF">
                      <a:alpha val="0"/>
                    </a:srgbClr>
                  </a:gs>
                  <a:gs pos="100000">
                    <a:srgbClr val="9560FF">
                      <a:alpha val="5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28575"/>
              <a:ext cx="910902" cy="3130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7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1791563" y="5501438"/>
            <a:ext cx="14704874" cy="1050284"/>
          </a:xfrm>
          <a:custGeom>
            <a:avLst/>
            <a:gdLst/>
            <a:ahLst/>
            <a:cxnLst/>
            <a:rect l="l" t="t" r="r" b="b"/>
            <a:pathLst>
              <a:path w="14704874" h="1050284">
                <a:moveTo>
                  <a:pt x="0" y="0"/>
                </a:moveTo>
                <a:lnTo>
                  <a:pt x="14704874" y="0"/>
                </a:lnTo>
                <a:lnTo>
                  <a:pt x="14704874" y="1050285"/>
                </a:lnTo>
                <a:lnTo>
                  <a:pt x="0" y="105028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033" r="-42419"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1675671" y="5472863"/>
            <a:ext cx="15604574" cy="1078859"/>
            <a:chOff x="0" y="0"/>
            <a:chExt cx="4109847" cy="28414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109847" cy="284144"/>
            </a:xfrm>
            <a:custGeom>
              <a:avLst/>
              <a:gdLst/>
              <a:ahLst/>
              <a:cxnLst/>
              <a:rect l="l" t="t" r="r" b="b"/>
              <a:pathLst>
                <a:path w="4109847" h="284144">
                  <a:moveTo>
                    <a:pt x="23814" y="0"/>
                  </a:moveTo>
                  <a:lnTo>
                    <a:pt x="4086032" y="0"/>
                  </a:lnTo>
                  <a:cubicBezTo>
                    <a:pt x="4099185" y="0"/>
                    <a:pt x="4109847" y="10662"/>
                    <a:pt x="4109847" y="23814"/>
                  </a:cubicBezTo>
                  <a:lnTo>
                    <a:pt x="4109847" y="260330"/>
                  </a:lnTo>
                  <a:cubicBezTo>
                    <a:pt x="4109847" y="266646"/>
                    <a:pt x="4107338" y="272703"/>
                    <a:pt x="4102872" y="277169"/>
                  </a:cubicBezTo>
                  <a:cubicBezTo>
                    <a:pt x="4098406" y="281635"/>
                    <a:pt x="4092348" y="284144"/>
                    <a:pt x="4086032" y="284144"/>
                  </a:cubicBezTo>
                  <a:lnTo>
                    <a:pt x="23814" y="284144"/>
                  </a:lnTo>
                  <a:cubicBezTo>
                    <a:pt x="10662" y="284144"/>
                    <a:pt x="0" y="273482"/>
                    <a:pt x="0" y="260330"/>
                  </a:cubicBezTo>
                  <a:lnTo>
                    <a:pt x="0" y="23814"/>
                  </a:lnTo>
                  <a:cubicBezTo>
                    <a:pt x="0" y="10662"/>
                    <a:pt x="10662" y="0"/>
                    <a:pt x="23814" y="0"/>
                  </a:cubicBezTo>
                  <a:close/>
                </a:path>
              </a:pathLst>
            </a:custGeom>
            <a:ln w="104775" cap="rnd">
              <a:gradFill>
                <a:gsLst>
                  <a:gs pos="0">
                    <a:srgbClr val="9560FF">
                      <a:alpha val="10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85725"/>
              <a:ext cx="4109847" cy="3698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3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89816" y="6761273"/>
            <a:ext cx="731589" cy="731589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33350" cap="sq">
              <a:gradFill>
                <a:gsLst>
                  <a:gs pos="0">
                    <a:srgbClr val="9560FF">
                      <a:alpha val="63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2517492" y="7671993"/>
            <a:ext cx="11576390" cy="2156768"/>
          </a:xfrm>
          <a:custGeom>
            <a:avLst/>
            <a:gdLst/>
            <a:ahLst/>
            <a:cxnLst/>
            <a:rect l="l" t="t" r="r" b="b"/>
            <a:pathLst>
              <a:path w="11576390" h="2156768">
                <a:moveTo>
                  <a:pt x="0" y="0"/>
                </a:moveTo>
                <a:lnTo>
                  <a:pt x="11576390" y="0"/>
                </a:lnTo>
                <a:lnTo>
                  <a:pt x="11576390" y="2156768"/>
                </a:lnTo>
                <a:lnTo>
                  <a:pt x="0" y="215676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2090545" y="4282004"/>
            <a:ext cx="15168755" cy="1091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2"/>
              </a:lnSpc>
            </a:pPr>
            <a:r>
              <a:rPr lang="en-US" sz="314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144" b="1">
                <a:solidFill>
                  <a:srgbClr val="956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 Engineering:</a:t>
            </a:r>
            <a:r>
              <a:rPr lang="en-US" sz="314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Created total_guests by combining </a:t>
            </a:r>
            <a:r>
              <a:rPr lang="en-US" sz="3144" b="1">
                <a:solidFill>
                  <a:srgbClr val="956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adults, children, and babies.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768687" y="1188362"/>
            <a:ext cx="11074000" cy="1250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10"/>
              </a:lnSpc>
            </a:pPr>
            <a:r>
              <a:rPr lang="en-US" sz="8299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Preprocessing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675671" y="2737326"/>
            <a:ext cx="3503097" cy="1220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26"/>
              </a:lnSpc>
            </a:pPr>
            <a:r>
              <a:rPr lang="en-US" sz="351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 Engineering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899210" y="2773175"/>
            <a:ext cx="3503097" cy="1220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26"/>
              </a:lnSpc>
            </a:pPr>
            <a:r>
              <a:rPr lang="en-US" sz="351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Categorical Encoding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033969" y="2737326"/>
            <a:ext cx="3009883" cy="1220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26"/>
              </a:lnSpc>
            </a:pPr>
            <a:r>
              <a:rPr lang="en-US" sz="351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</a:t>
            </a:r>
          </a:p>
          <a:p>
            <a:pPr algn="ctr">
              <a:lnSpc>
                <a:spcPts val="4926"/>
              </a:lnSpc>
            </a:pPr>
            <a:r>
              <a:rPr lang="en-US" sz="351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Splitting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257525" y="3083929"/>
            <a:ext cx="2375749" cy="59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26"/>
              </a:lnSpc>
            </a:pPr>
            <a:r>
              <a:rPr lang="en-US" sz="351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Scaling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911044" y="6818423"/>
            <a:ext cx="15794498" cy="53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2"/>
              </a:lnSpc>
            </a:pPr>
            <a:r>
              <a:rPr lang="en-US" sz="314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Converted categorical variables into numerical features using get_dummies.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2517492" y="7605318"/>
            <a:ext cx="12429715" cy="2192412"/>
            <a:chOff x="0" y="0"/>
            <a:chExt cx="3273670" cy="577425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273670" cy="577425"/>
            </a:xfrm>
            <a:custGeom>
              <a:avLst/>
              <a:gdLst/>
              <a:ahLst/>
              <a:cxnLst/>
              <a:rect l="l" t="t" r="r" b="b"/>
              <a:pathLst>
                <a:path w="3273670" h="577425">
                  <a:moveTo>
                    <a:pt x="29897" y="0"/>
                  </a:moveTo>
                  <a:lnTo>
                    <a:pt x="3243773" y="0"/>
                  </a:lnTo>
                  <a:cubicBezTo>
                    <a:pt x="3260285" y="0"/>
                    <a:pt x="3273670" y="13385"/>
                    <a:pt x="3273670" y="29897"/>
                  </a:cubicBezTo>
                  <a:lnTo>
                    <a:pt x="3273670" y="547528"/>
                  </a:lnTo>
                  <a:cubicBezTo>
                    <a:pt x="3273670" y="564040"/>
                    <a:pt x="3260285" y="577425"/>
                    <a:pt x="3243773" y="577425"/>
                  </a:cubicBezTo>
                  <a:lnTo>
                    <a:pt x="29897" y="577425"/>
                  </a:lnTo>
                  <a:cubicBezTo>
                    <a:pt x="13385" y="577425"/>
                    <a:pt x="0" y="564040"/>
                    <a:pt x="0" y="547528"/>
                  </a:cubicBezTo>
                  <a:lnTo>
                    <a:pt x="0" y="29897"/>
                  </a:lnTo>
                  <a:cubicBezTo>
                    <a:pt x="0" y="13385"/>
                    <a:pt x="13385" y="0"/>
                    <a:pt x="29897" y="0"/>
                  </a:cubicBezTo>
                  <a:close/>
                </a:path>
              </a:pathLst>
            </a:custGeom>
            <a:ln w="104775" cap="rnd">
              <a:gradFill>
                <a:gsLst>
                  <a:gs pos="0">
                    <a:srgbClr val="9560FF">
                      <a:alpha val="10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0" y="-85725"/>
              <a:ext cx="3273670" cy="663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3"/>
                </a:lnSpc>
              </a:pPr>
              <a:endParaRPr/>
            </a:p>
          </p:txBody>
        </p:sp>
      </p:grpSp>
      <p:sp>
        <p:nvSpPr>
          <p:cNvPr id="46" name="TextBox 16">
            <a:extLst>
              <a:ext uri="{FF2B5EF4-FFF2-40B4-BE49-F238E27FC236}">
                <a16:creationId xmlns:a16="http://schemas.microsoft.com/office/drawing/2014/main" id="{9ACCD773-13DD-B114-0990-73CBCC4731E0}"/>
              </a:ext>
            </a:extLst>
          </p:cNvPr>
          <p:cNvSpPr txBox="1"/>
          <p:nvPr/>
        </p:nvSpPr>
        <p:spPr>
          <a:xfrm>
            <a:off x="1805849" y="511810"/>
            <a:ext cx="298346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NTI - AI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/>
      <p:bldP spid="4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0886" y="-2049095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0" y="0"/>
                </a:moveTo>
                <a:lnTo>
                  <a:pt x="9964777" y="0"/>
                </a:lnTo>
                <a:lnTo>
                  <a:pt x="9964777" y="9098671"/>
                </a:lnTo>
                <a:lnTo>
                  <a:pt x="0" y="9098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327663" y="3237424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9964777" y="9098671"/>
                </a:moveTo>
                <a:lnTo>
                  <a:pt x="0" y="9098671"/>
                </a:lnTo>
                <a:lnTo>
                  <a:pt x="0" y="0"/>
                </a:lnTo>
                <a:lnTo>
                  <a:pt x="9964777" y="0"/>
                </a:lnTo>
                <a:lnTo>
                  <a:pt x="9964777" y="9098671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307306">
            <a:off x="8638171" y="265703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307306">
            <a:off x="-7950368" y="-721331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95836" y="973626"/>
            <a:ext cx="16896328" cy="9106699"/>
            <a:chOff x="0" y="0"/>
            <a:chExt cx="4450062" cy="23984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50062" cy="2398472"/>
            </a:xfrm>
            <a:custGeom>
              <a:avLst/>
              <a:gdLst/>
              <a:ahLst/>
              <a:cxnLst/>
              <a:rect l="l" t="t" r="r" b="b"/>
              <a:pathLst>
                <a:path w="4450062" h="2398472">
                  <a:moveTo>
                    <a:pt x="22910" y="0"/>
                  </a:moveTo>
                  <a:lnTo>
                    <a:pt x="4427151" y="0"/>
                  </a:lnTo>
                  <a:cubicBezTo>
                    <a:pt x="4439805" y="0"/>
                    <a:pt x="4450062" y="10257"/>
                    <a:pt x="4450062" y="22910"/>
                  </a:cubicBezTo>
                  <a:lnTo>
                    <a:pt x="4450062" y="2375562"/>
                  </a:lnTo>
                  <a:cubicBezTo>
                    <a:pt x="4450062" y="2388215"/>
                    <a:pt x="4439805" y="2398472"/>
                    <a:pt x="4427151" y="2398472"/>
                  </a:cubicBezTo>
                  <a:lnTo>
                    <a:pt x="22910" y="2398472"/>
                  </a:lnTo>
                  <a:cubicBezTo>
                    <a:pt x="16834" y="2398472"/>
                    <a:pt x="11007" y="2396058"/>
                    <a:pt x="6710" y="2391762"/>
                  </a:cubicBezTo>
                  <a:cubicBezTo>
                    <a:pt x="2414" y="2387465"/>
                    <a:pt x="0" y="2381638"/>
                    <a:pt x="0" y="2375562"/>
                  </a:cubicBezTo>
                  <a:lnTo>
                    <a:pt x="0" y="22910"/>
                  </a:lnTo>
                  <a:cubicBezTo>
                    <a:pt x="0" y="10257"/>
                    <a:pt x="10257" y="0"/>
                    <a:pt x="22910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450062" cy="24556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82966" y="189620"/>
            <a:ext cx="526910" cy="654177"/>
          </a:xfrm>
          <a:custGeom>
            <a:avLst/>
            <a:gdLst/>
            <a:ahLst/>
            <a:cxnLst/>
            <a:rect l="l" t="t" r="r" b="b"/>
            <a:pathLst>
              <a:path w="526910" h="654177">
                <a:moveTo>
                  <a:pt x="0" y="0"/>
                </a:moveTo>
                <a:lnTo>
                  <a:pt x="526910" y="0"/>
                </a:lnTo>
                <a:lnTo>
                  <a:pt x="526910" y="654178"/>
                </a:lnTo>
                <a:lnTo>
                  <a:pt x="0" y="6541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102380" y="-55074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189816" y="2871629"/>
            <a:ext cx="731589" cy="73158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33350" cap="sq">
              <a:gradFill>
                <a:gsLst>
                  <a:gs pos="0">
                    <a:srgbClr val="9560FF">
                      <a:alpha val="63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452118" y="1178837"/>
            <a:ext cx="1276853" cy="1410887"/>
          </a:xfrm>
          <a:custGeom>
            <a:avLst/>
            <a:gdLst/>
            <a:ahLst/>
            <a:cxnLst/>
            <a:rect l="l" t="t" r="r" b="b"/>
            <a:pathLst>
              <a:path w="1276853" h="1410887">
                <a:moveTo>
                  <a:pt x="0" y="0"/>
                </a:moveTo>
                <a:lnTo>
                  <a:pt x="1276853" y="0"/>
                </a:lnTo>
                <a:lnTo>
                  <a:pt x="1276853" y="1410887"/>
                </a:lnTo>
                <a:lnTo>
                  <a:pt x="0" y="14108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189816" y="6717788"/>
            <a:ext cx="731589" cy="731589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33350" cap="sq">
              <a:gradFill>
                <a:gsLst>
                  <a:gs pos="0">
                    <a:srgbClr val="9560FF">
                      <a:alpha val="63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2391287" y="3603218"/>
            <a:ext cx="12347298" cy="3020313"/>
          </a:xfrm>
          <a:custGeom>
            <a:avLst/>
            <a:gdLst/>
            <a:ahLst/>
            <a:cxnLst/>
            <a:rect l="l" t="t" r="r" b="b"/>
            <a:pathLst>
              <a:path w="12347298" h="3020313">
                <a:moveTo>
                  <a:pt x="0" y="0"/>
                </a:moveTo>
                <a:lnTo>
                  <a:pt x="12347298" y="0"/>
                </a:lnTo>
                <a:lnTo>
                  <a:pt x="12347298" y="3020313"/>
                </a:lnTo>
                <a:lnTo>
                  <a:pt x="0" y="30203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r="-760" b="-13219"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2391287" y="3603218"/>
            <a:ext cx="13599446" cy="3136762"/>
            <a:chOff x="0" y="0"/>
            <a:chExt cx="3581747" cy="82614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581747" cy="826143"/>
            </a:xfrm>
            <a:custGeom>
              <a:avLst/>
              <a:gdLst/>
              <a:ahLst/>
              <a:cxnLst/>
              <a:rect l="l" t="t" r="r" b="b"/>
              <a:pathLst>
                <a:path w="3581747" h="826143">
                  <a:moveTo>
                    <a:pt x="27326" y="0"/>
                  </a:moveTo>
                  <a:lnTo>
                    <a:pt x="3554422" y="0"/>
                  </a:lnTo>
                  <a:cubicBezTo>
                    <a:pt x="3569513" y="0"/>
                    <a:pt x="3581747" y="12234"/>
                    <a:pt x="3581747" y="27326"/>
                  </a:cubicBezTo>
                  <a:lnTo>
                    <a:pt x="3581747" y="798818"/>
                  </a:lnTo>
                  <a:cubicBezTo>
                    <a:pt x="3581747" y="813909"/>
                    <a:pt x="3569513" y="826143"/>
                    <a:pt x="3554422" y="826143"/>
                  </a:cubicBezTo>
                  <a:lnTo>
                    <a:pt x="27326" y="826143"/>
                  </a:lnTo>
                  <a:cubicBezTo>
                    <a:pt x="12234" y="826143"/>
                    <a:pt x="0" y="813909"/>
                    <a:pt x="0" y="798818"/>
                  </a:cubicBezTo>
                  <a:lnTo>
                    <a:pt x="0" y="27326"/>
                  </a:lnTo>
                  <a:cubicBezTo>
                    <a:pt x="0" y="12234"/>
                    <a:pt x="12234" y="0"/>
                    <a:pt x="27326" y="0"/>
                  </a:cubicBezTo>
                  <a:close/>
                </a:path>
              </a:pathLst>
            </a:custGeom>
            <a:ln w="104775" cap="rnd">
              <a:gradFill>
                <a:gsLst>
                  <a:gs pos="0">
                    <a:srgbClr val="9560FF">
                      <a:alpha val="10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85725"/>
              <a:ext cx="3581747" cy="9118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3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2391287" y="7599165"/>
            <a:ext cx="11499989" cy="1954333"/>
          </a:xfrm>
          <a:custGeom>
            <a:avLst/>
            <a:gdLst/>
            <a:ahLst/>
            <a:cxnLst/>
            <a:rect l="l" t="t" r="r" b="b"/>
            <a:pathLst>
              <a:path w="11499989" h="1954333">
                <a:moveTo>
                  <a:pt x="0" y="0"/>
                </a:moveTo>
                <a:lnTo>
                  <a:pt x="11499989" y="0"/>
                </a:lnTo>
                <a:lnTo>
                  <a:pt x="11499989" y="1954333"/>
                </a:lnTo>
                <a:lnTo>
                  <a:pt x="0" y="195433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921404" y="2820627"/>
            <a:ext cx="14914478" cy="496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22"/>
              </a:lnSpc>
            </a:pPr>
            <a:r>
              <a:rPr lang="en-US" sz="2944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944" b="1" dirty="0">
                <a:solidFill>
                  <a:srgbClr val="956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splitting:</a:t>
            </a:r>
            <a:r>
              <a:rPr lang="en-US" sz="2944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Divided the dataset into 80% training data and 20% testing data.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768687" y="1188362"/>
            <a:ext cx="11074000" cy="1250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10"/>
              </a:lnSpc>
            </a:pPr>
            <a:r>
              <a:rPr lang="en-US" sz="8299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Preprocessing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090545" y="6852695"/>
            <a:ext cx="14420179" cy="48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2"/>
              </a:lnSpc>
            </a:pPr>
            <a:r>
              <a:rPr lang="en-US" sz="2844" b="1">
                <a:solidFill>
                  <a:srgbClr val="956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 Scaling:</a:t>
            </a:r>
            <a:r>
              <a:rPr lang="en-US" sz="284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Standardized numerical features to bring them to a similar scale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2391287" y="7551960"/>
            <a:ext cx="13250148" cy="2001538"/>
            <a:chOff x="0" y="0"/>
            <a:chExt cx="3489751" cy="52715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489751" cy="527154"/>
            </a:xfrm>
            <a:custGeom>
              <a:avLst/>
              <a:gdLst/>
              <a:ahLst/>
              <a:cxnLst/>
              <a:rect l="l" t="t" r="r" b="b"/>
              <a:pathLst>
                <a:path w="3489751" h="527154">
                  <a:moveTo>
                    <a:pt x="28046" y="0"/>
                  </a:moveTo>
                  <a:lnTo>
                    <a:pt x="3461705" y="0"/>
                  </a:lnTo>
                  <a:cubicBezTo>
                    <a:pt x="3477194" y="0"/>
                    <a:pt x="3489751" y="12557"/>
                    <a:pt x="3489751" y="28046"/>
                  </a:cubicBezTo>
                  <a:lnTo>
                    <a:pt x="3489751" y="499108"/>
                  </a:lnTo>
                  <a:cubicBezTo>
                    <a:pt x="3489751" y="514598"/>
                    <a:pt x="3477194" y="527154"/>
                    <a:pt x="3461705" y="527154"/>
                  </a:cubicBezTo>
                  <a:lnTo>
                    <a:pt x="28046" y="527154"/>
                  </a:lnTo>
                  <a:cubicBezTo>
                    <a:pt x="12557" y="527154"/>
                    <a:pt x="0" y="514598"/>
                    <a:pt x="0" y="499108"/>
                  </a:cubicBezTo>
                  <a:lnTo>
                    <a:pt x="0" y="28046"/>
                  </a:lnTo>
                  <a:cubicBezTo>
                    <a:pt x="0" y="12557"/>
                    <a:pt x="12557" y="0"/>
                    <a:pt x="28046" y="0"/>
                  </a:cubicBezTo>
                  <a:close/>
                </a:path>
              </a:pathLst>
            </a:custGeom>
            <a:ln w="104775" cap="rnd">
              <a:gradFill>
                <a:gsLst>
                  <a:gs pos="0">
                    <a:srgbClr val="9560FF">
                      <a:alpha val="10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85725"/>
              <a:ext cx="3489751" cy="612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3"/>
                </a:lnSpc>
              </a:pPr>
              <a:endParaRPr/>
            </a:p>
          </p:txBody>
        </p:sp>
      </p:grpSp>
      <p:sp>
        <p:nvSpPr>
          <p:cNvPr id="30" name="TextBox 16">
            <a:extLst>
              <a:ext uri="{FF2B5EF4-FFF2-40B4-BE49-F238E27FC236}">
                <a16:creationId xmlns:a16="http://schemas.microsoft.com/office/drawing/2014/main" id="{B36886F3-117C-FEB1-0109-7714BFE054D9}"/>
              </a:ext>
            </a:extLst>
          </p:cNvPr>
          <p:cNvSpPr txBox="1"/>
          <p:nvPr/>
        </p:nvSpPr>
        <p:spPr>
          <a:xfrm>
            <a:off x="1805849" y="511810"/>
            <a:ext cx="298346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NTI - AI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0886" y="-2049095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0" y="0"/>
                </a:moveTo>
                <a:lnTo>
                  <a:pt x="9964777" y="0"/>
                </a:lnTo>
                <a:lnTo>
                  <a:pt x="9964777" y="9098671"/>
                </a:lnTo>
                <a:lnTo>
                  <a:pt x="0" y="9098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327663" y="3237424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9964777" y="9098671"/>
                </a:moveTo>
                <a:lnTo>
                  <a:pt x="0" y="9098671"/>
                </a:lnTo>
                <a:lnTo>
                  <a:pt x="0" y="0"/>
                </a:lnTo>
                <a:lnTo>
                  <a:pt x="9964777" y="0"/>
                </a:lnTo>
                <a:lnTo>
                  <a:pt x="9964777" y="9098671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307306">
            <a:off x="8638171" y="265703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307306">
            <a:off x="-7950368" y="-721331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95836" y="973626"/>
            <a:ext cx="16896328" cy="8284674"/>
            <a:chOff x="0" y="0"/>
            <a:chExt cx="4450062" cy="21819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50062" cy="2181972"/>
            </a:xfrm>
            <a:custGeom>
              <a:avLst/>
              <a:gdLst/>
              <a:ahLst/>
              <a:cxnLst/>
              <a:rect l="l" t="t" r="r" b="b"/>
              <a:pathLst>
                <a:path w="4450062" h="2181972">
                  <a:moveTo>
                    <a:pt x="22910" y="0"/>
                  </a:moveTo>
                  <a:lnTo>
                    <a:pt x="4427151" y="0"/>
                  </a:lnTo>
                  <a:cubicBezTo>
                    <a:pt x="4439805" y="0"/>
                    <a:pt x="4450062" y="10257"/>
                    <a:pt x="4450062" y="22910"/>
                  </a:cubicBezTo>
                  <a:lnTo>
                    <a:pt x="4450062" y="2159062"/>
                  </a:lnTo>
                  <a:cubicBezTo>
                    <a:pt x="4450062" y="2171715"/>
                    <a:pt x="4439805" y="2181972"/>
                    <a:pt x="4427151" y="2181972"/>
                  </a:cubicBezTo>
                  <a:lnTo>
                    <a:pt x="22910" y="2181972"/>
                  </a:lnTo>
                  <a:cubicBezTo>
                    <a:pt x="16834" y="2181972"/>
                    <a:pt x="11007" y="2179558"/>
                    <a:pt x="6710" y="2175261"/>
                  </a:cubicBezTo>
                  <a:cubicBezTo>
                    <a:pt x="2414" y="2170965"/>
                    <a:pt x="0" y="2165138"/>
                    <a:pt x="0" y="2159062"/>
                  </a:cubicBezTo>
                  <a:lnTo>
                    <a:pt x="0" y="22910"/>
                  </a:lnTo>
                  <a:cubicBezTo>
                    <a:pt x="0" y="10257"/>
                    <a:pt x="10257" y="0"/>
                    <a:pt x="22910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450062" cy="22391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82966" y="189620"/>
            <a:ext cx="526910" cy="654177"/>
          </a:xfrm>
          <a:custGeom>
            <a:avLst/>
            <a:gdLst/>
            <a:ahLst/>
            <a:cxnLst/>
            <a:rect l="l" t="t" r="r" b="b"/>
            <a:pathLst>
              <a:path w="526910" h="654177">
                <a:moveTo>
                  <a:pt x="0" y="0"/>
                </a:moveTo>
                <a:lnTo>
                  <a:pt x="526910" y="0"/>
                </a:lnTo>
                <a:lnTo>
                  <a:pt x="526910" y="654178"/>
                </a:lnTo>
                <a:lnTo>
                  <a:pt x="0" y="6541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102380" y="-55074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63146" y="1373204"/>
            <a:ext cx="1412327" cy="1412327"/>
          </a:xfrm>
          <a:custGeom>
            <a:avLst/>
            <a:gdLst/>
            <a:ahLst/>
            <a:cxnLst/>
            <a:rect l="l" t="t" r="r" b="b"/>
            <a:pathLst>
              <a:path w="1412327" h="1412327">
                <a:moveTo>
                  <a:pt x="0" y="0"/>
                </a:moveTo>
                <a:lnTo>
                  <a:pt x="1412327" y="0"/>
                </a:lnTo>
                <a:lnTo>
                  <a:pt x="1412327" y="1412327"/>
                </a:lnTo>
                <a:lnTo>
                  <a:pt x="0" y="14123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654726" y="4386659"/>
            <a:ext cx="4270129" cy="1906076"/>
            <a:chOff x="0" y="0"/>
            <a:chExt cx="1124643" cy="50201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24643" cy="502012"/>
            </a:xfrm>
            <a:custGeom>
              <a:avLst/>
              <a:gdLst/>
              <a:ahLst/>
              <a:cxnLst/>
              <a:rect l="l" t="t" r="r" b="b"/>
              <a:pathLst>
                <a:path w="1124643" h="502012">
                  <a:moveTo>
                    <a:pt x="141417" y="0"/>
                  </a:moveTo>
                  <a:lnTo>
                    <a:pt x="983226" y="0"/>
                  </a:lnTo>
                  <a:cubicBezTo>
                    <a:pt x="1020732" y="0"/>
                    <a:pt x="1056702" y="14899"/>
                    <a:pt x="1083223" y="41420"/>
                  </a:cubicBezTo>
                  <a:cubicBezTo>
                    <a:pt x="1109744" y="67941"/>
                    <a:pt x="1124643" y="103911"/>
                    <a:pt x="1124643" y="141417"/>
                  </a:cubicBezTo>
                  <a:lnTo>
                    <a:pt x="1124643" y="360595"/>
                  </a:lnTo>
                  <a:cubicBezTo>
                    <a:pt x="1124643" y="438697"/>
                    <a:pt x="1061328" y="502012"/>
                    <a:pt x="983226" y="502012"/>
                  </a:cubicBezTo>
                  <a:lnTo>
                    <a:pt x="141417" y="502012"/>
                  </a:lnTo>
                  <a:cubicBezTo>
                    <a:pt x="103911" y="502012"/>
                    <a:pt x="67941" y="487113"/>
                    <a:pt x="41420" y="460592"/>
                  </a:cubicBezTo>
                  <a:cubicBezTo>
                    <a:pt x="14899" y="434071"/>
                    <a:pt x="0" y="398101"/>
                    <a:pt x="0" y="360595"/>
                  </a:cubicBezTo>
                  <a:lnTo>
                    <a:pt x="0" y="141417"/>
                  </a:lnTo>
                  <a:cubicBezTo>
                    <a:pt x="0" y="103911"/>
                    <a:pt x="14899" y="67941"/>
                    <a:pt x="41420" y="41420"/>
                  </a:cubicBezTo>
                  <a:cubicBezTo>
                    <a:pt x="67941" y="14899"/>
                    <a:pt x="103911" y="0"/>
                    <a:pt x="141417" y="0"/>
                  </a:cubicBezTo>
                  <a:close/>
                </a:path>
              </a:pathLst>
            </a:custGeom>
            <a:solidFill>
              <a:srgbClr val="9560FF">
                <a:alpha val="49804"/>
              </a:srgbClr>
            </a:solidFill>
            <a:ln w="19050" cap="rnd">
              <a:gradFill>
                <a:gsLst>
                  <a:gs pos="0">
                    <a:srgbClr val="9560FF">
                      <a:alpha val="0"/>
                    </a:srgbClr>
                  </a:gs>
                  <a:gs pos="100000">
                    <a:srgbClr val="9560FF">
                      <a:alpha val="5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28575"/>
              <a:ext cx="1124643" cy="4734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7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691969" y="4386659"/>
            <a:ext cx="4270129" cy="1878539"/>
            <a:chOff x="0" y="0"/>
            <a:chExt cx="1124643" cy="49475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24643" cy="494759"/>
            </a:xfrm>
            <a:custGeom>
              <a:avLst/>
              <a:gdLst/>
              <a:ahLst/>
              <a:cxnLst/>
              <a:rect l="l" t="t" r="r" b="b"/>
              <a:pathLst>
                <a:path w="1124643" h="494759">
                  <a:moveTo>
                    <a:pt x="141417" y="0"/>
                  </a:moveTo>
                  <a:lnTo>
                    <a:pt x="983226" y="0"/>
                  </a:lnTo>
                  <a:cubicBezTo>
                    <a:pt x="1020732" y="0"/>
                    <a:pt x="1056702" y="14899"/>
                    <a:pt x="1083223" y="41420"/>
                  </a:cubicBezTo>
                  <a:cubicBezTo>
                    <a:pt x="1109744" y="67941"/>
                    <a:pt x="1124643" y="103911"/>
                    <a:pt x="1124643" y="141417"/>
                  </a:cubicBezTo>
                  <a:lnTo>
                    <a:pt x="1124643" y="353342"/>
                  </a:lnTo>
                  <a:cubicBezTo>
                    <a:pt x="1124643" y="390848"/>
                    <a:pt x="1109744" y="426818"/>
                    <a:pt x="1083223" y="453339"/>
                  </a:cubicBezTo>
                  <a:cubicBezTo>
                    <a:pt x="1056702" y="479860"/>
                    <a:pt x="1020732" y="494759"/>
                    <a:pt x="983226" y="494759"/>
                  </a:cubicBezTo>
                  <a:lnTo>
                    <a:pt x="141417" y="494759"/>
                  </a:lnTo>
                  <a:cubicBezTo>
                    <a:pt x="103911" y="494759"/>
                    <a:pt x="67941" y="479860"/>
                    <a:pt x="41420" y="453339"/>
                  </a:cubicBezTo>
                  <a:cubicBezTo>
                    <a:pt x="14899" y="426818"/>
                    <a:pt x="0" y="390848"/>
                    <a:pt x="0" y="353342"/>
                  </a:cubicBezTo>
                  <a:lnTo>
                    <a:pt x="0" y="141417"/>
                  </a:lnTo>
                  <a:cubicBezTo>
                    <a:pt x="0" y="103911"/>
                    <a:pt x="14899" y="67941"/>
                    <a:pt x="41420" y="41420"/>
                  </a:cubicBezTo>
                  <a:cubicBezTo>
                    <a:pt x="67941" y="14899"/>
                    <a:pt x="103911" y="0"/>
                    <a:pt x="141417" y="0"/>
                  </a:cubicBezTo>
                  <a:close/>
                </a:path>
              </a:pathLst>
            </a:custGeom>
            <a:solidFill>
              <a:srgbClr val="9560FF">
                <a:alpha val="49804"/>
              </a:srgbClr>
            </a:solidFill>
            <a:ln w="19050" cap="rnd">
              <a:gradFill>
                <a:gsLst>
                  <a:gs pos="0">
                    <a:srgbClr val="9560FF">
                      <a:alpha val="0"/>
                    </a:srgbClr>
                  </a:gs>
                  <a:gs pos="100000">
                    <a:srgbClr val="9560FF">
                      <a:alpha val="5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28575"/>
              <a:ext cx="1124643" cy="4661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7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844454" y="4386659"/>
            <a:ext cx="4270129" cy="1878539"/>
            <a:chOff x="0" y="0"/>
            <a:chExt cx="1124643" cy="49475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24643" cy="494759"/>
            </a:xfrm>
            <a:custGeom>
              <a:avLst/>
              <a:gdLst/>
              <a:ahLst/>
              <a:cxnLst/>
              <a:rect l="l" t="t" r="r" b="b"/>
              <a:pathLst>
                <a:path w="1124643" h="494759">
                  <a:moveTo>
                    <a:pt x="141417" y="0"/>
                  </a:moveTo>
                  <a:lnTo>
                    <a:pt x="983226" y="0"/>
                  </a:lnTo>
                  <a:cubicBezTo>
                    <a:pt x="1020732" y="0"/>
                    <a:pt x="1056702" y="14899"/>
                    <a:pt x="1083223" y="41420"/>
                  </a:cubicBezTo>
                  <a:cubicBezTo>
                    <a:pt x="1109744" y="67941"/>
                    <a:pt x="1124643" y="103911"/>
                    <a:pt x="1124643" y="141417"/>
                  </a:cubicBezTo>
                  <a:lnTo>
                    <a:pt x="1124643" y="353342"/>
                  </a:lnTo>
                  <a:cubicBezTo>
                    <a:pt x="1124643" y="390848"/>
                    <a:pt x="1109744" y="426818"/>
                    <a:pt x="1083223" y="453339"/>
                  </a:cubicBezTo>
                  <a:cubicBezTo>
                    <a:pt x="1056702" y="479860"/>
                    <a:pt x="1020732" y="494759"/>
                    <a:pt x="983226" y="494759"/>
                  </a:cubicBezTo>
                  <a:lnTo>
                    <a:pt x="141417" y="494759"/>
                  </a:lnTo>
                  <a:cubicBezTo>
                    <a:pt x="103911" y="494759"/>
                    <a:pt x="67941" y="479860"/>
                    <a:pt x="41420" y="453339"/>
                  </a:cubicBezTo>
                  <a:cubicBezTo>
                    <a:pt x="14899" y="426818"/>
                    <a:pt x="0" y="390848"/>
                    <a:pt x="0" y="353342"/>
                  </a:cubicBezTo>
                  <a:lnTo>
                    <a:pt x="0" y="141417"/>
                  </a:lnTo>
                  <a:cubicBezTo>
                    <a:pt x="0" y="103911"/>
                    <a:pt x="14899" y="67941"/>
                    <a:pt x="41420" y="41420"/>
                  </a:cubicBezTo>
                  <a:cubicBezTo>
                    <a:pt x="67941" y="14899"/>
                    <a:pt x="103911" y="0"/>
                    <a:pt x="141417" y="0"/>
                  </a:cubicBezTo>
                  <a:close/>
                </a:path>
              </a:pathLst>
            </a:custGeom>
            <a:solidFill>
              <a:srgbClr val="9560FF">
                <a:alpha val="49804"/>
              </a:srgbClr>
            </a:solidFill>
            <a:ln w="19050" cap="rnd">
              <a:gradFill>
                <a:gsLst>
                  <a:gs pos="0">
                    <a:srgbClr val="9560FF">
                      <a:alpha val="0"/>
                    </a:srgbClr>
                  </a:gs>
                  <a:gs pos="100000">
                    <a:srgbClr val="9560FF">
                      <a:alpha val="5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28575"/>
              <a:ext cx="1124643" cy="4661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7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555610" y="7049576"/>
            <a:ext cx="4270129" cy="1813730"/>
            <a:chOff x="0" y="0"/>
            <a:chExt cx="1124643" cy="47769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24643" cy="477690"/>
            </a:xfrm>
            <a:custGeom>
              <a:avLst/>
              <a:gdLst/>
              <a:ahLst/>
              <a:cxnLst/>
              <a:rect l="l" t="t" r="r" b="b"/>
              <a:pathLst>
                <a:path w="1124643" h="477690">
                  <a:moveTo>
                    <a:pt x="141417" y="0"/>
                  </a:moveTo>
                  <a:lnTo>
                    <a:pt x="983226" y="0"/>
                  </a:lnTo>
                  <a:cubicBezTo>
                    <a:pt x="1020732" y="0"/>
                    <a:pt x="1056702" y="14899"/>
                    <a:pt x="1083223" y="41420"/>
                  </a:cubicBezTo>
                  <a:cubicBezTo>
                    <a:pt x="1109744" y="67941"/>
                    <a:pt x="1124643" y="103911"/>
                    <a:pt x="1124643" y="141417"/>
                  </a:cubicBezTo>
                  <a:lnTo>
                    <a:pt x="1124643" y="336273"/>
                  </a:lnTo>
                  <a:cubicBezTo>
                    <a:pt x="1124643" y="373779"/>
                    <a:pt x="1109744" y="409749"/>
                    <a:pt x="1083223" y="436270"/>
                  </a:cubicBezTo>
                  <a:cubicBezTo>
                    <a:pt x="1056702" y="462791"/>
                    <a:pt x="1020732" y="477690"/>
                    <a:pt x="983226" y="477690"/>
                  </a:cubicBezTo>
                  <a:lnTo>
                    <a:pt x="141417" y="477690"/>
                  </a:lnTo>
                  <a:cubicBezTo>
                    <a:pt x="103911" y="477690"/>
                    <a:pt x="67941" y="462791"/>
                    <a:pt x="41420" y="436270"/>
                  </a:cubicBezTo>
                  <a:cubicBezTo>
                    <a:pt x="14899" y="409749"/>
                    <a:pt x="0" y="373779"/>
                    <a:pt x="0" y="336273"/>
                  </a:cubicBezTo>
                  <a:lnTo>
                    <a:pt x="0" y="141417"/>
                  </a:lnTo>
                  <a:cubicBezTo>
                    <a:pt x="0" y="103911"/>
                    <a:pt x="14899" y="67941"/>
                    <a:pt x="41420" y="41420"/>
                  </a:cubicBezTo>
                  <a:cubicBezTo>
                    <a:pt x="67941" y="14899"/>
                    <a:pt x="103911" y="0"/>
                    <a:pt x="141417" y="0"/>
                  </a:cubicBezTo>
                  <a:close/>
                </a:path>
              </a:pathLst>
            </a:custGeom>
            <a:solidFill>
              <a:srgbClr val="9560FF">
                <a:alpha val="49804"/>
              </a:srgbClr>
            </a:solidFill>
            <a:ln w="19050" cap="rnd">
              <a:gradFill>
                <a:gsLst>
                  <a:gs pos="0">
                    <a:srgbClr val="9560FF">
                      <a:alpha val="0"/>
                    </a:srgbClr>
                  </a:gs>
                  <a:gs pos="100000">
                    <a:srgbClr val="9560FF">
                      <a:alpha val="5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28575"/>
              <a:ext cx="1124643" cy="4491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7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691423" y="7049576"/>
            <a:ext cx="4270129" cy="1813730"/>
            <a:chOff x="0" y="0"/>
            <a:chExt cx="1124643" cy="47769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24643" cy="477690"/>
            </a:xfrm>
            <a:custGeom>
              <a:avLst/>
              <a:gdLst/>
              <a:ahLst/>
              <a:cxnLst/>
              <a:rect l="l" t="t" r="r" b="b"/>
              <a:pathLst>
                <a:path w="1124643" h="477690">
                  <a:moveTo>
                    <a:pt x="141417" y="0"/>
                  </a:moveTo>
                  <a:lnTo>
                    <a:pt x="983226" y="0"/>
                  </a:lnTo>
                  <a:cubicBezTo>
                    <a:pt x="1020732" y="0"/>
                    <a:pt x="1056702" y="14899"/>
                    <a:pt x="1083223" y="41420"/>
                  </a:cubicBezTo>
                  <a:cubicBezTo>
                    <a:pt x="1109744" y="67941"/>
                    <a:pt x="1124643" y="103911"/>
                    <a:pt x="1124643" y="141417"/>
                  </a:cubicBezTo>
                  <a:lnTo>
                    <a:pt x="1124643" y="336273"/>
                  </a:lnTo>
                  <a:cubicBezTo>
                    <a:pt x="1124643" y="373779"/>
                    <a:pt x="1109744" y="409749"/>
                    <a:pt x="1083223" y="436270"/>
                  </a:cubicBezTo>
                  <a:cubicBezTo>
                    <a:pt x="1056702" y="462791"/>
                    <a:pt x="1020732" y="477690"/>
                    <a:pt x="983226" y="477690"/>
                  </a:cubicBezTo>
                  <a:lnTo>
                    <a:pt x="141417" y="477690"/>
                  </a:lnTo>
                  <a:cubicBezTo>
                    <a:pt x="103911" y="477690"/>
                    <a:pt x="67941" y="462791"/>
                    <a:pt x="41420" y="436270"/>
                  </a:cubicBezTo>
                  <a:cubicBezTo>
                    <a:pt x="14899" y="409749"/>
                    <a:pt x="0" y="373779"/>
                    <a:pt x="0" y="336273"/>
                  </a:cubicBezTo>
                  <a:lnTo>
                    <a:pt x="0" y="141417"/>
                  </a:lnTo>
                  <a:cubicBezTo>
                    <a:pt x="0" y="103911"/>
                    <a:pt x="14899" y="67941"/>
                    <a:pt x="41420" y="41420"/>
                  </a:cubicBezTo>
                  <a:cubicBezTo>
                    <a:pt x="67941" y="14899"/>
                    <a:pt x="103911" y="0"/>
                    <a:pt x="141417" y="0"/>
                  </a:cubicBezTo>
                  <a:close/>
                </a:path>
              </a:pathLst>
            </a:custGeom>
            <a:solidFill>
              <a:srgbClr val="9560FF">
                <a:alpha val="49804"/>
              </a:srgbClr>
            </a:solidFill>
            <a:ln w="19050" cap="rnd">
              <a:gradFill>
                <a:gsLst>
                  <a:gs pos="0">
                    <a:srgbClr val="9560FF">
                      <a:alpha val="0"/>
                    </a:srgbClr>
                  </a:gs>
                  <a:gs pos="100000">
                    <a:srgbClr val="9560FF">
                      <a:alpha val="5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28575"/>
              <a:ext cx="1124643" cy="4491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7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828328" y="7035116"/>
            <a:ext cx="4270129" cy="1813730"/>
            <a:chOff x="0" y="0"/>
            <a:chExt cx="1124643" cy="47769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24643" cy="477690"/>
            </a:xfrm>
            <a:custGeom>
              <a:avLst/>
              <a:gdLst/>
              <a:ahLst/>
              <a:cxnLst/>
              <a:rect l="l" t="t" r="r" b="b"/>
              <a:pathLst>
                <a:path w="1124643" h="477690">
                  <a:moveTo>
                    <a:pt x="141417" y="0"/>
                  </a:moveTo>
                  <a:lnTo>
                    <a:pt x="983226" y="0"/>
                  </a:lnTo>
                  <a:cubicBezTo>
                    <a:pt x="1020732" y="0"/>
                    <a:pt x="1056702" y="14899"/>
                    <a:pt x="1083223" y="41420"/>
                  </a:cubicBezTo>
                  <a:cubicBezTo>
                    <a:pt x="1109744" y="67941"/>
                    <a:pt x="1124643" y="103911"/>
                    <a:pt x="1124643" y="141417"/>
                  </a:cubicBezTo>
                  <a:lnTo>
                    <a:pt x="1124643" y="336273"/>
                  </a:lnTo>
                  <a:cubicBezTo>
                    <a:pt x="1124643" y="373779"/>
                    <a:pt x="1109744" y="409749"/>
                    <a:pt x="1083223" y="436270"/>
                  </a:cubicBezTo>
                  <a:cubicBezTo>
                    <a:pt x="1056702" y="462791"/>
                    <a:pt x="1020732" y="477690"/>
                    <a:pt x="983226" y="477690"/>
                  </a:cubicBezTo>
                  <a:lnTo>
                    <a:pt x="141417" y="477690"/>
                  </a:lnTo>
                  <a:cubicBezTo>
                    <a:pt x="103911" y="477690"/>
                    <a:pt x="67941" y="462791"/>
                    <a:pt x="41420" y="436270"/>
                  </a:cubicBezTo>
                  <a:cubicBezTo>
                    <a:pt x="14899" y="409749"/>
                    <a:pt x="0" y="373779"/>
                    <a:pt x="0" y="336273"/>
                  </a:cubicBezTo>
                  <a:lnTo>
                    <a:pt x="0" y="141417"/>
                  </a:lnTo>
                  <a:cubicBezTo>
                    <a:pt x="0" y="103911"/>
                    <a:pt x="14899" y="67941"/>
                    <a:pt x="41420" y="41420"/>
                  </a:cubicBezTo>
                  <a:cubicBezTo>
                    <a:pt x="67941" y="14899"/>
                    <a:pt x="103911" y="0"/>
                    <a:pt x="141417" y="0"/>
                  </a:cubicBezTo>
                  <a:close/>
                </a:path>
              </a:pathLst>
            </a:custGeom>
            <a:solidFill>
              <a:srgbClr val="9560FF">
                <a:alpha val="49804"/>
              </a:srgbClr>
            </a:solidFill>
            <a:ln w="19050" cap="rnd">
              <a:gradFill>
                <a:gsLst>
                  <a:gs pos="0">
                    <a:srgbClr val="9560FF">
                      <a:alpha val="0"/>
                    </a:srgbClr>
                  </a:gs>
                  <a:gs pos="100000">
                    <a:srgbClr val="9560FF">
                      <a:alpha val="5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28575"/>
              <a:ext cx="1124643" cy="4491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7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2044309" y="4511592"/>
            <a:ext cx="3292731" cy="158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62"/>
              </a:lnSpc>
            </a:pPr>
            <a:r>
              <a:rPr lang="en-US" sz="4544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Logistic</a:t>
            </a:r>
          </a:p>
          <a:p>
            <a:pPr algn="ctr">
              <a:lnSpc>
                <a:spcPts val="6362"/>
              </a:lnSpc>
            </a:pPr>
            <a:r>
              <a:rPr lang="en-US" sz="4544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Regression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180668" y="4511592"/>
            <a:ext cx="3292731" cy="158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62"/>
              </a:lnSpc>
            </a:pPr>
            <a:r>
              <a:rPr lang="en-US" sz="4544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Decision Tree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333153" y="4497824"/>
            <a:ext cx="3292731" cy="158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62"/>
              </a:lnSpc>
            </a:pPr>
            <a:r>
              <a:rPr lang="en-US" sz="4544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Random Forest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022977" y="7456206"/>
            <a:ext cx="3292731" cy="770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62"/>
              </a:lnSpc>
            </a:pPr>
            <a:r>
              <a:rPr lang="en-US" sz="4544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KNN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180668" y="7128336"/>
            <a:ext cx="3292731" cy="158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62"/>
              </a:lnSpc>
            </a:pPr>
            <a:r>
              <a:rPr lang="en-US" sz="4544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Gradient Boosting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333153" y="7456206"/>
            <a:ext cx="3292731" cy="770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62"/>
              </a:lnSpc>
            </a:pPr>
            <a:r>
              <a:rPr lang="en-US" sz="4544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XGBoost</a:t>
            </a:r>
            <a:endParaRPr lang="en-US" sz="4544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grpSp>
        <p:nvGrpSpPr>
          <p:cNvPr id="37" name="Group 37"/>
          <p:cNvGrpSpPr/>
          <p:nvPr/>
        </p:nvGrpSpPr>
        <p:grpSpPr>
          <a:xfrm>
            <a:off x="1316814" y="3162965"/>
            <a:ext cx="731589" cy="731589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33350" cap="sq">
              <a:gradFill>
                <a:gsLst>
                  <a:gs pos="0">
                    <a:srgbClr val="9560FF">
                      <a:alpha val="63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2169309" y="3127959"/>
            <a:ext cx="14463965" cy="101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2"/>
              </a:lnSpc>
            </a:pPr>
            <a:r>
              <a:rPr lang="en-US" sz="2944" b="1">
                <a:solidFill>
                  <a:srgbClr val="956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 the Hotel Booking dataset:</a:t>
            </a:r>
            <a:r>
              <a:rPr lang="en-US" sz="294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whether a hotel booking will be canceled or not canceled using is_canceled.</a:t>
            </a:r>
          </a:p>
        </p:txBody>
      </p:sp>
      <p:sp>
        <p:nvSpPr>
          <p:cNvPr id="41" name="Freeform 41"/>
          <p:cNvSpPr/>
          <p:nvPr/>
        </p:nvSpPr>
        <p:spPr>
          <a:xfrm>
            <a:off x="13078599" y="9100206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3047345" y="1458719"/>
            <a:ext cx="12882455" cy="1250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10"/>
              </a:lnSpc>
            </a:pPr>
            <a:r>
              <a:rPr lang="en-US" sz="8299" b="1" dirty="0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Classification Models</a:t>
            </a:r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6BDBF927-0D3A-C5BF-B58C-00A31220126E}"/>
              </a:ext>
            </a:extLst>
          </p:cNvPr>
          <p:cNvSpPr txBox="1"/>
          <p:nvPr/>
        </p:nvSpPr>
        <p:spPr>
          <a:xfrm>
            <a:off x="1805849" y="511810"/>
            <a:ext cx="298346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NTI - AI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6" grpId="0"/>
      <p:bldP spid="4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0886" y="-2049095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0" y="0"/>
                </a:moveTo>
                <a:lnTo>
                  <a:pt x="9964777" y="0"/>
                </a:lnTo>
                <a:lnTo>
                  <a:pt x="9964777" y="9098671"/>
                </a:lnTo>
                <a:lnTo>
                  <a:pt x="0" y="9098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327663" y="3237424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9964777" y="9098671"/>
                </a:moveTo>
                <a:lnTo>
                  <a:pt x="0" y="9098671"/>
                </a:lnTo>
                <a:lnTo>
                  <a:pt x="0" y="0"/>
                </a:lnTo>
                <a:lnTo>
                  <a:pt x="9964777" y="0"/>
                </a:lnTo>
                <a:lnTo>
                  <a:pt x="9964777" y="9098671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307306">
            <a:off x="8638171" y="265703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307306">
            <a:off x="-7950368" y="-721331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05361" y="973626"/>
            <a:ext cx="17389543" cy="9134144"/>
            <a:chOff x="0" y="0"/>
            <a:chExt cx="4579962" cy="24057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579962" cy="2405700"/>
            </a:xfrm>
            <a:custGeom>
              <a:avLst/>
              <a:gdLst/>
              <a:ahLst/>
              <a:cxnLst/>
              <a:rect l="l" t="t" r="r" b="b"/>
              <a:pathLst>
                <a:path w="4579962" h="2405700">
                  <a:moveTo>
                    <a:pt x="22260" y="0"/>
                  </a:moveTo>
                  <a:lnTo>
                    <a:pt x="4557702" y="0"/>
                  </a:lnTo>
                  <a:cubicBezTo>
                    <a:pt x="4569995" y="0"/>
                    <a:pt x="4579962" y="9966"/>
                    <a:pt x="4579962" y="22260"/>
                  </a:cubicBezTo>
                  <a:lnTo>
                    <a:pt x="4579962" y="2383440"/>
                  </a:lnTo>
                  <a:cubicBezTo>
                    <a:pt x="4579962" y="2395734"/>
                    <a:pt x="4569995" y="2405700"/>
                    <a:pt x="4557702" y="2405700"/>
                  </a:cubicBezTo>
                  <a:lnTo>
                    <a:pt x="22260" y="2405700"/>
                  </a:lnTo>
                  <a:cubicBezTo>
                    <a:pt x="9966" y="2405700"/>
                    <a:pt x="0" y="2395734"/>
                    <a:pt x="0" y="2383440"/>
                  </a:cubicBezTo>
                  <a:lnTo>
                    <a:pt x="0" y="22260"/>
                  </a:lnTo>
                  <a:cubicBezTo>
                    <a:pt x="0" y="9966"/>
                    <a:pt x="9966" y="0"/>
                    <a:pt x="22260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579962" cy="24628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82966" y="189620"/>
            <a:ext cx="526910" cy="654177"/>
          </a:xfrm>
          <a:custGeom>
            <a:avLst/>
            <a:gdLst/>
            <a:ahLst/>
            <a:cxnLst/>
            <a:rect l="l" t="t" r="r" b="b"/>
            <a:pathLst>
              <a:path w="526910" h="654177">
                <a:moveTo>
                  <a:pt x="0" y="0"/>
                </a:moveTo>
                <a:lnTo>
                  <a:pt x="526910" y="0"/>
                </a:lnTo>
                <a:lnTo>
                  <a:pt x="526910" y="654178"/>
                </a:lnTo>
                <a:lnTo>
                  <a:pt x="0" y="6541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102380" y="-55074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09876" y="1221228"/>
            <a:ext cx="1412327" cy="1412327"/>
          </a:xfrm>
          <a:custGeom>
            <a:avLst/>
            <a:gdLst/>
            <a:ahLst/>
            <a:cxnLst/>
            <a:rect l="l" t="t" r="r" b="b"/>
            <a:pathLst>
              <a:path w="1412327" h="1412327">
                <a:moveTo>
                  <a:pt x="0" y="0"/>
                </a:moveTo>
                <a:lnTo>
                  <a:pt x="1412328" y="0"/>
                </a:lnTo>
                <a:lnTo>
                  <a:pt x="1412328" y="1412327"/>
                </a:lnTo>
                <a:lnTo>
                  <a:pt x="0" y="14123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28700" y="3014555"/>
            <a:ext cx="11916326" cy="6236213"/>
          </a:xfrm>
          <a:custGeom>
            <a:avLst/>
            <a:gdLst/>
            <a:ahLst/>
            <a:cxnLst/>
            <a:rect l="l" t="t" r="r" b="b"/>
            <a:pathLst>
              <a:path w="11916326" h="6236213">
                <a:moveTo>
                  <a:pt x="0" y="0"/>
                </a:moveTo>
                <a:lnTo>
                  <a:pt x="11916326" y="0"/>
                </a:lnTo>
                <a:lnTo>
                  <a:pt x="11916326" y="6236213"/>
                </a:lnTo>
                <a:lnTo>
                  <a:pt x="0" y="62362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638" r="-1576" b="-4519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722204" y="1397611"/>
            <a:ext cx="15372700" cy="1065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24"/>
              </a:lnSpc>
            </a:pPr>
            <a:r>
              <a:rPr lang="en-US" sz="7200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Classification Models evaluation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3102380" y="3640655"/>
            <a:ext cx="4299245" cy="4984014"/>
            <a:chOff x="0" y="0"/>
            <a:chExt cx="1132311" cy="131266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32311" cy="1312662"/>
            </a:xfrm>
            <a:custGeom>
              <a:avLst/>
              <a:gdLst/>
              <a:ahLst/>
              <a:cxnLst/>
              <a:rect l="l" t="t" r="r" b="b"/>
              <a:pathLst>
                <a:path w="1132311" h="1312662">
                  <a:moveTo>
                    <a:pt x="90038" y="0"/>
                  </a:moveTo>
                  <a:lnTo>
                    <a:pt x="1042273" y="0"/>
                  </a:lnTo>
                  <a:cubicBezTo>
                    <a:pt x="1092000" y="0"/>
                    <a:pt x="1132311" y="40311"/>
                    <a:pt x="1132311" y="90038"/>
                  </a:cubicBezTo>
                  <a:lnTo>
                    <a:pt x="1132311" y="1222624"/>
                  </a:lnTo>
                  <a:cubicBezTo>
                    <a:pt x="1132311" y="1272351"/>
                    <a:pt x="1092000" y="1312662"/>
                    <a:pt x="1042273" y="1312662"/>
                  </a:cubicBezTo>
                  <a:lnTo>
                    <a:pt x="90038" y="1312662"/>
                  </a:lnTo>
                  <a:cubicBezTo>
                    <a:pt x="66159" y="1312662"/>
                    <a:pt x="43257" y="1303176"/>
                    <a:pt x="26372" y="1286291"/>
                  </a:cubicBezTo>
                  <a:cubicBezTo>
                    <a:pt x="9486" y="1269405"/>
                    <a:pt x="0" y="1246504"/>
                    <a:pt x="0" y="1222624"/>
                  </a:cubicBezTo>
                  <a:lnTo>
                    <a:pt x="0" y="90038"/>
                  </a:lnTo>
                  <a:cubicBezTo>
                    <a:pt x="0" y="66159"/>
                    <a:pt x="9486" y="43257"/>
                    <a:pt x="26372" y="26372"/>
                  </a:cubicBezTo>
                  <a:cubicBezTo>
                    <a:pt x="43257" y="9486"/>
                    <a:pt x="66159" y="0"/>
                    <a:pt x="90038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132311" cy="1369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3322818" y="3904569"/>
            <a:ext cx="3858369" cy="4118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6"/>
              </a:lnSpc>
            </a:pPr>
            <a:r>
              <a:rPr lang="en-US" sz="3467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XGBoost: </a:t>
            </a:r>
            <a:r>
              <a:rPr lang="en-US" sz="3467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Achieved </a:t>
            </a:r>
            <a:r>
              <a:rPr lang="en-US" sz="3467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87.12%</a:t>
            </a:r>
            <a:r>
              <a:rPr lang="en-US" sz="3467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accuracy, 85.00% precision, 79.23% recall, and the highest F1-score of </a:t>
            </a:r>
            <a:r>
              <a:rPr lang="en-US" sz="3467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82.01%</a:t>
            </a:r>
            <a:r>
              <a:rPr lang="en-US" sz="3467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</p:txBody>
      </p:sp>
      <p:sp>
        <p:nvSpPr>
          <p:cNvPr id="19" name="Freeform 19"/>
          <p:cNvSpPr/>
          <p:nvPr/>
        </p:nvSpPr>
        <p:spPr>
          <a:xfrm>
            <a:off x="13102380" y="9100206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BCC69F0F-E4E8-92DA-20D3-044CE2732116}"/>
              </a:ext>
            </a:extLst>
          </p:cNvPr>
          <p:cNvSpPr txBox="1"/>
          <p:nvPr/>
        </p:nvSpPr>
        <p:spPr>
          <a:xfrm>
            <a:off x="1805849" y="511810"/>
            <a:ext cx="298346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NTI - AI</a:t>
            </a:r>
          </a:p>
        </p:txBody>
      </p:sp>
    </p:spTree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0886" y="-2049095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0" y="0"/>
                </a:moveTo>
                <a:lnTo>
                  <a:pt x="9964777" y="0"/>
                </a:lnTo>
                <a:lnTo>
                  <a:pt x="9964777" y="9098671"/>
                </a:lnTo>
                <a:lnTo>
                  <a:pt x="0" y="9098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327663" y="3237424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9964777" y="9098671"/>
                </a:moveTo>
                <a:lnTo>
                  <a:pt x="0" y="9098671"/>
                </a:lnTo>
                <a:lnTo>
                  <a:pt x="0" y="0"/>
                </a:lnTo>
                <a:lnTo>
                  <a:pt x="9964777" y="0"/>
                </a:lnTo>
                <a:lnTo>
                  <a:pt x="9964777" y="9098671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307306">
            <a:off x="8638171" y="265703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307306">
            <a:off x="-7950368" y="-721331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95836" y="973626"/>
            <a:ext cx="16896328" cy="8922766"/>
            <a:chOff x="0" y="0"/>
            <a:chExt cx="4450062" cy="23500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50062" cy="2350029"/>
            </a:xfrm>
            <a:custGeom>
              <a:avLst/>
              <a:gdLst/>
              <a:ahLst/>
              <a:cxnLst/>
              <a:rect l="l" t="t" r="r" b="b"/>
              <a:pathLst>
                <a:path w="4450062" h="2350029">
                  <a:moveTo>
                    <a:pt x="22910" y="0"/>
                  </a:moveTo>
                  <a:lnTo>
                    <a:pt x="4427151" y="0"/>
                  </a:lnTo>
                  <a:cubicBezTo>
                    <a:pt x="4439805" y="0"/>
                    <a:pt x="4450062" y="10257"/>
                    <a:pt x="4450062" y="22910"/>
                  </a:cubicBezTo>
                  <a:lnTo>
                    <a:pt x="4450062" y="2327119"/>
                  </a:lnTo>
                  <a:cubicBezTo>
                    <a:pt x="4450062" y="2339772"/>
                    <a:pt x="4439805" y="2350029"/>
                    <a:pt x="4427151" y="2350029"/>
                  </a:cubicBezTo>
                  <a:lnTo>
                    <a:pt x="22910" y="2350029"/>
                  </a:lnTo>
                  <a:cubicBezTo>
                    <a:pt x="16834" y="2350029"/>
                    <a:pt x="11007" y="2347615"/>
                    <a:pt x="6710" y="2343319"/>
                  </a:cubicBezTo>
                  <a:cubicBezTo>
                    <a:pt x="2414" y="2339022"/>
                    <a:pt x="0" y="2333195"/>
                    <a:pt x="0" y="2327119"/>
                  </a:cubicBezTo>
                  <a:lnTo>
                    <a:pt x="0" y="22910"/>
                  </a:lnTo>
                  <a:cubicBezTo>
                    <a:pt x="0" y="10257"/>
                    <a:pt x="10257" y="0"/>
                    <a:pt x="22910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450062" cy="2407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82966" y="189620"/>
            <a:ext cx="526910" cy="654177"/>
          </a:xfrm>
          <a:custGeom>
            <a:avLst/>
            <a:gdLst/>
            <a:ahLst/>
            <a:cxnLst/>
            <a:rect l="l" t="t" r="r" b="b"/>
            <a:pathLst>
              <a:path w="526910" h="654177">
                <a:moveTo>
                  <a:pt x="0" y="0"/>
                </a:moveTo>
                <a:lnTo>
                  <a:pt x="526910" y="0"/>
                </a:lnTo>
                <a:lnTo>
                  <a:pt x="526910" y="654178"/>
                </a:lnTo>
                <a:lnTo>
                  <a:pt x="0" y="6541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102380" y="-55074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09876" y="1221228"/>
            <a:ext cx="1412327" cy="1412327"/>
          </a:xfrm>
          <a:custGeom>
            <a:avLst/>
            <a:gdLst/>
            <a:ahLst/>
            <a:cxnLst/>
            <a:rect l="l" t="t" r="r" b="b"/>
            <a:pathLst>
              <a:path w="1412327" h="1412327">
                <a:moveTo>
                  <a:pt x="0" y="0"/>
                </a:moveTo>
                <a:lnTo>
                  <a:pt x="1412328" y="0"/>
                </a:lnTo>
                <a:lnTo>
                  <a:pt x="1412328" y="1412327"/>
                </a:lnTo>
                <a:lnTo>
                  <a:pt x="0" y="14123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549739" y="3014555"/>
            <a:ext cx="731589" cy="731589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33350" cap="sq">
              <a:gradFill>
                <a:gsLst>
                  <a:gs pos="0">
                    <a:srgbClr val="9560FF">
                      <a:alpha val="63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124615" y="3995354"/>
            <a:ext cx="9396734" cy="5397443"/>
          </a:xfrm>
          <a:custGeom>
            <a:avLst/>
            <a:gdLst/>
            <a:ahLst/>
            <a:cxnLst/>
            <a:rect l="l" t="t" r="r" b="b"/>
            <a:pathLst>
              <a:path w="9396734" h="5397443">
                <a:moveTo>
                  <a:pt x="0" y="0"/>
                </a:moveTo>
                <a:lnTo>
                  <a:pt x="9396734" y="0"/>
                </a:lnTo>
                <a:lnTo>
                  <a:pt x="9396734" y="5397442"/>
                </a:lnTo>
                <a:lnTo>
                  <a:pt x="0" y="539744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1941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896901" y="1306743"/>
            <a:ext cx="12882455" cy="1250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10"/>
              </a:lnSpc>
            </a:pPr>
            <a:r>
              <a:rPr lang="en-US" sz="8299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Classification Models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82293" y="2928830"/>
            <a:ext cx="3292731" cy="770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62"/>
              </a:lnSpc>
            </a:pPr>
            <a:r>
              <a:rPr lang="en-US" sz="454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XGBoost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28700" y="3860857"/>
            <a:ext cx="9492649" cy="5666435"/>
            <a:chOff x="0" y="0"/>
            <a:chExt cx="2500122" cy="149239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500122" cy="1492394"/>
            </a:xfrm>
            <a:custGeom>
              <a:avLst/>
              <a:gdLst/>
              <a:ahLst/>
              <a:cxnLst/>
              <a:rect l="l" t="t" r="r" b="b"/>
              <a:pathLst>
                <a:path w="2500122" h="1492394">
                  <a:moveTo>
                    <a:pt x="39147" y="0"/>
                  </a:moveTo>
                  <a:lnTo>
                    <a:pt x="2460974" y="0"/>
                  </a:lnTo>
                  <a:cubicBezTo>
                    <a:pt x="2482595" y="0"/>
                    <a:pt x="2500122" y="17527"/>
                    <a:pt x="2500122" y="39147"/>
                  </a:cubicBezTo>
                  <a:lnTo>
                    <a:pt x="2500122" y="1453247"/>
                  </a:lnTo>
                  <a:cubicBezTo>
                    <a:pt x="2500122" y="1463630"/>
                    <a:pt x="2495997" y="1473587"/>
                    <a:pt x="2488656" y="1480929"/>
                  </a:cubicBezTo>
                  <a:cubicBezTo>
                    <a:pt x="2481314" y="1488270"/>
                    <a:pt x="2471357" y="1492394"/>
                    <a:pt x="2460974" y="1492394"/>
                  </a:cubicBezTo>
                  <a:lnTo>
                    <a:pt x="39147" y="1492394"/>
                  </a:lnTo>
                  <a:cubicBezTo>
                    <a:pt x="17527" y="1492394"/>
                    <a:pt x="0" y="1474868"/>
                    <a:pt x="0" y="1453247"/>
                  </a:cubicBezTo>
                  <a:lnTo>
                    <a:pt x="0" y="39147"/>
                  </a:lnTo>
                  <a:cubicBezTo>
                    <a:pt x="0" y="17527"/>
                    <a:pt x="17527" y="0"/>
                    <a:pt x="39147" y="0"/>
                  </a:cubicBezTo>
                  <a:close/>
                </a:path>
              </a:pathLst>
            </a:custGeom>
            <a:ln w="104775" cap="rnd">
              <a:gradFill>
                <a:gsLst>
                  <a:gs pos="0">
                    <a:srgbClr val="9560FF">
                      <a:alpha val="10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85725"/>
              <a:ext cx="2500122" cy="15781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3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721374" y="2858678"/>
            <a:ext cx="6835779" cy="6534119"/>
            <a:chOff x="0" y="0"/>
            <a:chExt cx="1800370" cy="17209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800370" cy="1720920"/>
            </a:xfrm>
            <a:custGeom>
              <a:avLst/>
              <a:gdLst/>
              <a:ahLst/>
              <a:cxnLst/>
              <a:rect l="l" t="t" r="r" b="b"/>
              <a:pathLst>
                <a:path w="1800370" h="1720920">
                  <a:moveTo>
                    <a:pt x="56628" y="0"/>
                  </a:moveTo>
                  <a:lnTo>
                    <a:pt x="1743742" y="0"/>
                  </a:lnTo>
                  <a:cubicBezTo>
                    <a:pt x="1758760" y="0"/>
                    <a:pt x="1773164" y="5966"/>
                    <a:pt x="1783784" y="16586"/>
                  </a:cubicBezTo>
                  <a:cubicBezTo>
                    <a:pt x="1794404" y="27206"/>
                    <a:pt x="1800370" y="41609"/>
                    <a:pt x="1800370" y="56628"/>
                  </a:cubicBezTo>
                  <a:lnTo>
                    <a:pt x="1800370" y="1664292"/>
                  </a:lnTo>
                  <a:cubicBezTo>
                    <a:pt x="1800370" y="1679311"/>
                    <a:pt x="1794404" y="1693714"/>
                    <a:pt x="1783784" y="1704334"/>
                  </a:cubicBezTo>
                  <a:cubicBezTo>
                    <a:pt x="1773164" y="1714954"/>
                    <a:pt x="1758760" y="1720920"/>
                    <a:pt x="1743742" y="1720920"/>
                  </a:cubicBezTo>
                  <a:lnTo>
                    <a:pt x="56628" y="1720920"/>
                  </a:lnTo>
                  <a:cubicBezTo>
                    <a:pt x="41609" y="1720920"/>
                    <a:pt x="27206" y="1714954"/>
                    <a:pt x="16586" y="1704334"/>
                  </a:cubicBezTo>
                  <a:cubicBezTo>
                    <a:pt x="5966" y="1693714"/>
                    <a:pt x="0" y="1679311"/>
                    <a:pt x="0" y="1664292"/>
                  </a:cubicBezTo>
                  <a:lnTo>
                    <a:pt x="0" y="56628"/>
                  </a:lnTo>
                  <a:cubicBezTo>
                    <a:pt x="0" y="41609"/>
                    <a:pt x="5966" y="27206"/>
                    <a:pt x="16586" y="16586"/>
                  </a:cubicBezTo>
                  <a:cubicBezTo>
                    <a:pt x="27206" y="5966"/>
                    <a:pt x="41609" y="0"/>
                    <a:pt x="56628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1800370" cy="1778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124237" y="3237424"/>
            <a:ext cx="5712378" cy="284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3199" b="1" dirty="0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 </a:t>
            </a:r>
            <a:r>
              <a:rPr lang="en-US" sz="3199" b="1" dirty="0" err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XGBoost</a:t>
            </a:r>
            <a:r>
              <a:rPr lang="en-US" sz="3199" b="1" dirty="0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:</a:t>
            </a:r>
            <a:r>
              <a:rPr lang="en-US" sz="3199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  <a:p>
            <a:pPr algn="l">
              <a:lnSpc>
                <a:spcPts val="3743"/>
              </a:lnSpc>
            </a:pPr>
            <a:r>
              <a:rPr lang="en-US" sz="3199" b="1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XGBoost</a:t>
            </a:r>
            <a:r>
              <a:rPr lang="en-US" sz="3199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is a powerful boosting algorithm that combines multiple decision trees to make accurate predictions.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124237" y="6369558"/>
            <a:ext cx="5712378" cy="2812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3199" b="1" dirty="0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Feature Importance: </a:t>
            </a:r>
            <a:r>
              <a:rPr lang="en-US" sz="3199" b="1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XGBoost</a:t>
            </a:r>
            <a:r>
              <a:rPr lang="en-US" sz="3199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feature importance was used to identify the features that contributed most to the cancellation predictions.</a:t>
            </a:r>
          </a:p>
        </p:txBody>
      </p:sp>
      <p:sp>
        <p:nvSpPr>
          <p:cNvPr id="27" name="Freeform 27"/>
          <p:cNvSpPr/>
          <p:nvPr/>
        </p:nvSpPr>
        <p:spPr>
          <a:xfrm>
            <a:off x="13078599" y="9100206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16">
            <a:extLst>
              <a:ext uri="{FF2B5EF4-FFF2-40B4-BE49-F238E27FC236}">
                <a16:creationId xmlns:a16="http://schemas.microsoft.com/office/drawing/2014/main" id="{211FD57D-5786-8040-4781-06BF9D5B95DD}"/>
              </a:ext>
            </a:extLst>
          </p:cNvPr>
          <p:cNvSpPr txBox="1"/>
          <p:nvPr/>
        </p:nvSpPr>
        <p:spPr>
          <a:xfrm>
            <a:off x="1805849" y="511810"/>
            <a:ext cx="298346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NTI - AI</a:t>
            </a:r>
          </a:p>
        </p:txBody>
      </p:sp>
    </p:spTree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0886" y="-2049095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0" y="0"/>
                </a:moveTo>
                <a:lnTo>
                  <a:pt x="9964777" y="0"/>
                </a:lnTo>
                <a:lnTo>
                  <a:pt x="9964777" y="9098671"/>
                </a:lnTo>
                <a:lnTo>
                  <a:pt x="0" y="9098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327663" y="3237424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9964777" y="9098671"/>
                </a:moveTo>
                <a:lnTo>
                  <a:pt x="0" y="9098671"/>
                </a:lnTo>
                <a:lnTo>
                  <a:pt x="0" y="0"/>
                </a:lnTo>
                <a:lnTo>
                  <a:pt x="9964777" y="0"/>
                </a:lnTo>
                <a:lnTo>
                  <a:pt x="9964777" y="9098671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307306">
            <a:off x="8638171" y="265703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307306">
            <a:off x="-7950368" y="-721331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95836" y="973626"/>
            <a:ext cx="17389543" cy="9134144"/>
            <a:chOff x="0" y="0"/>
            <a:chExt cx="4579962" cy="24057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579962" cy="2405700"/>
            </a:xfrm>
            <a:custGeom>
              <a:avLst/>
              <a:gdLst/>
              <a:ahLst/>
              <a:cxnLst/>
              <a:rect l="l" t="t" r="r" b="b"/>
              <a:pathLst>
                <a:path w="4579962" h="2405700">
                  <a:moveTo>
                    <a:pt x="22260" y="0"/>
                  </a:moveTo>
                  <a:lnTo>
                    <a:pt x="4557702" y="0"/>
                  </a:lnTo>
                  <a:cubicBezTo>
                    <a:pt x="4569995" y="0"/>
                    <a:pt x="4579962" y="9966"/>
                    <a:pt x="4579962" y="22260"/>
                  </a:cubicBezTo>
                  <a:lnTo>
                    <a:pt x="4579962" y="2383440"/>
                  </a:lnTo>
                  <a:cubicBezTo>
                    <a:pt x="4579962" y="2395734"/>
                    <a:pt x="4569995" y="2405700"/>
                    <a:pt x="4557702" y="2405700"/>
                  </a:cubicBezTo>
                  <a:lnTo>
                    <a:pt x="22260" y="2405700"/>
                  </a:lnTo>
                  <a:cubicBezTo>
                    <a:pt x="9966" y="2405700"/>
                    <a:pt x="0" y="2395734"/>
                    <a:pt x="0" y="2383440"/>
                  </a:cubicBezTo>
                  <a:lnTo>
                    <a:pt x="0" y="22260"/>
                  </a:lnTo>
                  <a:cubicBezTo>
                    <a:pt x="0" y="9966"/>
                    <a:pt x="9966" y="0"/>
                    <a:pt x="22260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579962" cy="24628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82966" y="189620"/>
            <a:ext cx="526910" cy="654177"/>
          </a:xfrm>
          <a:custGeom>
            <a:avLst/>
            <a:gdLst/>
            <a:ahLst/>
            <a:cxnLst/>
            <a:rect l="l" t="t" r="r" b="b"/>
            <a:pathLst>
              <a:path w="526910" h="654177">
                <a:moveTo>
                  <a:pt x="0" y="0"/>
                </a:moveTo>
                <a:lnTo>
                  <a:pt x="526910" y="0"/>
                </a:lnTo>
                <a:lnTo>
                  <a:pt x="526910" y="654178"/>
                </a:lnTo>
                <a:lnTo>
                  <a:pt x="0" y="6541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102380" y="-55074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09876" y="1221228"/>
            <a:ext cx="1412327" cy="1412327"/>
          </a:xfrm>
          <a:custGeom>
            <a:avLst/>
            <a:gdLst/>
            <a:ahLst/>
            <a:cxnLst/>
            <a:rect l="l" t="t" r="r" b="b"/>
            <a:pathLst>
              <a:path w="1412327" h="1412327">
                <a:moveTo>
                  <a:pt x="0" y="0"/>
                </a:moveTo>
                <a:lnTo>
                  <a:pt x="1412328" y="0"/>
                </a:lnTo>
                <a:lnTo>
                  <a:pt x="1412328" y="1412327"/>
                </a:lnTo>
                <a:lnTo>
                  <a:pt x="0" y="14123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3102380" y="3640655"/>
            <a:ext cx="4557437" cy="4984014"/>
            <a:chOff x="0" y="0"/>
            <a:chExt cx="1200313" cy="13126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00313" cy="1312662"/>
            </a:xfrm>
            <a:custGeom>
              <a:avLst/>
              <a:gdLst/>
              <a:ahLst/>
              <a:cxnLst/>
              <a:rect l="l" t="t" r="r" b="b"/>
              <a:pathLst>
                <a:path w="1200313" h="1312662">
                  <a:moveTo>
                    <a:pt x="84937" y="0"/>
                  </a:moveTo>
                  <a:lnTo>
                    <a:pt x="1115375" y="0"/>
                  </a:lnTo>
                  <a:cubicBezTo>
                    <a:pt x="1162285" y="0"/>
                    <a:pt x="1200313" y="38028"/>
                    <a:pt x="1200313" y="84937"/>
                  </a:cubicBezTo>
                  <a:lnTo>
                    <a:pt x="1200313" y="1227725"/>
                  </a:lnTo>
                  <a:cubicBezTo>
                    <a:pt x="1200313" y="1250252"/>
                    <a:pt x="1191364" y="1271856"/>
                    <a:pt x="1175435" y="1287785"/>
                  </a:cubicBezTo>
                  <a:cubicBezTo>
                    <a:pt x="1159506" y="1303714"/>
                    <a:pt x="1137902" y="1312662"/>
                    <a:pt x="1115375" y="1312662"/>
                  </a:cubicBezTo>
                  <a:lnTo>
                    <a:pt x="84937" y="1312662"/>
                  </a:lnTo>
                  <a:cubicBezTo>
                    <a:pt x="62410" y="1312662"/>
                    <a:pt x="40806" y="1303714"/>
                    <a:pt x="24878" y="1287785"/>
                  </a:cubicBezTo>
                  <a:cubicBezTo>
                    <a:pt x="8949" y="1271856"/>
                    <a:pt x="0" y="1250252"/>
                    <a:pt x="0" y="1227725"/>
                  </a:cubicBezTo>
                  <a:lnTo>
                    <a:pt x="0" y="84937"/>
                  </a:lnTo>
                  <a:cubicBezTo>
                    <a:pt x="0" y="62410"/>
                    <a:pt x="8949" y="40806"/>
                    <a:pt x="24878" y="24878"/>
                  </a:cubicBezTo>
                  <a:cubicBezTo>
                    <a:pt x="40806" y="8949"/>
                    <a:pt x="62410" y="0"/>
                    <a:pt x="84937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200313" cy="1369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337258" y="3180062"/>
            <a:ext cx="11446074" cy="6148717"/>
          </a:xfrm>
          <a:custGeom>
            <a:avLst/>
            <a:gdLst/>
            <a:ahLst/>
            <a:cxnLst/>
            <a:rect l="l" t="t" r="r" b="b"/>
            <a:pathLst>
              <a:path w="11446074" h="6148717">
                <a:moveTo>
                  <a:pt x="0" y="0"/>
                </a:moveTo>
                <a:lnTo>
                  <a:pt x="11446074" y="0"/>
                </a:lnTo>
                <a:lnTo>
                  <a:pt x="11446074" y="6148717"/>
                </a:lnTo>
                <a:lnTo>
                  <a:pt x="0" y="614871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722204" y="1397611"/>
            <a:ext cx="15214401" cy="1065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24"/>
              </a:lnSpc>
            </a:pPr>
            <a:r>
              <a:rPr lang="en-US" sz="7200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Classification Models evaluation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322818" y="3895044"/>
            <a:ext cx="4557437" cy="438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3"/>
              </a:lnSpc>
            </a:pPr>
            <a:r>
              <a:rPr lang="en-US" sz="3686" b="1" dirty="0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Top Predictor: </a:t>
            </a:r>
            <a:r>
              <a:rPr lang="en-US" sz="3686" b="1" dirty="0">
                <a:solidFill>
                  <a:srgbClr val="00B05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deposit_type_Non-Refund </a:t>
            </a:r>
            <a:r>
              <a:rPr lang="en-US" sz="3686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has the strongest influence on the </a:t>
            </a:r>
            <a:r>
              <a:rPr lang="en-US" sz="3686" b="1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XGBoost</a:t>
            </a:r>
            <a:r>
              <a:rPr lang="en-US" sz="3686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cancellation predictions.</a:t>
            </a:r>
          </a:p>
        </p:txBody>
      </p:sp>
      <p:sp>
        <p:nvSpPr>
          <p:cNvPr id="19" name="Freeform 19"/>
          <p:cNvSpPr/>
          <p:nvPr/>
        </p:nvSpPr>
        <p:spPr>
          <a:xfrm>
            <a:off x="13078599" y="9100206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60271BB9-AB7C-C669-D6A9-9C26E46B810E}"/>
              </a:ext>
            </a:extLst>
          </p:cNvPr>
          <p:cNvSpPr txBox="1"/>
          <p:nvPr/>
        </p:nvSpPr>
        <p:spPr>
          <a:xfrm>
            <a:off x="1805849" y="511810"/>
            <a:ext cx="298346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NTI - AI</a:t>
            </a:r>
          </a:p>
        </p:txBody>
      </p:sp>
    </p:spTree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0886" y="-2049095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0" y="0"/>
                </a:moveTo>
                <a:lnTo>
                  <a:pt x="9964777" y="0"/>
                </a:lnTo>
                <a:lnTo>
                  <a:pt x="9964777" y="9098671"/>
                </a:lnTo>
                <a:lnTo>
                  <a:pt x="0" y="9098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327663" y="3237424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9964777" y="9098671"/>
                </a:moveTo>
                <a:lnTo>
                  <a:pt x="0" y="9098671"/>
                </a:lnTo>
                <a:lnTo>
                  <a:pt x="0" y="0"/>
                </a:lnTo>
                <a:lnTo>
                  <a:pt x="9964777" y="0"/>
                </a:lnTo>
                <a:lnTo>
                  <a:pt x="9964777" y="9098671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307306">
            <a:off x="8638171" y="265703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307306">
            <a:off x="-7950368" y="-721331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95836" y="973626"/>
            <a:ext cx="16896328" cy="8284674"/>
            <a:chOff x="0" y="0"/>
            <a:chExt cx="4450062" cy="21819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50062" cy="2181972"/>
            </a:xfrm>
            <a:custGeom>
              <a:avLst/>
              <a:gdLst/>
              <a:ahLst/>
              <a:cxnLst/>
              <a:rect l="l" t="t" r="r" b="b"/>
              <a:pathLst>
                <a:path w="4450062" h="2181972">
                  <a:moveTo>
                    <a:pt x="22910" y="0"/>
                  </a:moveTo>
                  <a:lnTo>
                    <a:pt x="4427151" y="0"/>
                  </a:lnTo>
                  <a:cubicBezTo>
                    <a:pt x="4439805" y="0"/>
                    <a:pt x="4450062" y="10257"/>
                    <a:pt x="4450062" y="22910"/>
                  </a:cubicBezTo>
                  <a:lnTo>
                    <a:pt x="4450062" y="2159062"/>
                  </a:lnTo>
                  <a:cubicBezTo>
                    <a:pt x="4450062" y="2171715"/>
                    <a:pt x="4439805" y="2181972"/>
                    <a:pt x="4427151" y="2181972"/>
                  </a:cubicBezTo>
                  <a:lnTo>
                    <a:pt x="22910" y="2181972"/>
                  </a:lnTo>
                  <a:cubicBezTo>
                    <a:pt x="16834" y="2181972"/>
                    <a:pt x="11007" y="2179558"/>
                    <a:pt x="6710" y="2175261"/>
                  </a:cubicBezTo>
                  <a:cubicBezTo>
                    <a:pt x="2414" y="2170965"/>
                    <a:pt x="0" y="2165138"/>
                    <a:pt x="0" y="2159062"/>
                  </a:cubicBezTo>
                  <a:lnTo>
                    <a:pt x="0" y="22910"/>
                  </a:lnTo>
                  <a:cubicBezTo>
                    <a:pt x="0" y="10257"/>
                    <a:pt x="10257" y="0"/>
                    <a:pt x="22910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450062" cy="22391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82966" y="189620"/>
            <a:ext cx="526910" cy="654177"/>
          </a:xfrm>
          <a:custGeom>
            <a:avLst/>
            <a:gdLst/>
            <a:ahLst/>
            <a:cxnLst/>
            <a:rect l="l" t="t" r="r" b="b"/>
            <a:pathLst>
              <a:path w="526910" h="654177">
                <a:moveTo>
                  <a:pt x="0" y="0"/>
                </a:moveTo>
                <a:lnTo>
                  <a:pt x="526910" y="0"/>
                </a:lnTo>
                <a:lnTo>
                  <a:pt x="526910" y="654178"/>
                </a:lnTo>
                <a:lnTo>
                  <a:pt x="0" y="6541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102380" y="-55074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654726" y="4386659"/>
            <a:ext cx="4270129" cy="1906076"/>
            <a:chOff x="0" y="0"/>
            <a:chExt cx="1124643" cy="50201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24643" cy="502012"/>
            </a:xfrm>
            <a:custGeom>
              <a:avLst/>
              <a:gdLst/>
              <a:ahLst/>
              <a:cxnLst/>
              <a:rect l="l" t="t" r="r" b="b"/>
              <a:pathLst>
                <a:path w="1124643" h="502012">
                  <a:moveTo>
                    <a:pt x="141417" y="0"/>
                  </a:moveTo>
                  <a:lnTo>
                    <a:pt x="983226" y="0"/>
                  </a:lnTo>
                  <a:cubicBezTo>
                    <a:pt x="1020732" y="0"/>
                    <a:pt x="1056702" y="14899"/>
                    <a:pt x="1083223" y="41420"/>
                  </a:cubicBezTo>
                  <a:cubicBezTo>
                    <a:pt x="1109744" y="67941"/>
                    <a:pt x="1124643" y="103911"/>
                    <a:pt x="1124643" y="141417"/>
                  </a:cubicBezTo>
                  <a:lnTo>
                    <a:pt x="1124643" y="360595"/>
                  </a:lnTo>
                  <a:cubicBezTo>
                    <a:pt x="1124643" y="438697"/>
                    <a:pt x="1061328" y="502012"/>
                    <a:pt x="983226" y="502012"/>
                  </a:cubicBezTo>
                  <a:lnTo>
                    <a:pt x="141417" y="502012"/>
                  </a:lnTo>
                  <a:cubicBezTo>
                    <a:pt x="103911" y="502012"/>
                    <a:pt x="67941" y="487113"/>
                    <a:pt x="41420" y="460592"/>
                  </a:cubicBezTo>
                  <a:cubicBezTo>
                    <a:pt x="14899" y="434071"/>
                    <a:pt x="0" y="398101"/>
                    <a:pt x="0" y="360595"/>
                  </a:cubicBezTo>
                  <a:lnTo>
                    <a:pt x="0" y="141417"/>
                  </a:lnTo>
                  <a:cubicBezTo>
                    <a:pt x="0" y="103911"/>
                    <a:pt x="14899" y="67941"/>
                    <a:pt x="41420" y="41420"/>
                  </a:cubicBezTo>
                  <a:cubicBezTo>
                    <a:pt x="67941" y="14899"/>
                    <a:pt x="103911" y="0"/>
                    <a:pt x="141417" y="0"/>
                  </a:cubicBezTo>
                  <a:close/>
                </a:path>
              </a:pathLst>
            </a:custGeom>
            <a:solidFill>
              <a:srgbClr val="9560FF">
                <a:alpha val="49804"/>
              </a:srgbClr>
            </a:solidFill>
            <a:ln w="19050" cap="rnd">
              <a:gradFill>
                <a:gsLst>
                  <a:gs pos="0">
                    <a:srgbClr val="9560FF">
                      <a:alpha val="0"/>
                    </a:srgbClr>
                  </a:gs>
                  <a:gs pos="100000">
                    <a:srgbClr val="9560FF">
                      <a:alpha val="5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28575"/>
              <a:ext cx="1124643" cy="4734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91969" y="4386659"/>
            <a:ext cx="6008125" cy="1878539"/>
            <a:chOff x="0" y="0"/>
            <a:chExt cx="1582387" cy="49475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82387" cy="494759"/>
            </a:xfrm>
            <a:custGeom>
              <a:avLst/>
              <a:gdLst/>
              <a:ahLst/>
              <a:cxnLst/>
              <a:rect l="l" t="t" r="r" b="b"/>
              <a:pathLst>
                <a:path w="1582387" h="494759">
                  <a:moveTo>
                    <a:pt x="100509" y="0"/>
                  </a:moveTo>
                  <a:lnTo>
                    <a:pt x="1481878" y="0"/>
                  </a:lnTo>
                  <a:cubicBezTo>
                    <a:pt x="1508534" y="0"/>
                    <a:pt x="1534099" y="10589"/>
                    <a:pt x="1552948" y="29438"/>
                  </a:cubicBezTo>
                  <a:cubicBezTo>
                    <a:pt x="1571797" y="48287"/>
                    <a:pt x="1582387" y="73852"/>
                    <a:pt x="1582387" y="100509"/>
                  </a:cubicBezTo>
                  <a:lnTo>
                    <a:pt x="1582387" y="394250"/>
                  </a:lnTo>
                  <a:cubicBezTo>
                    <a:pt x="1582387" y="420907"/>
                    <a:pt x="1571797" y="446472"/>
                    <a:pt x="1552948" y="465321"/>
                  </a:cubicBezTo>
                  <a:cubicBezTo>
                    <a:pt x="1534099" y="484170"/>
                    <a:pt x="1508534" y="494759"/>
                    <a:pt x="1481878" y="494759"/>
                  </a:cubicBezTo>
                  <a:lnTo>
                    <a:pt x="100509" y="494759"/>
                  </a:lnTo>
                  <a:cubicBezTo>
                    <a:pt x="73852" y="494759"/>
                    <a:pt x="48287" y="484170"/>
                    <a:pt x="29438" y="465321"/>
                  </a:cubicBezTo>
                  <a:cubicBezTo>
                    <a:pt x="10589" y="446472"/>
                    <a:pt x="0" y="420907"/>
                    <a:pt x="0" y="394250"/>
                  </a:cubicBezTo>
                  <a:lnTo>
                    <a:pt x="0" y="100509"/>
                  </a:lnTo>
                  <a:cubicBezTo>
                    <a:pt x="0" y="73852"/>
                    <a:pt x="10589" y="48287"/>
                    <a:pt x="29438" y="29438"/>
                  </a:cubicBezTo>
                  <a:cubicBezTo>
                    <a:pt x="48287" y="10589"/>
                    <a:pt x="73852" y="0"/>
                    <a:pt x="100509" y="0"/>
                  </a:cubicBezTo>
                  <a:close/>
                </a:path>
              </a:pathLst>
            </a:custGeom>
            <a:solidFill>
              <a:srgbClr val="9560FF">
                <a:alpha val="49804"/>
              </a:srgbClr>
            </a:solidFill>
            <a:ln w="19050" cap="rnd">
              <a:gradFill>
                <a:gsLst>
                  <a:gs pos="0">
                    <a:srgbClr val="9560FF">
                      <a:alpha val="0"/>
                    </a:srgbClr>
                  </a:gs>
                  <a:gs pos="100000">
                    <a:srgbClr val="9560FF">
                      <a:alpha val="5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28575"/>
              <a:ext cx="1582387" cy="4661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7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823156" y="6768986"/>
            <a:ext cx="6371944" cy="1813730"/>
            <a:chOff x="0" y="0"/>
            <a:chExt cx="1678207" cy="47769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78207" cy="477690"/>
            </a:xfrm>
            <a:custGeom>
              <a:avLst/>
              <a:gdLst/>
              <a:ahLst/>
              <a:cxnLst/>
              <a:rect l="l" t="t" r="r" b="b"/>
              <a:pathLst>
                <a:path w="1678207" h="477690">
                  <a:moveTo>
                    <a:pt x="94770" y="0"/>
                  </a:moveTo>
                  <a:lnTo>
                    <a:pt x="1583437" y="0"/>
                  </a:lnTo>
                  <a:cubicBezTo>
                    <a:pt x="1608572" y="0"/>
                    <a:pt x="1632677" y="9985"/>
                    <a:pt x="1650450" y="27758"/>
                  </a:cubicBezTo>
                  <a:cubicBezTo>
                    <a:pt x="1668223" y="45530"/>
                    <a:pt x="1678207" y="69636"/>
                    <a:pt x="1678207" y="94770"/>
                  </a:cubicBezTo>
                  <a:lnTo>
                    <a:pt x="1678207" y="382920"/>
                  </a:lnTo>
                  <a:cubicBezTo>
                    <a:pt x="1678207" y="408055"/>
                    <a:pt x="1668223" y="432160"/>
                    <a:pt x="1650450" y="449933"/>
                  </a:cubicBezTo>
                  <a:cubicBezTo>
                    <a:pt x="1632677" y="467705"/>
                    <a:pt x="1608572" y="477690"/>
                    <a:pt x="1583437" y="477690"/>
                  </a:cubicBezTo>
                  <a:lnTo>
                    <a:pt x="94770" y="477690"/>
                  </a:lnTo>
                  <a:cubicBezTo>
                    <a:pt x="69636" y="477690"/>
                    <a:pt x="45530" y="467705"/>
                    <a:pt x="27758" y="449933"/>
                  </a:cubicBezTo>
                  <a:cubicBezTo>
                    <a:pt x="9985" y="432160"/>
                    <a:pt x="0" y="408055"/>
                    <a:pt x="0" y="382920"/>
                  </a:cubicBezTo>
                  <a:lnTo>
                    <a:pt x="0" y="94770"/>
                  </a:lnTo>
                  <a:cubicBezTo>
                    <a:pt x="0" y="69636"/>
                    <a:pt x="9985" y="45530"/>
                    <a:pt x="27758" y="27758"/>
                  </a:cubicBezTo>
                  <a:cubicBezTo>
                    <a:pt x="45530" y="9985"/>
                    <a:pt x="69636" y="0"/>
                    <a:pt x="94770" y="0"/>
                  </a:cubicBezTo>
                  <a:close/>
                </a:path>
              </a:pathLst>
            </a:custGeom>
            <a:solidFill>
              <a:srgbClr val="9560FF">
                <a:alpha val="49804"/>
              </a:srgbClr>
            </a:solidFill>
            <a:ln w="19050" cap="rnd">
              <a:gradFill>
                <a:gsLst>
                  <a:gs pos="0">
                    <a:srgbClr val="9560FF">
                      <a:alpha val="0"/>
                    </a:srgbClr>
                  </a:gs>
                  <a:gs pos="100000">
                    <a:srgbClr val="9560FF">
                      <a:alpha val="5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28575"/>
              <a:ext cx="1678207" cy="4491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7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57362" y="3059826"/>
            <a:ext cx="731589" cy="731589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33350" cap="sq">
              <a:gradFill>
                <a:gsLst>
                  <a:gs pos="0">
                    <a:srgbClr val="9560FF">
                      <a:alpha val="63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3078599" y="9100206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555610" y="1323229"/>
            <a:ext cx="1266681" cy="1260348"/>
          </a:xfrm>
          <a:custGeom>
            <a:avLst/>
            <a:gdLst/>
            <a:ahLst/>
            <a:cxnLst/>
            <a:rect l="l" t="t" r="r" b="b"/>
            <a:pathLst>
              <a:path w="1266681" h="1260348">
                <a:moveTo>
                  <a:pt x="0" y="0"/>
                </a:moveTo>
                <a:lnTo>
                  <a:pt x="1266681" y="0"/>
                </a:lnTo>
                <a:lnTo>
                  <a:pt x="1266681" y="1260347"/>
                </a:lnTo>
                <a:lnTo>
                  <a:pt x="0" y="1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3047345" y="1332754"/>
            <a:ext cx="10747639" cy="1250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10"/>
              </a:lnSpc>
            </a:pPr>
            <a:r>
              <a:rPr lang="en-US" sz="8299" b="1" dirty="0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Regression models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44309" y="4511592"/>
            <a:ext cx="3292731" cy="158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62"/>
              </a:lnSpc>
            </a:pPr>
            <a:r>
              <a:rPr lang="en-US" sz="4544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Linear Regression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098465" y="4511592"/>
            <a:ext cx="5195132" cy="158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62"/>
              </a:lnSpc>
            </a:pPr>
            <a:r>
              <a:rPr lang="en-US" sz="4544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Decision Tree Regression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352049" y="3002676"/>
            <a:ext cx="14499872" cy="101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2"/>
              </a:lnSpc>
            </a:pPr>
            <a:r>
              <a:rPr lang="en-US" sz="2944" b="1">
                <a:solidFill>
                  <a:srgbClr val="956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 the Hotel Booking dataset:</a:t>
            </a:r>
            <a:r>
              <a:rPr lang="en-US" sz="294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 can be used to predict a numerical value such as the Average Daily Rate (adr) based on the booking information.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352049" y="6847745"/>
            <a:ext cx="5406510" cy="158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62"/>
              </a:lnSpc>
            </a:pPr>
            <a:r>
              <a:rPr lang="en-US" sz="4544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Random Forest Regression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8832251" y="6722812"/>
            <a:ext cx="6360421" cy="1906076"/>
            <a:chOff x="0" y="0"/>
            <a:chExt cx="1675173" cy="50201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675173" cy="502012"/>
            </a:xfrm>
            <a:custGeom>
              <a:avLst/>
              <a:gdLst/>
              <a:ahLst/>
              <a:cxnLst/>
              <a:rect l="l" t="t" r="r" b="b"/>
              <a:pathLst>
                <a:path w="1675173" h="502012">
                  <a:moveTo>
                    <a:pt x="94942" y="0"/>
                  </a:moveTo>
                  <a:lnTo>
                    <a:pt x="1580231" y="0"/>
                  </a:lnTo>
                  <a:cubicBezTo>
                    <a:pt x="1605411" y="0"/>
                    <a:pt x="1629560" y="10003"/>
                    <a:pt x="1647365" y="27808"/>
                  </a:cubicBezTo>
                  <a:cubicBezTo>
                    <a:pt x="1665170" y="45613"/>
                    <a:pt x="1675173" y="69762"/>
                    <a:pt x="1675173" y="94942"/>
                  </a:cubicBezTo>
                  <a:lnTo>
                    <a:pt x="1675173" y="407070"/>
                  </a:lnTo>
                  <a:cubicBezTo>
                    <a:pt x="1675173" y="459505"/>
                    <a:pt x="1632666" y="502012"/>
                    <a:pt x="1580231" y="502012"/>
                  </a:cubicBezTo>
                  <a:lnTo>
                    <a:pt x="94942" y="502012"/>
                  </a:lnTo>
                  <a:cubicBezTo>
                    <a:pt x="69762" y="502012"/>
                    <a:pt x="45613" y="492009"/>
                    <a:pt x="27808" y="474204"/>
                  </a:cubicBezTo>
                  <a:cubicBezTo>
                    <a:pt x="10003" y="456399"/>
                    <a:pt x="0" y="432250"/>
                    <a:pt x="0" y="407070"/>
                  </a:cubicBezTo>
                  <a:lnTo>
                    <a:pt x="0" y="94942"/>
                  </a:lnTo>
                  <a:cubicBezTo>
                    <a:pt x="0" y="69762"/>
                    <a:pt x="10003" y="45613"/>
                    <a:pt x="27808" y="27808"/>
                  </a:cubicBezTo>
                  <a:cubicBezTo>
                    <a:pt x="45613" y="10003"/>
                    <a:pt x="69762" y="0"/>
                    <a:pt x="94942" y="0"/>
                  </a:cubicBezTo>
                  <a:close/>
                </a:path>
              </a:pathLst>
            </a:custGeom>
            <a:solidFill>
              <a:srgbClr val="9560FF">
                <a:alpha val="49804"/>
              </a:srgbClr>
            </a:solidFill>
            <a:ln w="19050" cap="rnd">
              <a:gradFill>
                <a:gsLst>
                  <a:gs pos="0">
                    <a:srgbClr val="9560FF">
                      <a:alpha val="0"/>
                    </a:srgbClr>
                  </a:gs>
                  <a:gs pos="100000">
                    <a:srgbClr val="9560FF">
                      <a:alpha val="5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28575"/>
              <a:ext cx="1675173" cy="4734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7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8980397" y="6847745"/>
            <a:ext cx="6064130" cy="158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62"/>
              </a:lnSpc>
            </a:pPr>
            <a:r>
              <a:rPr lang="en-US" sz="4544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Gradient Boosting Regression</a:t>
            </a:r>
          </a:p>
        </p:txBody>
      </p:sp>
      <p:sp>
        <p:nvSpPr>
          <p:cNvPr id="35" name="TextBox 16">
            <a:extLst>
              <a:ext uri="{FF2B5EF4-FFF2-40B4-BE49-F238E27FC236}">
                <a16:creationId xmlns:a16="http://schemas.microsoft.com/office/drawing/2014/main" id="{203B54FA-2B26-9B35-B2D8-F3A0F5F5DB80}"/>
              </a:ext>
            </a:extLst>
          </p:cNvPr>
          <p:cNvSpPr txBox="1"/>
          <p:nvPr/>
        </p:nvSpPr>
        <p:spPr>
          <a:xfrm>
            <a:off x="1805849" y="511810"/>
            <a:ext cx="298346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NTI - AI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  <p:bldP spid="28" grpId="0"/>
      <p:bldP spid="30" grpId="0"/>
      <p:bldP spid="3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0886" y="-2049095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0" y="0"/>
                </a:moveTo>
                <a:lnTo>
                  <a:pt x="9964777" y="0"/>
                </a:lnTo>
                <a:lnTo>
                  <a:pt x="9964777" y="9098671"/>
                </a:lnTo>
                <a:lnTo>
                  <a:pt x="0" y="9098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327663" y="3237424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9964777" y="9098671"/>
                </a:moveTo>
                <a:lnTo>
                  <a:pt x="0" y="9098671"/>
                </a:lnTo>
                <a:lnTo>
                  <a:pt x="0" y="0"/>
                </a:lnTo>
                <a:lnTo>
                  <a:pt x="9964777" y="0"/>
                </a:lnTo>
                <a:lnTo>
                  <a:pt x="9964777" y="9098671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307306">
            <a:off x="8638171" y="265703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307306">
            <a:off x="-7950368" y="-721331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95836" y="973626"/>
            <a:ext cx="17389543" cy="9134144"/>
            <a:chOff x="0" y="0"/>
            <a:chExt cx="4579962" cy="24057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579962" cy="2405700"/>
            </a:xfrm>
            <a:custGeom>
              <a:avLst/>
              <a:gdLst/>
              <a:ahLst/>
              <a:cxnLst/>
              <a:rect l="l" t="t" r="r" b="b"/>
              <a:pathLst>
                <a:path w="4579962" h="2405700">
                  <a:moveTo>
                    <a:pt x="22260" y="0"/>
                  </a:moveTo>
                  <a:lnTo>
                    <a:pt x="4557702" y="0"/>
                  </a:lnTo>
                  <a:cubicBezTo>
                    <a:pt x="4569995" y="0"/>
                    <a:pt x="4579962" y="9966"/>
                    <a:pt x="4579962" y="22260"/>
                  </a:cubicBezTo>
                  <a:lnTo>
                    <a:pt x="4579962" y="2383440"/>
                  </a:lnTo>
                  <a:cubicBezTo>
                    <a:pt x="4579962" y="2395734"/>
                    <a:pt x="4569995" y="2405700"/>
                    <a:pt x="4557702" y="2405700"/>
                  </a:cubicBezTo>
                  <a:lnTo>
                    <a:pt x="22260" y="2405700"/>
                  </a:lnTo>
                  <a:cubicBezTo>
                    <a:pt x="9966" y="2405700"/>
                    <a:pt x="0" y="2395734"/>
                    <a:pt x="0" y="2383440"/>
                  </a:cubicBezTo>
                  <a:lnTo>
                    <a:pt x="0" y="22260"/>
                  </a:lnTo>
                  <a:cubicBezTo>
                    <a:pt x="0" y="9966"/>
                    <a:pt x="9966" y="0"/>
                    <a:pt x="22260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579962" cy="24628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82966" y="189620"/>
            <a:ext cx="526910" cy="654177"/>
          </a:xfrm>
          <a:custGeom>
            <a:avLst/>
            <a:gdLst/>
            <a:ahLst/>
            <a:cxnLst/>
            <a:rect l="l" t="t" r="r" b="b"/>
            <a:pathLst>
              <a:path w="526910" h="654177">
                <a:moveTo>
                  <a:pt x="0" y="0"/>
                </a:moveTo>
                <a:lnTo>
                  <a:pt x="526910" y="0"/>
                </a:lnTo>
                <a:lnTo>
                  <a:pt x="526910" y="654178"/>
                </a:lnTo>
                <a:lnTo>
                  <a:pt x="0" y="6541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102380" y="-55074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3102380" y="3852032"/>
            <a:ext cx="4299245" cy="5406268"/>
            <a:chOff x="0" y="0"/>
            <a:chExt cx="1132311" cy="142387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32311" cy="1423873"/>
            </a:xfrm>
            <a:custGeom>
              <a:avLst/>
              <a:gdLst/>
              <a:ahLst/>
              <a:cxnLst/>
              <a:rect l="l" t="t" r="r" b="b"/>
              <a:pathLst>
                <a:path w="1132311" h="1423873">
                  <a:moveTo>
                    <a:pt x="90038" y="0"/>
                  </a:moveTo>
                  <a:lnTo>
                    <a:pt x="1042273" y="0"/>
                  </a:lnTo>
                  <a:cubicBezTo>
                    <a:pt x="1092000" y="0"/>
                    <a:pt x="1132311" y="40311"/>
                    <a:pt x="1132311" y="90038"/>
                  </a:cubicBezTo>
                  <a:lnTo>
                    <a:pt x="1132311" y="1333835"/>
                  </a:lnTo>
                  <a:cubicBezTo>
                    <a:pt x="1132311" y="1357714"/>
                    <a:pt x="1122825" y="1380616"/>
                    <a:pt x="1105940" y="1397501"/>
                  </a:cubicBezTo>
                  <a:cubicBezTo>
                    <a:pt x="1089054" y="1414387"/>
                    <a:pt x="1066153" y="1423873"/>
                    <a:pt x="1042273" y="1423873"/>
                  </a:cubicBezTo>
                  <a:lnTo>
                    <a:pt x="90038" y="1423873"/>
                  </a:lnTo>
                  <a:cubicBezTo>
                    <a:pt x="40311" y="1423873"/>
                    <a:pt x="0" y="1383562"/>
                    <a:pt x="0" y="1333835"/>
                  </a:cubicBezTo>
                  <a:lnTo>
                    <a:pt x="0" y="90038"/>
                  </a:lnTo>
                  <a:cubicBezTo>
                    <a:pt x="0" y="66159"/>
                    <a:pt x="9486" y="43257"/>
                    <a:pt x="26372" y="26372"/>
                  </a:cubicBezTo>
                  <a:cubicBezTo>
                    <a:pt x="43257" y="9486"/>
                    <a:pt x="66159" y="0"/>
                    <a:pt x="90038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132311" cy="14810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555610" y="1323229"/>
            <a:ext cx="1266681" cy="1260348"/>
          </a:xfrm>
          <a:custGeom>
            <a:avLst/>
            <a:gdLst/>
            <a:ahLst/>
            <a:cxnLst/>
            <a:rect l="l" t="t" r="r" b="b"/>
            <a:pathLst>
              <a:path w="1266681" h="1260348">
                <a:moveTo>
                  <a:pt x="0" y="0"/>
                </a:moveTo>
                <a:lnTo>
                  <a:pt x="1266681" y="0"/>
                </a:lnTo>
                <a:lnTo>
                  <a:pt x="1266681" y="1260347"/>
                </a:lnTo>
                <a:lnTo>
                  <a:pt x="0" y="1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19826" y="3274008"/>
            <a:ext cx="11570574" cy="6377482"/>
          </a:xfrm>
          <a:custGeom>
            <a:avLst/>
            <a:gdLst/>
            <a:ahLst/>
            <a:cxnLst/>
            <a:rect l="l" t="t" r="r" b="b"/>
            <a:pathLst>
              <a:path w="11570574" h="6377482">
                <a:moveTo>
                  <a:pt x="0" y="0"/>
                </a:moveTo>
                <a:lnTo>
                  <a:pt x="11570574" y="0"/>
                </a:lnTo>
                <a:lnTo>
                  <a:pt x="11570574" y="6377481"/>
                </a:lnTo>
                <a:lnTo>
                  <a:pt x="0" y="637748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047345" y="1342279"/>
            <a:ext cx="15038034" cy="115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9"/>
              </a:lnSpc>
            </a:pPr>
            <a:r>
              <a:rPr lang="en-US" sz="7700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Regression models Evaluation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333297" y="4052793"/>
            <a:ext cx="4068328" cy="5146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3199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Random Forest </a:t>
            </a:r>
            <a:r>
              <a:rPr lang="en-US" sz="31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achieved an R² of </a:t>
            </a:r>
            <a:r>
              <a:rPr lang="en-US" sz="3199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0.414</a:t>
            </a:r>
            <a:r>
              <a:rPr lang="en-US" sz="31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, with an MAE of </a:t>
            </a:r>
            <a:r>
              <a:rPr lang="en-US" sz="3199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18.34 </a:t>
            </a:r>
            <a:r>
              <a:rPr lang="en-US" sz="31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and an RMSE of 45.11, making it the strongest model among the evaluated regression models.”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D26145EB-B0A3-3632-05EB-475C2C732050}"/>
              </a:ext>
            </a:extLst>
          </p:cNvPr>
          <p:cNvSpPr txBox="1"/>
          <p:nvPr/>
        </p:nvSpPr>
        <p:spPr>
          <a:xfrm>
            <a:off x="1805849" y="511810"/>
            <a:ext cx="298346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NTI - AI</a:t>
            </a:r>
          </a:p>
        </p:txBody>
      </p:sp>
    </p:spTree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0886" y="-2049095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0" y="0"/>
                </a:moveTo>
                <a:lnTo>
                  <a:pt x="9964777" y="0"/>
                </a:lnTo>
                <a:lnTo>
                  <a:pt x="9964777" y="9098671"/>
                </a:lnTo>
                <a:lnTo>
                  <a:pt x="0" y="9098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327663" y="3237424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9964777" y="9098671"/>
                </a:moveTo>
                <a:lnTo>
                  <a:pt x="0" y="9098671"/>
                </a:lnTo>
                <a:lnTo>
                  <a:pt x="0" y="0"/>
                </a:lnTo>
                <a:lnTo>
                  <a:pt x="9964777" y="0"/>
                </a:lnTo>
                <a:lnTo>
                  <a:pt x="9964777" y="9098671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307306">
            <a:off x="8638171" y="265703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307306">
            <a:off x="-7950368" y="-721331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95836" y="973626"/>
            <a:ext cx="16896328" cy="9059726"/>
            <a:chOff x="0" y="0"/>
            <a:chExt cx="4450062" cy="23861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50062" cy="2386101"/>
            </a:xfrm>
            <a:custGeom>
              <a:avLst/>
              <a:gdLst/>
              <a:ahLst/>
              <a:cxnLst/>
              <a:rect l="l" t="t" r="r" b="b"/>
              <a:pathLst>
                <a:path w="4450062" h="2386101">
                  <a:moveTo>
                    <a:pt x="22910" y="0"/>
                  </a:moveTo>
                  <a:lnTo>
                    <a:pt x="4427151" y="0"/>
                  </a:lnTo>
                  <a:cubicBezTo>
                    <a:pt x="4439805" y="0"/>
                    <a:pt x="4450062" y="10257"/>
                    <a:pt x="4450062" y="22910"/>
                  </a:cubicBezTo>
                  <a:lnTo>
                    <a:pt x="4450062" y="2363191"/>
                  </a:lnTo>
                  <a:cubicBezTo>
                    <a:pt x="4450062" y="2369267"/>
                    <a:pt x="4447648" y="2375094"/>
                    <a:pt x="4443352" y="2379390"/>
                  </a:cubicBezTo>
                  <a:cubicBezTo>
                    <a:pt x="4439055" y="2383687"/>
                    <a:pt x="4433228" y="2386101"/>
                    <a:pt x="4427151" y="2386101"/>
                  </a:cubicBezTo>
                  <a:lnTo>
                    <a:pt x="22910" y="2386101"/>
                  </a:lnTo>
                  <a:cubicBezTo>
                    <a:pt x="10257" y="2386101"/>
                    <a:pt x="0" y="2375844"/>
                    <a:pt x="0" y="2363191"/>
                  </a:cubicBezTo>
                  <a:lnTo>
                    <a:pt x="0" y="22910"/>
                  </a:lnTo>
                  <a:cubicBezTo>
                    <a:pt x="0" y="10257"/>
                    <a:pt x="10257" y="0"/>
                    <a:pt x="22910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450062" cy="24432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82966" y="189620"/>
            <a:ext cx="526910" cy="654177"/>
          </a:xfrm>
          <a:custGeom>
            <a:avLst/>
            <a:gdLst/>
            <a:ahLst/>
            <a:cxnLst/>
            <a:rect l="l" t="t" r="r" b="b"/>
            <a:pathLst>
              <a:path w="526910" h="654177">
                <a:moveTo>
                  <a:pt x="0" y="0"/>
                </a:moveTo>
                <a:lnTo>
                  <a:pt x="526910" y="0"/>
                </a:lnTo>
                <a:lnTo>
                  <a:pt x="526910" y="654178"/>
                </a:lnTo>
                <a:lnTo>
                  <a:pt x="0" y="6541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102380" y="-55074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457362" y="3059826"/>
            <a:ext cx="731589" cy="73158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33350" cap="sq">
              <a:gradFill>
                <a:gsLst>
                  <a:gs pos="0">
                    <a:srgbClr val="9560FF">
                      <a:alpha val="63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555610" y="1323229"/>
            <a:ext cx="1266681" cy="1260348"/>
          </a:xfrm>
          <a:custGeom>
            <a:avLst/>
            <a:gdLst/>
            <a:ahLst/>
            <a:cxnLst/>
            <a:rect l="l" t="t" r="r" b="b"/>
            <a:pathLst>
              <a:path w="1266681" h="1260348">
                <a:moveTo>
                  <a:pt x="0" y="0"/>
                </a:moveTo>
                <a:lnTo>
                  <a:pt x="1266681" y="0"/>
                </a:lnTo>
                <a:lnTo>
                  <a:pt x="1266681" y="1260347"/>
                </a:lnTo>
                <a:lnTo>
                  <a:pt x="0" y="1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55610" y="4267666"/>
            <a:ext cx="9031653" cy="5293366"/>
          </a:xfrm>
          <a:custGeom>
            <a:avLst/>
            <a:gdLst/>
            <a:ahLst/>
            <a:cxnLst/>
            <a:rect l="l" t="t" r="r" b="b"/>
            <a:pathLst>
              <a:path w="9031653" h="5293366">
                <a:moveTo>
                  <a:pt x="0" y="0"/>
                </a:moveTo>
                <a:lnTo>
                  <a:pt x="9031653" y="0"/>
                </a:lnTo>
                <a:lnTo>
                  <a:pt x="9031653" y="5293366"/>
                </a:lnTo>
                <a:lnTo>
                  <a:pt x="0" y="52933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3993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047345" y="1332754"/>
            <a:ext cx="10747639" cy="1250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10"/>
              </a:lnSpc>
            </a:pPr>
            <a:r>
              <a:rPr lang="en-US" sz="8299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Regression models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52563" y="2997588"/>
            <a:ext cx="4631458" cy="770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62"/>
              </a:lnSpc>
            </a:pPr>
            <a:r>
              <a:rPr lang="en-US" sz="454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Random Forest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457362" y="4126747"/>
            <a:ext cx="9492649" cy="5434285"/>
            <a:chOff x="0" y="0"/>
            <a:chExt cx="2500122" cy="143125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500122" cy="1431252"/>
            </a:xfrm>
            <a:custGeom>
              <a:avLst/>
              <a:gdLst/>
              <a:ahLst/>
              <a:cxnLst/>
              <a:rect l="l" t="t" r="r" b="b"/>
              <a:pathLst>
                <a:path w="2500122" h="1431252">
                  <a:moveTo>
                    <a:pt x="39147" y="0"/>
                  </a:moveTo>
                  <a:lnTo>
                    <a:pt x="2460974" y="0"/>
                  </a:lnTo>
                  <a:cubicBezTo>
                    <a:pt x="2482595" y="0"/>
                    <a:pt x="2500122" y="17527"/>
                    <a:pt x="2500122" y="39147"/>
                  </a:cubicBezTo>
                  <a:lnTo>
                    <a:pt x="2500122" y="1392105"/>
                  </a:lnTo>
                  <a:cubicBezTo>
                    <a:pt x="2500122" y="1402487"/>
                    <a:pt x="2495997" y="1412444"/>
                    <a:pt x="2488656" y="1419786"/>
                  </a:cubicBezTo>
                  <a:cubicBezTo>
                    <a:pt x="2481314" y="1427128"/>
                    <a:pt x="2471357" y="1431252"/>
                    <a:pt x="2460974" y="1431252"/>
                  </a:cubicBezTo>
                  <a:lnTo>
                    <a:pt x="39147" y="1431252"/>
                  </a:lnTo>
                  <a:cubicBezTo>
                    <a:pt x="17527" y="1431252"/>
                    <a:pt x="0" y="1413725"/>
                    <a:pt x="0" y="1392105"/>
                  </a:cubicBezTo>
                  <a:lnTo>
                    <a:pt x="0" y="39147"/>
                  </a:lnTo>
                  <a:cubicBezTo>
                    <a:pt x="0" y="17527"/>
                    <a:pt x="17527" y="0"/>
                    <a:pt x="39147" y="0"/>
                  </a:cubicBezTo>
                  <a:close/>
                </a:path>
              </a:pathLst>
            </a:custGeom>
            <a:ln w="104775" cap="rnd">
              <a:gradFill>
                <a:gsLst>
                  <a:gs pos="0">
                    <a:srgbClr val="9560FF">
                      <a:alpha val="10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85725"/>
              <a:ext cx="2500122" cy="1516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3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721374" y="2936001"/>
            <a:ext cx="6835779" cy="6859895"/>
            <a:chOff x="0" y="0"/>
            <a:chExt cx="1800370" cy="180672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800370" cy="1806721"/>
            </a:xfrm>
            <a:custGeom>
              <a:avLst/>
              <a:gdLst/>
              <a:ahLst/>
              <a:cxnLst/>
              <a:rect l="l" t="t" r="r" b="b"/>
              <a:pathLst>
                <a:path w="1800370" h="1806721">
                  <a:moveTo>
                    <a:pt x="56628" y="0"/>
                  </a:moveTo>
                  <a:lnTo>
                    <a:pt x="1743742" y="0"/>
                  </a:lnTo>
                  <a:cubicBezTo>
                    <a:pt x="1758760" y="0"/>
                    <a:pt x="1773164" y="5966"/>
                    <a:pt x="1783784" y="16586"/>
                  </a:cubicBezTo>
                  <a:cubicBezTo>
                    <a:pt x="1794404" y="27206"/>
                    <a:pt x="1800370" y="41609"/>
                    <a:pt x="1800370" y="56628"/>
                  </a:cubicBezTo>
                  <a:lnTo>
                    <a:pt x="1800370" y="1750093"/>
                  </a:lnTo>
                  <a:cubicBezTo>
                    <a:pt x="1800370" y="1765112"/>
                    <a:pt x="1794404" y="1779516"/>
                    <a:pt x="1783784" y="1790135"/>
                  </a:cubicBezTo>
                  <a:cubicBezTo>
                    <a:pt x="1773164" y="1800755"/>
                    <a:pt x="1758760" y="1806721"/>
                    <a:pt x="1743742" y="1806721"/>
                  </a:cubicBezTo>
                  <a:lnTo>
                    <a:pt x="56628" y="1806721"/>
                  </a:lnTo>
                  <a:cubicBezTo>
                    <a:pt x="41609" y="1806721"/>
                    <a:pt x="27206" y="1800755"/>
                    <a:pt x="16586" y="1790135"/>
                  </a:cubicBezTo>
                  <a:cubicBezTo>
                    <a:pt x="5966" y="1779516"/>
                    <a:pt x="0" y="1765112"/>
                    <a:pt x="0" y="1750093"/>
                  </a:cubicBezTo>
                  <a:lnTo>
                    <a:pt x="0" y="56628"/>
                  </a:lnTo>
                  <a:cubicBezTo>
                    <a:pt x="0" y="41609"/>
                    <a:pt x="5966" y="27206"/>
                    <a:pt x="16586" y="16586"/>
                  </a:cubicBezTo>
                  <a:cubicBezTo>
                    <a:pt x="27206" y="5966"/>
                    <a:pt x="41609" y="0"/>
                    <a:pt x="56628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1800370" cy="18638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0950011" y="3237424"/>
            <a:ext cx="6147364" cy="326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8"/>
              </a:lnSpc>
            </a:pPr>
            <a:r>
              <a:rPr lang="en-US" sz="3186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We used ADR : </a:t>
            </a:r>
            <a:r>
              <a:rPr lang="en-US" sz="318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as our target variable. We separated ADR from the input features and removed records with negative ADR values because they are invalid for hotel pricing.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50011" y="6748541"/>
            <a:ext cx="6147364" cy="2812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8"/>
              </a:lnSpc>
            </a:pPr>
            <a:r>
              <a:rPr lang="en-US" sz="3186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 Random Forest : </a:t>
            </a:r>
            <a:r>
              <a:rPr lang="en-US" sz="318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combines multiple decision trees to improve prediction,capture non-linear relationships between booking features.</a:t>
            </a:r>
          </a:p>
        </p:txBody>
      </p:sp>
      <p:sp>
        <p:nvSpPr>
          <p:cNvPr id="27" name="TextBox 16">
            <a:extLst>
              <a:ext uri="{FF2B5EF4-FFF2-40B4-BE49-F238E27FC236}">
                <a16:creationId xmlns:a16="http://schemas.microsoft.com/office/drawing/2014/main" id="{CDE0D9A6-C227-746A-6199-359D07409F09}"/>
              </a:ext>
            </a:extLst>
          </p:cNvPr>
          <p:cNvSpPr txBox="1"/>
          <p:nvPr/>
        </p:nvSpPr>
        <p:spPr>
          <a:xfrm>
            <a:off x="1805849" y="511810"/>
            <a:ext cx="298346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NTI - AI</a:t>
            </a:r>
          </a:p>
        </p:txBody>
      </p:sp>
    </p:spTree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0886" y="-2049095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0" y="0"/>
                </a:moveTo>
                <a:lnTo>
                  <a:pt x="9964777" y="0"/>
                </a:lnTo>
                <a:lnTo>
                  <a:pt x="9964777" y="9098671"/>
                </a:lnTo>
                <a:lnTo>
                  <a:pt x="0" y="9098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327663" y="3237424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9964777" y="9098671"/>
                </a:moveTo>
                <a:lnTo>
                  <a:pt x="0" y="9098671"/>
                </a:lnTo>
                <a:lnTo>
                  <a:pt x="0" y="0"/>
                </a:lnTo>
                <a:lnTo>
                  <a:pt x="9964777" y="0"/>
                </a:lnTo>
                <a:lnTo>
                  <a:pt x="9964777" y="9098671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307306">
            <a:off x="8638171" y="265703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307306">
            <a:off x="-7950368" y="-721331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95836" y="973626"/>
            <a:ext cx="17389543" cy="9134144"/>
            <a:chOff x="0" y="0"/>
            <a:chExt cx="4579962" cy="24057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579962" cy="2405700"/>
            </a:xfrm>
            <a:custGeom>
              <a:avLst/>
              <a:gdLst/>
              <a:ahLst/>
              <a:cxnLst/>
              <a:rect l="l" t="t" r="r" b="b"/>
              <a:pathLst>
                <a:path w="4579962" h="2405700">
                  <a:moveTo>
                    <a:pt x="22260" y="0"/>
                  </a:moveTo>
                  <a:lnTo>
                    <a:pt x="4557702" y="0"/>
                  </a:lnTo>
                  <a:cubicBezTo>
                    <a:pt x="4569995" y="0"/>
                    <a:pt x="4579962" y="9966"/>
                    <a:pt x="4579962" y="22260"/>
                  </a:cubicBezTo>
                  <a:lnTo>
                    <a:pt x="4579962" y="2383440"/>
                  </a:lnTo>
                  <a:cubicBezTo>
                    <a:pt x="4579962" y="2395734"/>
                    <a:pt x="4569995" y="2405700"/>
                    <a:pt x="4557702" y="2405700"/>
                  </a:cubicBezTo>
                  <a:lnTo>
                    <a:pt x="22260" y="2405700"/>
                  </a:lnTo>
                  <a:cubicBezTo>
                    <a:pt x="9966" y="2405700"/>
                    <a:pt x="0" y="2395734"/>
                    <a:pt x="0" y="2383440"/>
                  </a:cubicBezTo>
                  <a:lnTo>
                    <a:pt x="0" y="22260"/>
                  </a:lnTo>
                  <a:cubicBezTo>
                    <a:pt x="0" y="9966"/>
                    <a:pt x="9966" y="0"/>
                    <a:pt x="22260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579962" cy="24628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82966" y="189620"/>
            <a:ext cx="526910" cy="654177"/>
          </a:xfrm>
          <a:custGeom>
            <a:avLst/>
            <a:gdLst/>
            <a:ahLst/>
            <a:cxnLst/>
            <a:rect l="l" t="t" r="r" b="b"/>
            <a:pathLst>
              <a:path w="526910" h="654177">
                <a:moveTo>
                  <a:pt x="0" y="0"/>
                </a:moveTo>
                <a:lnTo>
                  <a:pt x="526910" y="0"/>
                </a:lnTo>
                <a:lnTo>
                  <a:pt x="526910" y="654178"/>
                </a:lnTo>
                <a:lnTo>
                  <a:pt x="0" y="6541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102380" y="-55074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3102380" y="3570195"/>
            <a:ext cx="4299245" cy="5688105"/>
            <a:chOff x="0" y="0"/>
            <a:chExt cx="1132311" cy="14981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32311" cy="1498102"/>
            </a:xfrm>
            <a:custGeom>
              <a:avLst/>
              <a:gdLst/>
              <a:ahLst/>
              <a:cxnLst/>
              <a:rect l="l" t="t" r="r" b="b"/>
              <a:pathLst>
                <a:path w="1132311" h="1498102">
                  <a:moveTo>
                    <a:pt x="90038" y="0"/>
                  </a:moveTo>
                  <a:lnTo>
                    <a:pt x="1042273" y="0"/>
                  </a:lnTo>
                  <a:cubicBezTo>
                    <a:pt x="1092000" y="0"/>
                    <a:pt x="1132311" y="40311"/>
                    <a:pt x="1132311" y="90038"/>
                  </a:cubicBezTo>
                  <a:lnTo>
                    <a:pt x="1132311" y="1408064"/>
                  </a:lnTo>
                  <a:cubicBezTo>
                    <a:pt x="1132311" y="1457790"/>
                    <a:pt x="1092000" y="1498102"/>
                    <a:pt x="1042273" y="1498102"/>
                  </a:cubicBezTo>
                  <a:lnTo>
                    <a:pt x="90038" y="1498102"/>
                  </a:lnTo>
                  <a:cubicBezTo>
                    <a:pt x="66159" y="1498102"/>
                    <a:pt x="43257" y="1488616"/>
                    <a:pt x="26372" y="1471730"/>
                  </a:cubicBezTo>
                  <a:cubicBezTo>
                    <a:pt x="9486" y="1454845"/>
                    <a:pt x="0" y="1431943"/>
                    <a:pt x="0" y="1408064"/>
                  </a:cubicBezTo>
                  <a:lnTo>
                    <a:pt x="0" y="90038"/>
                  </a:lnTo>
                  <a:cubicBezTo>
                    <a:pt x="0" y="66159"/>
                    <a:pt x="9486" y="43257"/>
                    <a:pt x="26372" y="26372"/>
                  </a:cubicBezTo>
                  <a:cubicBezTo>
                    <a:pt x="43257" y="9486"/>
                    <a:pt x="66159" y="0"/>
                    <a:pt x="90038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132311" cy="1555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555610" y="1323229"/>
            <a:ext cx="1266681" cy="1260348"/>
          </a:xfrm>
          <a:custGeom>
            <a:avLst/>
            <a:gdLst/>
            <a:ahLst/>
            <a:cxnLst/>
            <a:rect l="l" t="t" r="r" b="b"/>
            <a:pathLst>
              <a:path w="1266681" h="1260348">
                <a:moveTo>
                  <a:pt x="0" y="0"/>
                </a:moveTo>
                <a:lnTo>
                  <a:pt x="1266681" y="0"/>
                </a:lnTo>
                <a:lnTo>
                  <a:pt x="1266681" y="1260347"/>
                </a:lnTo>
                <a:lnTo>
                  <a:pt x="0" y="1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55610" y="3059826"/>
            <a:ext cx="11210834" cy="6445550"/>
          </a:xfrm>
          <a:custGeom>
            <a:avLst/>
            <a:gdLst/>
            <a:ahLst/>
            <a:cxnLst/>
            <a:rect l="l" t="t" r="r" b="b"/>
            <a:pathLst>
              <a:path w="11210834" h="6445550">
                <a:moveTo>
                  <a:pt x="0" y="0"/>
                </a:moveTo>
                <a:lnTo>
                  <a:pt x="11210834" y="0"/>
                </a:lnTo>
                <a:lnTo>
                  <a:pt x="11210834" y="6445550"/>
                </a:lnTo>
                <a:lnTo>
                  <a:pt x="0" y="64455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25" r="-724" b="-4746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047345" y="1342279"/>
            <a:ext cx="15038034" cy="115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9"/>
              </a:lnSpc>
            </a:pPr>
            <a:r>
              <a:rPr lang="en-US" sz="7700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Regression models Evaluation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427672" y="4004610"/>
            <a:ext cx="3648661" cy="482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0"/>
              </a:lnSpc>
            </a:pPr>
            <a:r>
              <a:rPr lang="en-US" sz="3427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Top Predictor: </a:t>
            </a:r>
            <a:r>
              <a:rPr lang="en-US" sz="3427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Total guests has the highest impact on ADR prediction, followed by lead time and agent.</a:t>
            </a:r>
          </a:p>
          <a:p>
            <a:pPr algn="l">
              <a:lnSpc>
                <a:spcPts val="3407"/>
              </a:lnSpc>
            </a:pPr>
            <a:endParaRPr lang="en-US" sz="3427" b="1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3407"/>
              </a:lnSpc>
            </a:pPr>
            <a:endParaRPr lang="en-US" sz="3427" b="1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3407"/>
              </a:lnSpc>
            </a:pPr>
            <a:endParaRPr lang="en-US" sz="3427" b="1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84D437F6-D9DE-DD2B-253B-6210A136AC42}"/>
              </a:ext>
            </a:extLst>
          </p:cNvPr>
          <p:cNvSpPr txBox="1"/>
          <p:nvPr/>
        </p:nvSpPr>
        <p:spPr>
          <a:xfrm>
            <a:off x="1805849" y="511810"/>
            <a:ext cx="298346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NTI - AI</a:t>
            </a:r>
          </a:p>
        </p:txBody>
      </p:sp>
    </p:spTree>
  </p:cSld>
  <p:clrMapOvr>
    <a:masterClrMapping/>
  </p:clrMapOvr>
  <p:transition spd="slow">
    <p:cove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0886" y="-2049095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0" y="0"/>
                </a:moveTo>
                <a:lnTo>
                  <a:pt x="9964777" y="0"/>
                </a:lnTo>
                <a:lnTo>
                  <a:pt x="9964777" y="9098671"/>
                </a:lnTo>
                <a:lnTo>
                  <a:pt x="0" y="9098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327663" y="3237424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9964777" y="9098671"/>
                </a:moveTo>
                <a:lnTo>
                  <a:pt x="0" y="9098671"/>
                </a:lnTo>
                <a:lnTo>
                  <a:pt x="0" y="0"/>
                </a:lnTo>
                <a:lnTo>
                  <a:pt x="9964777" y="0"/>
                </a:lnTo>
                <a:lnTo>
                  <a:pt x="9964777" y="9098671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307306">
            <a:off x="8638171" y="265703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307306">
            <a:off x="-7950368" y="-721331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551066" y="745936"/>
            <a:ext cx="16896328" cy="9036239"/>
            <a:chOff x="0" y="0"/>
            <a:chExt cx="4450062" cy="23799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50062" cy="2379915"/>
            </a:xfrm>
            <a:custGeom>
              <a:avLst/>
              <a:gdLst/>
              <a:ahLst/>
              <a:cxnLst/>
              <a:rect l="l" t="t" r="r" b="b"/>
              <a:pathLst>
                <a:path w="4450062" h="2379915">
                  <a:moveTo>
                    <a:pt x="22910" y="0"/>
                  </a:moveTo>
                  <a:lnTo>
                    <a:pt x="4427151" y="0"/>
                  </a:lnTo>
                  <a:cubicBezTo>
                    <a:pt x="4439805" y="0"/>
                    <a:pt x="4450062" y="10257"/>
                    <a:pt x="4450062" y="22910"/>
                  </a:cubicBezTo>
                  <a:lnTo>
                    <a:pt x="4450062" y="2357005"/>
                  </a:lnTo>
                  <a:cubicBezTo>
                    <a:pt x="4450062" y="2369658"/>
                    <a:pt x="4439805" y="2379915"/>
                    <a:pt x="4427151" y="2379915"/>
                  </a:cubicBezTo>
                  <a:lnTo>
                    <a:pt x="22910" y="2379915"/>
                  </a:lnTo>
                  <a:cubicBezTo>
                    <a:pt x="16834" y="2379915"/>
                    <a:pt x="11007" y="2377501"/>
                    <a:pt x="6710" y="2373205"/>
                  </a:cubicBezTo>
                  <a:cubicBezTo>
                    <a:pt x="2414" y="2368908"/>
                    <a:pt x="0" y="2363081"/>
                    <a:pt x="0" y="2357005"/>
                  </a:cubicBezTo>
                  <a:lnTo>
                    <a:pt x="0" y="22910"/>
                  </a:lnTo>
                  <a:cubicBezTo>
                    <a:pt x="0" y="10257"/>
                    <a:pt x="10257" y="0"/>
                    <a:pt x="22910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450062" cy="24370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82966" y="189620"/>
            <a:ext cx="526910" cy="654177"/>
          </a:xfrm>
          <a:custGeom>
            <a:avLst/>
            <a:gdLst/>
            <a:ahLst/>
            <a:cxnLst/>
            <a:rect l="l" t="t" r="r" b="b"/>
            <a:pathLst>
              <a:path w="526910" h="654177">
                <a:moveTo>
                  <a:pt x="0" y="0"/>
                </a:moveTo>
                <a:lnTo>
                  <a:pt x="526910" y="0"/>
                </a:lnTo>
                <a:lnTo>
                  <a:pt x="526910" y="654178"/>
                </a:lnTo>
                <a:lnTo>
                  <a:pt x="0" y="6541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102380" y="-55074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288931" y="3117602"/>
            <a:ext cx="731589" cy="73158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33350" cap="sq">
              <a:gradFill>
                <a:gsLst>
                  <a:gs pos="0">
                    <a:srgbClr val="9560FF">
                      <a:alpha val="63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103623" y="1313837"/>
            <a:ext cx="1318123" cy="1318123"/>
          </a:xfrm>
          <a:custGeom>
            <a:avLst/>
            <a:gdLst/>
            <a:ahLst/>
            <a:cxnLst/>
            <a:rect l="l" t="t" r="r" b="b"/>
            <a:pathLst>
              <a:path w="1318123" h="1318123">
                <a:moveTo>
                  <a:pt x="0" y="0"/>
                </a:moveTo>
                <a:lnTo>
                  <a:pt x="1318124" y="0"/>
                </a:lnTo>
                <a:lnTo>
                  <a:pt x="1318124" y="1318124"/>
                </a:lnTo>
                <a:lnTo>
                  <a:pt x="0" y="13181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288931" y="4760157"/>
            <a:ext cx="731589" cy="731589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33350" cap="sq">
              <a:gradFill>
                <a:gsLst>
                  <a:gs pos="0">
                    <a:srgbClr val="9560FF">
                      <a:alpha val="63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724429" y="4558007"/>
            <a:ext cx="4299245" cy="5224168"/>
            <a:chOff x="0" y="0"/>
            <a:chExt cx="1132311" cy="137591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32311" cy="1375913"/>
            </a:xfrm>
            <a:custGeom>
              <a:avLst/>
              <a:gdLst/>
              <a:ahLst/>
              <a:cxnLst/>
              <a:rect l="l" t="t" r="r" b="b"/>
              <a:pathLst>
                <a:path w="1132311" h="1375913">
                  <a:moveTo>
                    <a:pt x="90038" y="0"/>
                  </a:moveTo>
                  <a:lnTo>
                    <a:pt x="1042273" y="0"/>
                  </a:lnTo>
                  <a:cubicBezTo>
                    <a:pt x="1092000" y="0"/>
                    <a:pt x="1132311" y="40311"/>
                    <a:pt x="1132311" y="90038"/>
                  </a:cubicBezTo>
                  <a:lnTo>
                    <a:pt x="1132311" y="1285874"/>
                  </a:lnTo>
                  <a:cubicBezTo>
                    <a:pt x="1132311" y="1335601"/>
                    <a:pt x="1092000" y="1375913"/>
                    <a:pt x="1042273" y="1375913"/>
                  </a:cubicBezTo>
                  <a:lnTo>
                    <a:pt x="90038" y="1375913"/>
                  </a:lnTo>
                  <a:cubicBezTo>
                    <a:pt x="66159" y="1375913"/>
                    <a:pt x="43257" y="1366426"/>
                    <a:pt x="26372" y="1349541"/>
                  </a:cubicBezTo>
                  <a:cubicBezTo>
                    <a:pt x="9486" y="1332656"/>
                    <a:pt x="0" y="1309754"/>
                    <a:pt x="0" y="1285874"/>
                  </a:cubicBezTo>
                  <a:lnTo>
                    <a:pt x="0" y="90038"/>
                  </a:lnTo>
                  <a:cubicBezTo>
                    <a:pt x="0" y="66159"/>
                    <a:pt x="9486" y="43257"/>
                    <a:pt x="26372" y="26372"/>
                  </a:cubicBezTo>
                  <a:cubicBezTo>
                    <a:pt x="43257" y="9486"/>
                    <a:pt x="66159" y="0"/>
                    <a:pt x="90038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132311" cy="1433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046421" y="6244092"/>
            <a:ext cx="11354322" cy="2654437"/>
          </a:xfrm>
          <a:custGeom>
            <a:avLst/>
            <a:gdLst/>
            <a:ahLst/>
            <a:cxnLst/>
            <a:rect l="l" t="t" r="r" b="b"/>
            <a:pathLst>
              <a:path w="11354322" h="2654437">
                <a:moveTo>
                  <a:pt x="0" y="0"/>
                </a:moveTo>
                <a:lnTo>
                  <a:pt x="11354322" y="0"/>
                </a:lnTo>
                <a:lnTo>
                  <a:pt x="11354322" y="2654438"/>
                </a:lnTo>
                <a:lnTo>
                  <a:pt x="0" y="265443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2667508" y="1323362"/>
            <a:ext cx="14591792" cy="1250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10"/>
              </a:lnSpc>
            </a:pPr>
            <a:r>
              <a:rPr lang="en-US" sz="8299" b="1" dirty="0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Clustering model (K-Means)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55610" y="326908"/>
            <a:ext cx="298346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Nti-project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116423" y="2972797"/>
            <a:ext cx="14907251" cy="92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2"/>
              </a:lnSpc>
            </a:pPr>
            <a:r>
              <a:rPr lang="en-US" sz="2644" b="1">
                <a:solidFill>
                  <a:srgbClr val="956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 the Hotel Booking dataset:</a:t>
            </a:r>
            <a:r>
              <a:rPr lang="en-US" sz="264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It can be used to discover different groups of bookings/customers based on characteristics such as lead time, ADR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57467" y="5526039"/>
            <a:ext cx="5841490" cy="53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2"/>
              </a:lnSpc>
            </a:pPr>
            <a:r>
              <a:rPr lang="en-US" sz="3144" b="1" dirty="0">
                <a:solidFill>
                  <a:srgbClr val="956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Preparing data for clustering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049721" y="4762992"/>
            <a:ext cx="3648661" cy="4725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7"/>
              </a:lnSpc>
            </a:pPr>
            <a:r>
              <a:rPr lang="en-US" sz="2912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 k-Means: </a:t>
            </a:r>
            <a:r>
              <a:rPr lang="en-US" sz="2912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Simple and easy to implement for customer segmentation.</a:t>
            </a:r>
          </a:p>
          <a:p>
            <a:pPr algn="l">
              <a:lnSpc>
                <a:spcPts val="3407"/>
              </a:lnSpc>
            </a:pPr>
            <a:endParaRPr lang="en-US" sz="2912" b="1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3407"/>
              </a:lnSpc>
            </a:pPr>
            <a:r>
              <a:rPr lang="en-US" sz="2912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dataset contains numerical features suitable for distance-based clustering.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028700" y="6244092"/>
            <a:ext cx="11372043" cy="2654437"/>
            <a:chOff x="0" y="0"/>
            <a:chExt cx="2995106" cy="69911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995106" cy="699111"/>
            </a:xfrm>
            <a:custGeom>
              <a:avLst/>
              <a:gdLst/>
              <a:ahLst/>
              <a:cxnLst/>
              <a:rect l="l" t="t" r="r" b="b"/>
              <a:pathLst>
                <a:path w="2995106" h="699111">
                  <a:moveTo>
                    <a:pt x="32678" y="0"/>
                  </a:moveTo>
                  <a:lnTo>
                    <a:pt x="2962428" y="0"/>
                  </a:lnTo>
                  <a:cubicBezTo>
                    <a:pt x="2971095" y="0"/>
                    <a:pt x="2979407" y="3443"/>
                    <a:pt x="2985535" y="9571"/>
                  </a:cubicBezTo>
                  <a:cubicBezTo>
                    <a:pt x="2991663" y="15699"/>
                    <a:pt x="2995106" y="24011"/>
                    <a:pt x="2995106" y="32678"/>
                  </a:cubicBezTo>
                  <a:lnTo>
                    <a:pt x="2995106" y="666433"/>
                  </a:lnTo>
                  <a:cubicBezTo>
                    <a:pt x="2995106" y="675100"/>
                    <a:pt x="2991663" y="683412"/>
                    <a:pt x="2985535" y="689540"/>
                  </a:cubicBezTo>
                  <a:cubicBezTo>
                    <a:pt x="2979407" y="695668"/>
                    <a:pt x="2971095" y="699111"/>
                    <a:pt x="2962428" y="699111"/>
                  </a:cubicBezTo>
                  <a:lnTo>
                    <a:pt x="32678" y="699111"/>
                  </a:lnTo>
                  <a:cubicBezTo>
                    <a:pt x="24011" y="699111"/>
                    <a:pt x="15699" y="695668"/>
                    <a:pt x="9571" y="689540"/>
                  </a:cubicBezTo>
                  <a:cubicBezTo>
                    <a:pt x="3443" y="683412"/>
                    <a:pt x="0" y="675100"/>
                    <a:pt x="0" y="666433"/>
                  </a:cubicBezTo>
                  <a:lnTo>
                    <a:pt x="0" y="32678"/>
                  </a:lnTo>
                  <a:cubicBezTo>
                    <a:pt x="0" y="24011"/>
                    <a:pt x="3443" y="15699"/>
                    <a:pt x="9571" y="9571"/>
                  </a:cubicBezTo>
                  <a:cubicBezTo>
                    <a:pt x="15699" y="3443"/>
                    <a:pt x="24011" y="0"/>
                    <a:pt x="32678" y="0"/>
                  </a:cubicBezTo>
                  <a:close/>
                </a:path>
              </a:pathLst>
            </a:custGeom>
            <a:ln w="104775" cap="rnd">
              <a:gradFill>
                <a:gsLst>
                  <a:gs pos="0">
                    <a:srgbClr val="9560FF">
                      <a:alpha val="10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85725"/>
              <a:ext cx="2995106" cy="7848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3"/>
                </a:lnSpc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0886" y="-2049095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0" y="0"/>
                </a:moveTo>
                <a:lnTo>
                  <a:pt x="9964777" y="0"/>
                </a:lnTo>
                <a:lnTo>
                  <a:pt x="9964777" y="9098671"/>
                </a:lnTo>
                <a:lnTo>
                  <a:pt x="0" y="9098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327663" y="3237424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9964777" y="9098671"/>
                </a:moveTo>
                <a:lnTo>
                  <a:pt x="0" y="9098671"/>
                </a:lnTo>
                <a:lnTo>
                  <a:pt x="0" y="0"/>
                </a:lnTo>
                <a:lnTo>
                  <a:pt x="9964777" y="0"/>
                </a:lnTo>
                <a:lnTo>
                  <a:pt x="9964777" y="9098671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307306">
            <a:off x="8638171" y="265703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307306">
            <a:off x="-7950368" y="-721331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95836" y="973626"/>
            <a:ext cx="16896328" cy="9036239"/>
            <a:chOff x="0" y="0"/>
            <a:chExt cx="4450062" cy="23799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50062" cy="2379915"/>
            </a:xfrm>
            <a:custGeom>
              <a:avLst/>
              <a:gdLst/>
              <a:ahLst/>
              <a:cxnLst/>
              <a:rect l="l" t="t" r="r" b="b"/>
              <a:pathLst>
                <a:path w="4450062" h="2379915">
                  <a:moveTo>
                    <a:pt x="22910" y="0"/>
                  </a:moveTo>
                  <a:lnTo>
                    <a:pt x="4427151" y="0"/>
                  </a:lnTo>
                  <a:cubicBezTo>
                    <a:pt x="4439805" y="0"/>
                    <a:pt x="4450062" y="10257"/>
                    <a:pt x="4450062" y="22910"/>
                  </a:cubicBezTo>
                  <a:lnTo>
                    <a:pt x="4450062" y="2357005"/>
                  </a:lnTo>
                  <a:cubicBezTo>
                    <a:pt x="4450062" y="2369658"/>
                    <a:pt x="4439805" y="2379915"/>
                    <a:pt x="4427151" y="2379915"/>
                  </a:cubicBezTo>
                  <a:lnTo>
                    <a:pt x="22910" y="2379915"/>
                  </a:lnTo>
                  <a:cubicBezTo>
                    <a:pt x="16834" y="2379915"/>
                    <a:pt x="11007" y="2377501"/>
                    <a:pt x="6710" y="2373205"/>
                  </a:cubicBezTo>
                  <a:cubicBezTo>
                    <a:pt x="2414" y="2368908"/>
                    <a:pt x="0" y="2363081"/>
                    <a:pt x="0" y="2357005"/>
                  </a:cubicBezTo>
                  <a:lnTo>
                    <a:pt x="0" y="22910"/>
                  </a:lnTo>
                  <a:cubicBezTo>
                    <a:pt x="0" y="10257"/>
                    <a:pt x="10257" y="0"/>
                    <a:pt x="22910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450062" cy="24370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82966" y="189620"/>
            <a:ext cx="526910" cy="654177"/>
          </a:xfrm>
          <a:custGeom>
            <a:avLst/>
            <a:gdLst/>
            <a:ahLst/>
            <a:cxnLst/>
            <a:rect l="l" t="t" r="r" b="b"/>
            <a:pathLst>
              <a:path w="526910" h="654177">
                <a:moveTo>
                  <a:pt x="0" y="0"/>
                </a:moveTo>
                <a:lnTo>
                  <a:pt x="526910" y="0"/>
                </a:lnTo>
                <a:lnTo>
                  <a:pt x="526910" y="654178"/>
                </a:lnTo>
                <a:lnTo>
                  <a:pt x="0" y="6541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102380" y="-55074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57362" y="1323229"/>
            <a:ext cx="1318123" cy="1318123"/>
          </a:xfrm>
          <a:custGeom>
            <a:avLst/>
            <a:gdLst/>
            <a:ahLst/>
            <a:cxnLst/>
            <a:rect l="l" t="t" r="r" b="b"/>
            <a:pathLst>
              <a:path w="1318123" h="1318123">
                <a:moveTo>
                  <a:pt x="0" y="0"/>
                </a:moveTo>
                <a:lnTo>
                  <a:pt x="1318123" y="0"/>
                </a:lnTo>
                <a:lnTo>
                  <a:pt x="1318123" y="1318123"/>
                </a:lnTo>
                <a:lnTo>
                  <a:pt x="0" y="13181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1409189" y="4164803"/>
            <a:ext cx="5224085" cy="3621956"/>
            <a:chOff x="0" y="0"/>
            <a:chExt cx="1375891" cy="95393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75891" cy="953931"/>
            </a:xfrm>
            <a:custGeom>
              <a:avLst/>
              <a:gdLst/>
              <a:ahLst/>
              <a:cxnLst/>
              <a:rect l="l" t="t" r="r" b="b"/>
              <a:pathLst>
                <a:path w="1375891" h="953931">
                  <a:moveTo>
                    <a:pt x="74098" y="0"/>
                  </a:moveTo>
                  <a:lnTo>
                    <a:pt x="1301792" y="0"/>
                  </a:lnTo>
                  <a:cubicBezTo>
                    <a:pt x="1321445" y="0"/>
                    <a:pt x="1340292" y="7807"/>
                    <a:pt x="1354188" y="21703"/>
                  </a:cubicBezTo>
                  <a:cubicBezTo>
                    <a:pt x="1368084" y="35599"/>
                    <a:pt x="1375891" y="54446"/>
                    <a:pt x="1375891" y="74098"/>
                  </a:cubicBezTo>
                  <a:lnTo>
                    <a:pt x="1375891" y="879833"/>
                  </a:lnTo>
                  <a:cubicBezTo>
                    <a:pt x="1375891" y="899485"/>
                    <a:pt x="1368084" y="918332"/>
                    <a:pt x="1354188" y="932228"/>
                  </a:cubicBezTo>
                  <a:cubicBezTo>
                    <a:pt x="1340292" y="946124"/>
                    <a:pt x="1321445" y="953931"/>
                    <a:pt x="1301792" y="953931"/>
                  </a:cubicBezTo>
                  <a:lnTo>
                    <a:pt x="74098" y="953931"/>
                  </a:lnTo>
                  <a:cubicBezTo>
                    <a:pt x="54446" y="953931"/>
                    <a:pt x="35599" y="946124"/>
                    <a:pt x="21703" y="932228"/>
                  </a:cubicBezTo>
                  <a:cubicBezTo>
                    <a:pt x="7807" y="918332"/>
                    <a:pt x="0" y="899485"/>
                    <a:pt x="0" y="879833"/>
                  </a:cubicBezTo>
                  <a:lnTo>
                    <a:pt x="0" y="74098"/>
                  </a:lnTo>
                  <a:cubicBezTo>
                    <a:pt x="0" y="54446"/>
                    <a:pt x="7807" y="35599"/>
                    <a:pt x="21703" y="21703"/>
                  </a:cubicBezTo>
                  <a:cubicBezTo>
                    <a:pt x="35599" y="7807"/>
                    <a:pt x="54446" y="0"/>
                    <a:pt x="74098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375891" cy="10110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3078599" y="9100206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30283" y="2852730"/>
            <a:ext cx="9947751" cy="6616948"/>
          </a:xfrm>
          <a:custGeom>
            <a:avLst/>
            <a:gdLst/>
            <a:ahLst/>
            <a:cxnLst/>
            <a:rect l="l" t="t" r="r" b="b"/>
            <a:pathLst>
              <a:path w="9947751" h="6616948">
                <a:moveTo>
                  <a:pt x="0" y="0"/>
                </a:moveTo>
                <a:lnTo>
                  <a:pt x="9947751" y="0"/>
                </a:lnTo>
                <a:lnTo>
                  <a:pt x="9947751" y="6616948"/>
                </a:lnTo>
                <a:lnTo>
                  <a:pt x="0" y="661694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793" t="-574" r="-975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000372" y="1390529"/>
            <a:ext cx="14591792" cy="1250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10"/>
              </a:lnSpc>
            </a:pPr>
            <a:r>
              <a:rPr lang="en-US" sz="8299" b="1" dirty="0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Clustering model (K-Means)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650886" y="4441676"/>
            <a:ext cx="4658577" cy="3032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0"/>
              </a:lnSpc>
            </a:pPr>
            <a:r>
              <a:rPr lang="en-US" sz="3427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Elbow Method:</a:t>
            </a:r>
          </a:p>
          <a:p>
            <a:pPr algn="l">
              <a:lnSpc>
                <a:spcPts val="4010"/>
              </a:lnSpc>
            </a:pPr>
            <a:r>
              <a:rPr lang="en-US" sz="3427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Elbow Method suggested K = 3 as a possible cluster point, but the result was not definitive</a:t>
            </a:r>
            <a:r>
              <a:rPr lang="en-US" sz="3427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E0483669-ECB4-E71E-CE77-40AAFDB731EC}"/>
              </a:ext>
            </a:extLst>
          </p:cNvPr>
          <p:cNvSpPr txBox="1"/>
          <p:nvPr/>
        </p:nvSpPr>
        <p:spPr>
          <a:xfrm>
            <a:off x="1805849" y="511810"/>
            <a:ext cx="298346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NTI - AI</a:t>
            </a:r>
          </a:p>
        </p:txBody>
      </p:sp>
    </p:spTree>
  </p:cSld>
  <p:clrMapOvr>
    <a:masterClrMapping/>
  </p:clrMapOvr>
  <p:transition spd="slow">
    <p:cover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0886" y="-2049095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0" y="0"/>
                </a:moveTo>
                <a:lnTo>
                  <a:pt x="9964777" y="0"/>
                </a:lnTo>
                <a:lnTo>
                  <a:pt x="9964777" y="9098671"/>
                </a:lnTo>
                <a:lnTo>
                  <a:pt x="0" y="9098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327663" y="3237424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9964777" y="9098671"/>
                </a:moveTo>
                <a:lnTo>
                  <a:pt x="0" y="9098671"/>
                </a:lnTo>
                <a:lnTo>
                  <a:pt x="0" y="0"/>
                </a:lnTo>
                <a:lnTo>
                  <a:pt x="9964777" y="0"/>
                </a:lnTo>
                <a:lnTo>
                  <a:pt x="9964777" y="9098671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307306">
            <a:off x="8638171" y="265703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307306">
            <a:off x="-7950368" y="-721331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95836" y="973626"/>
            <a:ext cx="16896328" cy="9036239"/>
            <a:chOff x="0" y="0"/>
            <a:chExt cx="4450062" cy="23799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50062" cy="2379915"/>
            </a:xfrm>
            <a:custGeom>
              <a:avLst/>
              <a:gdLst/>
              <a:ahLst/>
              <a:cxnLst/>
              <a:rect l="l" t="t" r="r" b="b"/>
              <a:pathLst>
                <a:path w="4450062" h="2379915">
                  <a:moveTo>
                    <a:pt x="22910" y="0"/>
                  </a:moveTo>
                  <a:lnTo>
                    <a:pt x="4427151" y="0"/>
                  </a:lnTo>
                  <a:cubicBezTo>
                    <a:pt x="4439805" y="0"/>
                    <a:pt x="4450062" y="10257"/>
                    <a:pt x="4450062" y="22910"/>
                  </a:cubicBezTo>
                  <a:lnTo>
                    <a:pt x="4450062" y="2357005"/>
                  </a:lnTo>
                  <a:cubicBezTo>
                    <a:pt x="4450062" y="2369658"/>
                    <a:pt x="4439805" y="2379915"/>
                    <a:pt x="4427151" y="2379915"/>
                  </a:cubicBezTo>
                  <a:lnTo>
                    <a:pt x="22910" y="2379915"/>
                  </a:lnTo>
                  <a:cubicBezTo>
                    <a:pt x="16834" y="2379915"/>
                    <a:pt x="11007" y="2377501"/>
                    <a:pt x="6710" y="2373205"/>
                  </a:cubicBezTo>
                  <a:cubicBezTo>
                    <a:pt x="2414" y="2368908"/>
                    <a:pt x="0" y="2363081"/>
                    <a:pt x="0" y="2357005"/>
                  </a:cubicBezTo>
                  <a:lnTo>
                    <a:pt x="0" y="22910"/>
                  </a:lnTo>
                  <a:cubicBezTo>
                    <a:pt x="0" y="10257"/>
                    <a:pt x="10257" y="0"/>
                    <a:pt x="22910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450062" cy="24370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82966" y="189620"/>
            <a:ext cx="526910" cy="654177"/>
          </a:xfrm>
          <a:custGeom>
            <a:avLst/>
            <a:gdLst/>
            <a:ahLst/>
            <a:cxnLst/>
            <a:rect l="l" t="t" r="r" b="b"/>
            <a:pathLst>
              <a:path w="526910" h="654177">
                <a:moveTo>
                  <a:pt x="0" y="0"/>
                </a:moveTo>
                <a:lnTo>
                  <a:pt x="526910" y="0"/>
                </a:lnTo>
                <a:lnTo>
                  <a:pt x="526910" y="654178"/>
                </a:lnTo>
                <a:lnTo>
                  <a:pt x="0" y="6541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102380" y="-55074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57362" y="1323229"/>
            <a:ext cx="1318123" cy="1318123"/>
          </a:xfrm>
          <a:custGeom>
            <a:avLst/>
            <a:gdLst/>
            <a:ahLst/>
            <a:cxnLst/>
            <a:rect l="l" t="t" r="r" b="b"/>
            <a:pathLst>
              <a:path w="1318123" h="1318123">
                <a:moveTo>
                  <a:pt x="0" y="0"/>
                </a:moveTo>
                <a:lnTo>
                  <a:pt x="1318123" y="0"/>
                </a:lnTo>
                <a:lnTo>
                  <a:pt x="1318123" y="1318123"/>
                </a:lnTo>
                <a:lnTo>
                  <a:pt x="0" y="13181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1409189" y="4235262"/>
            <a:ext cx="5224085" cy="3551497"/>
            <a:chOff x="0" y="0"/>
            <a:chExt cx="1375891" cy="93537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75891" cy="935374"/>
            </a:xfrm>
            <a:custGeom>
              <a:avLst/>
              <a:gdLst/>
              <a:ahLst/>
              <a:cxnLst/>
              <a:rect l="l" t="t" r="r" b="b"/>
              <a:pathLst>
                <a:path w="1375891" h="935374">
                  <a:moveTo>
                    <a:pt x="74098" y="0"/>
                  </a:moveTo>
                  <a:lnTo>
                    <a:pt x="1301792" y="0"/>
                  </a:lnTo>
                  <a:cubicBezTo>
                    <a:pt x="1321445" y="0"/>
                    <a:pt x="1340292" y="7807"/>
                    <a:pt x="1354188" y="21703"/>
                  </a:cubicBezTo>
                  <a:cubicBezTo>
                    <a:pt x="1368084" y="35599"/>
                    <a:pt x="1375891" y="54446"/>
                    <a:pt x="1375891" y="74098"/>
                  </a:cubicBezTo>
                  <a:lnTo>
                    <a:pt x="1375891" y="861275"/>
                  </a:lnTo>
                  <a:cubicBezTo>
                    <a:pt x="1375891" y="880927"/>
                    <a:pt x="1368084" y="899775"/>
                    <a:pt x="1354188" y="913671"/>
                  </a:cubicBezTo>
                  <a:cubicBezTo>
                    <a:pt x="1340292" y="927567"/>
                    <a:pt x="1321445" y="935374"/>
                    <a:pt x="1301792" y="935374"/>
                  </a:cubicBezTo>
                  <a:lnTo>
                    <a:pt x="74098" y="935374"/>
                  </a:lnTo>
                  <a:cubicBezTo>
                    <a:pt x="54446" y="935374"/>
                    <a:pt x="35599" y="927567"/>
                    <a:pt x="21703" y="913671"/>
                  </a:cubicBezTo>
                  <a:cubicBezTo>
                    <a:pt x="7807" y="899775"/>
                    <a:pt x="0" y="880927"/>
                    <a:pt x="0" y="861275"/>
                  </a:cubicBezTo>
                  <a:lnTo>
                    <a:pt x="0" y="74098"/>
                  </a:lnTo>
                  <a:cubicBezTo>
                    <a:pt x="0" y="54446"/>
                    <a:pt x="7807" y="35599"/>
                    <a:pt x="21703" y="21703"/>
                  </a:cubicBezTo>
                  <a:cubicBezTo>
                    <a:pt x="35599" y="7807"/>
                    <a:pt x="54446" y="0"/>
                    <a:pt x="74098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375891" cy="9925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3078599" y="9100206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32112" y="2829243"/>
            <a:ext cx="9944094" cy="6785312"/>
          </a:xfrm>
          <a:custGeom>
            <a:avLst/>
            <a:gdLst/>
            <a:ahLst/>
            <a:cxnLst/>
            <a:rect l="l" t="t" r="r" b="b"/>
            <a:pathLst>
              <a:path w="9944094" h="6785312">
                <a:moveTo>
                  <a:pt x="0" y="0"/>
                </a:moveTo>
                <a:lnTo>
                  <a:pt x="9944094" y="0"/>
                </a:lnTo>
                <a:lnTo>
                  <a:pt x="9944094" y="6785313"/>
                </a:lnTo>
                <a:lnTo>
                  <a:pt x="0" y="67853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284" r="-936" b="-585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000372" y="1390529"/>
            <a:ext cx="14591792" cy="1250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10"/>
              </a:lnSpc>
            </a:pPr>
            <a:r>
              <a:rPr lang="en-US" sz="8299" b="1" dirty="0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Clustering model (K-Means)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650886" y="4508067"/>
            <a:ext cx="4658577" cy="3032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0"/>
              </a:lnSpc>
            </a:pPr>
            <a:r>
              <a:rPr lang="en-US" sz="3427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Silhouette Score :</a:t>
            </a:r>
          </a:p>
          <a:p>
            <a:pPr algn="l">
              <a:lnSpc>
                <a:spcPts val="4010"/>
              </a:lnSpc>
            </a:pPr>
            <a:r>
              <a:rPr lang="en-US" sz="3427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Silhouette Score reached its highest value at K = 3, supporting K = 3 for the final model.</a:t>
            </a: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1971E867-79BE-BC1C-42D0-FE5A115974AB}"/>
              </a:ext>
            </a:extLst>
          </p:cNvPr>
          <p:cNvSpPr txBox="1"/>
          <p:nvPr/>
        </p:nvSpPr>
        <p:spPr>
          <a:xfrm>
            <a:off x="1805849" y="511810"/>
            <a:ext cx="298346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NTI - AI</a:t>
            </a:r>
          </a:p>
        </p:txBody>
      </p:sp>
    </p:spTree>
  </p:cSld>
  <p:clrMapOvr>
    <a:masterClrMapping/>
  </p:clrMapOvr>
  <p:transition spd="slow">
    <p:cover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0886" y="-2049095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0" y="0"/>
                </a:moveTo>
                <a:lnTo>
                  <a:pt x="9964777" y="0"/>
                </a:lnTo>
                <a:lnTo>
                  <a:pt x="9964777" y="9098671"/>
                </a:lnTo>
                <a:lnTo>
                  <a:pt x="0" y="9098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1119939" y="2485858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9964777" y="9098671"/>
                </a:moveTo>
                <a:lnTo>
                  <a:pt x="0" y="9098671"/>
                </a:lnTo>
                <a:lnTo>
                  <a:pt x="0" y="0"/>
                </a:lnTo>
                <a:lnTo>
                  <a:pt x="9964777" y="0"/>
                </a:lnTo>
                <a:lnTo>
                  <a:pt x="9964777" y="9098671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307306">
            <a:off x="8638171" y="265703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307306">
            <a:off x="-5742644" y="-7964879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67261" y="973626"/>
            <a:ext cx="16896328" cy="9036239"/>
            <a:chOff x="0" y="0"/>
            <a:chExt cx="4450062" cy="23799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50062" cy="2379915"/>
            </a:xfrm>
            <a:custGeom>
              <a:avLst/>
              <a:gdLst/>
              <a:ahLst/>
              <a:cxnLst/>
              <a:rect l="l" t="t" r="r" b="b"/>
              <a:pathLst>
                <a:path w="4450062" h="2379915">
                  <a:moveTo>
                    <a:pt x="22910" y="0"/>
                  </a:moveTo>
                  <a:lnTo>
                    <a:pt x="4427151" y="0"/>
                  </a:lnTo>
                  <a:cubicBezTo>
                    <a:pt x="4439805" y="0"/>
                    <a:pt x="4450062" y="10257"/>
                    <a:pt x="4450062" y="22910"/>
                  </a:cubicBezTo>
                  <a:lnTo>
                    <a:pt x="4450062" y="2357005"/>
                  </a:lnTo>
                  <a:cubicBezTo>
                    <a:pt x="4450062" y="2369658"/>
                    <a:pt x="4439805" y="2379915"/>
                    <a:pt x="4427151" y="2379915"/>
                  </a:cubicBezTo>
                  <a:lnTo>
                    <a:pt x="22910" y="2379915"/>
                  </a:lnTo>
                  <a:cubicBezTo>
                    <a:pt x="16834" y="2379915"/>
                    <a:pt x="11007" y="2377501"/>
                    <a:pt x="6710" y="2373205"/>
                  </a:cubicBezTo>
                  <a:cubicBezTo>
                    <a:pt x="2414" y="2368908"/>
                    <a:pt x="0" y="2363081"/>
                    <a:pt x="0" y="2357005"/>
                  </a:cubicBezTo>
                  <a:lnTo>
                    <a:pt x="0" y="22910"/>
                  </a:lnTo>
                  <a:cubicBezTo>
                    <a:pt x="0" y="10257"/>
                    <a:pt x="10257" y="0"/>
                    <a:pt x="22910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450062" cy="24370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82966" y="189620"/>
            <a:ext cx="526910" cy="654177"/>
          </a:xfrm>
          <a:custGeom>
            <a:avLst/>
            <a:gdLst/>
            <a:ahLst/>
            <a:cxnLst/>
            <a:rect l="l" t="t" r="r" b="b"/>
            <a:pathLst>
              <a:path w="526910" h="654177">
                <a:moveTo>
                  <a:pt x="0" y="0"/>
                </a:moveTo>
                <a:lnTo>
                  <a:pt x="526910" y="0"/>
                </a:lnTo>
                <a:lnTo>
                  <a:pt x="526910" y="654178"/>
                </a:lnTo>
                <a:lnTo>
                  <a:pt x="0" y="6541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102380" y="-55074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57362" y="1323229"/>
            <a:ext cx="1318123" cy="1318123"/>
          </a:xfrm>
          <a:custGeom>
            <a:avLst/>
            <a:gdLst/>
            <a:ahLst/>
            <a:cxnLst/>
            <a:rect l="l" t="t" r="r" b="b"/>
            <a:pathLst>
              <a:path w="1318123" h="1318123">
                <a:moveTo>
                  <a:pt x="0" y="0"/>
                </a:moveTo>
                <a:lnTo>
                  <a:pt x="1318123" y="0"/>
                </a:lnTo>
                <a:lnTo>
                  <a:pt x="1318123" y="1318123"/>
                </a:lnTo>
                <a:lnTo>
                  <a:pt x="0" y="13181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1286639" y="3050927"/>
            <a:ext cx="5224085" cy="6443632"/>
            <a:chOff x="0" y="0"/>
            <a:chExt cx="1375891" cy="16970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75891" cy="1697088"/>
            </a:xfrm>
            <a:custGeom>
              <a:avLst/>
              <a:gdLst/>
              <a:ahLst/>
              <a:cxnLst/>
              <a:rect l="l" t="t" r="r" b="b"/>
              <a:pathLst>
                <a:path w="1375891" h="1697088">
                  <a:moveTo>
                    <a:pt x="74098" y="0"/>
                  </a:moveTo>
                  <a:lnTo>
                    <a:pt x="1301792" y="0"/>
                  </a:lnTo>
                  <a:cubicBezTo>
                    <a:pt x="1321445" y="0"/>
                    <a:pt x="1340292" y="7807"/>
                    <a:pt x="1354188" y="21703"/>
                  </a:cubicBezTo>
                  <a:cubicBezTo>
                    <a:pt x="1368084" y="35599"/>
                    <a:pt x="1375891" y="54446"/>
                    <a:pt x="1375891" y="74098"/>
                  </a:cubicBezTo>
                  <a:lnTo>
                    <a:pt x="1375891" y="1622990"/>
                  </a:lnTo>
                  <a:cubicBezTo>
                    <a:pt x="1375891" y="1642642"/>
                    <a:pt x="1368084" y="1661489"/>
                    <a:pt x="1354188" y="1675385"/>
                  </a:cubicBezTo>
                  <a:cubicBezTo>
                    <a:pt x="1340292" y="1689282"/>
                    <a:pt x="1321445" y="1697088"/>
                    <a:pt x="1301792" y="1697088"/>
                  </a:cubicBezTo>
                  <a:lnTo>
                    <a:pt x="74098" y="1697088"/>
                  </a:lnTo>
                  <a:cubicBezTo>
                    <a:pt x="54446" y="1697088"/>
                    <a:pt x="35599" y="1689282"/>
                    <a:pt x="21703" y="1675385"/>
                  </a:cubicBezTo>
                  <a:cubicBezTo>
                    <a:pt x="7807" y="1661489"/>
                    <a:pt x="0" y="1642642"/>
                    <a:pt x="0" y="1622990"/>
                  </a:cubicBezTo>
                  <a:lnTo>
                    <a:pt x="0" y="74098"/>
                  </a:lnTo>
                  <a:cubicBezTo>
                    <a:pt x="0" y="54446"/>
                    <a:pt x="7807" y="35599"/>
                    <a:pt x="21703" y="21703"/>
                  </a:cubicBezTo>
                  <a:cubicBezTo>
                    <a:pt x="35599" y="7807"/>
                    <a:pt x="54446" y="0"/>
                    <a:pt x="74098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375891" cy="1754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125881" y="3050927"/>
            <a:ext cx="9170387" cy="6257456"/>
          </a:xfrm>
          <a:custGeom>
            <a:avLst/>
            <a:gdLst/>
            <a:ahLst/>
            <a:cxnLst/>
            <a:rect l="l" t="t" r="r" b="b"/>
            <a:pathLst>
              <a:path w="9170387" h="6257456">
                <a:moveTo>
                  <a:pt x="0" y="0"/>
                </a:moveTo>
                <a:lnTo>
                  <a:pt x="9170387" y="0"/>
                </a:lnTo>
                <a:lnTo>
                  <a:pt x="9170387" y="6257455"/>
                </a:lnTo>
                <a:lnTo>
                  <a:pt x="0" y="625745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87" t="-1585" r="-2413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000372" y="1390529"/>
            <a:ext cx="14591792" cy="1250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10"/>
              </a:lnSpc>
            </a:pPr>
            <a:r>
              <a:rPr lang="en-US" sz="8299" b="1" dirty="0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Clustering model (K-Means)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569393" y="3246949"/>
            <a:ext cx="4658577" cy="6061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0"/>
              </a:lnSpc>
            </a:pPr>
            <a:r>
              <a:rPr lang="en-US" sz="3427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K-Means </a:t>
            </a:r>
            <a:r>
              <a:rPr lang="en-US" sz="3427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divided the bookings into three clusters based on </a:t>
            </a:r>
            <a:r>
              <a:rPr lang="en-US" sz="3427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ADR</a:t>
            </a:r>
            <a:r>
              <a:rPr lang="en-US" sz="3427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and </a:t>
            </a:r>
            <a:r>
              <a:rPr lang="en-US" sz="3427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lead time.</a:t>
            </a:r>
            <a:r>
              <a:rPr lang="en-US" sz="3427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The clusters represent different </a:t>
            </a:r>
            <a:r>
              <a:rPr lang="en-US" sz="3427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booking patterns</a:t>
            </a:r>
            <a:r>
              <a:rPr lang="en-US" sz="3427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, such as </a:t>
            </a:r>
            <a:r>
              <a:rPr lang="en-US" sz="3427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lower-priced bookings</a:t>
            </a:r>
            <a:r>
              <a:rPr lang="en-US" sz="3427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, higher-priced bookings, and </a:t>
            </a:r>
            <a:r>
              <a:rPr lang="en-US" sz="3427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bookings with high lead time.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4DBA31C4-92A7-5F4C-5BC2-900198A50C88}"/>
              </a:ext>
            </a:extLst>
          </p:cNvPr>
          <p:cNvSpPr txBox="1"/>
          <p:nvPr/>
        </p:nvSpPr>
        <p:spPr>
          <a:xfrm>
            <a:off x="1508637" y="357387"/>
            <a:ext cx="298346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NTI - AI</a:t>
            </a:r>
          </a:p>
        </p:txBody>
      </p:sp>
    </p:spTree>
  </p:cSld>
  <p:clrMapOvr>
    <a:masterClrMapping/>
  </p:clrMapOvr>
  <p:transition spd="slow">
    <p:cover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0886" y="-2049095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0" y="0"/>
                </a:moveTo>
                <a:lnTo>
                  <a:pt x="9964777" y="0"/>
                </a:lnTo>
                <a:lnTo>
                  <a:pt x="9964777" y="9098671"/>
                </a:lnTo>
                <a:lnTo>
                  <a:pt x="0" y="9098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327663" y="3237424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9964777" y="9098671"/>
                </a:moveTo>
                <a:lnTo>
                  <a:pt x="0" y="9098671"/>
                </a:lnTo>
                <a:lnTo>
                  <a:pt x="0" y="0"/>
                </a:lnTo>
                <a:lnTo>
                  <a:pt x="9964777" y="0"/>
                </a:lnTo>
                <a:lnTo>
                  <a:pt x="9964777" y="9098671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307306">
            <a:off x="8638171" y="265703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307306">
            <a:off x="-7950368" y="-721331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809215" y="1193353"/>
            <a:ext cx="15583782" cy="8910458"/>
            <a:chOff x="0" y="0"/>
            <a:chExt cx="4104371" cy="23467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104370" cy="2346787"/>
            </a:xfrm>
            <a:custGeom>
              <a:avLst/>
              <a:gdLst/>
              <a:ahLst/>
              <a:cxnLst/>
              <a:rect l="l" t="t" r="r" b="b"/>
              <a:pathLst>
                <a:path w="4104370" h="2346787">
                  <a:moveTo>
                    <a:pt x="24840" y="0"/>
                  </a:moveTo>
                  <a:lnTo>
                    <a:pt x="4079531" y="0"/>
                  </a:lnTo>
                  <a:cubicBezTo>
                    <a:pt x="4086119" y="0"/>
                    <a:pt x="4092437" y="2617"/>
                    <a:pt x="4097095" y="7275"/>
                  </a:cubicBezTo>
                  <a:cubicBezTo>
                    <a:pt x="4101754" y="11934"/>
                    <a:pt x="4104370" y="18252"/>
                    <a:pt x="4104370" y="24840"/>
                  </a:cubicBezTo>
                  <a:lnTo>
                    <a:pt x="4104370" y="2321947"/>
                  </a:lnTo>
                  <a:cubicBezTo>
                    <a:pt x="4104370" y="2328535"/>
                    <a:pt x="4101754" y="2334853"/>
                    <a:pt x="4097095" y="2339512"/>
                  </a:cubicBezTo>
                  <a:cubicBezTo>
                    <a:pt x="4092437" y="2344170"/>
                    <a:pt x="4086119" y="2346787"/>
                    <a:pt x="4079531" y="2346787"/>
                  </a:cubicBezTo>
                  <a:lnTo>
                    <a:pt x="24840" y="2346787"/>
                  </a:lnTo>
                  <a:cubicBezTo>
                    <a:pt x="18252" y="2346787"/>
                    <a:pt x="11934" y="2344170"/>
                    <a:pt x="7275" y="2339512"/>
                  </a:cubicBezTo>
                  <a:cubicBezTo>
                    <a:pt x="2617" y="2334853"/>
                    <a:pt x="0" y="2328535"/>
                    <a:pt x="0" y="2321947"/>
                  </a:cubicBezTo>
                  <a:lnTo>
                    <a:pt x="0" y="24840"/>
                  </a:lnTo>
                  <a:cubicBezTo>
                    <a:pt x="0" y="18252"/>
                    <a:pt x="2617" y="11934"/>
                    <a:pt x="7275" y="7275"/>
                  </a:cubicBezTo>
                  <a:cubicBezTo>
                    <a:pt x="11934" y="2617"/>
                    <a:pt x="18252" y="0"/>
                    <a:pt x="24840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104371" cy="24039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391271" y="374523"/>
            <a:ext cx="526910" cy="654177"/>
          </a:xfrm>
          <a:custGeom>
            <a:avLst/>
            <a:gdLst/>
            <a:ahLst/>
            <a:cxnLst/>
            <a:rect l="l" t="t" r="r" b="b"/>
            <a:pathLst>
              <a:path w="526910" h="654177">
                <a:moveTo>
                  <a:pt x="0" y="0"/>
                </a:moveTo>
                <a:lnTo>
                  <a:pt x="526910" y="0"/>
                </a:lnTo>
                <a:lnTo>
                  <a:pt x="526910" y="654177"/>
                </a:lnTo>
                <a:lnTo>
                  <a:pt x="0" y="6541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102380" y="-55074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350154" y="1460746"/>
            <a:ext cx="1506514" cy="1039494"/>
          </a:xfrm>
          <a:custGeom>
            <a:avLst/>
            <a:gdLst/>
            <a:ahLst/>
            <a:cxnLst/>
            <a:rect l="l" t="t" r="r" b="b"/>
            <a:pathLst>
              <a:path w="1506514" h="1039494">
                <a:moveTo>
                  <a:pt x="0" y="0"/>
                </a:moveTo>
                <a:lnTo>
                  <a:pt x="1506514" y="0"/>
                </a:lnTo>
                <a:lnTo>
                  <a:pt x="1506514" y="1039495"/>
                </a:lnTo>
                <a:lnTo>
                  <a:pt x="0" y="103949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641121" y="2757306"/>
            <a:ext cx="12530617" cy="7038682"/>
          </a:xfrm>
          <a:custGeom>
            <a:avLst/>
            <a:gdLst/>
            <a:ahLst/>
            <a:cxnLst/>
            <a:rect l="l" t="t" r="r" b="b"/>
            <a:pathLst>
              <a:path w="12530617" h="7038682">
                <a:moveTo>
                  <a:pt x="0" y="0"/>
                </a:moveTo>
                <a:lnTo>
                  <a:pt x="12530616" y="0"/>
                </a:lnTo>
                <a:lnTo>
                  <a:pt x="12530616" y="7038683"/>
                </a:lnTo>
                <a:lnTo>
                  <a:pt x="0" y="703868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  <a:ln w="76200">
            <a:solidFill>
              <a:schemeClr val="accent1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856668" y="1393754"/>
            <a:ext cx="7245712" cy="1192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8000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Streamlit GUI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844AE20-B03B-6192-2B8D-108857710A65}"/>
              </a:ext>
            </a:extLst>
          </p:cNvPr>
          <p:cNvSpPr txBox="1"/>
          <p:nvPr/>
        </p:nvSpPr>
        <p:spPr>
          <a:xfrm>
            <a:off x="2119942" y="533743"/>
            <a:ext cx="298346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NTI - AI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0886" y="-2049095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0" y="0"/>
                </a:moveTo>
                <a:lnTo>
                  <a:pt x="9964777" y="0"/>
                </a:lnTo>
                <a:lnTo>
                  <a:pt x="9964777" y="9098671"/>
                </a:lnTo>
                <a:lnTo>
                  <a:pt x="0" y="9098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327663" y="3237424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9964777" y="9098671"/>
                </a:moveTo>
                <a:lnTo>
                  <a:pt x="0" y="9098671"/>
                </a:lnTo>
                <a:lnTo>
                  <a:pt x="0" y="0"/>
                </a:lnTo>
                <a:lnTo>
                  <a:pt x="9964777" y="0"/>
                </a:lnTo>
                <a:lnTo>
                  <a:pt x="9964777" y="9098671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307306">
            <a:off x="8638171" y="265703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307306">
            <a:off x="-7950368" y="-721331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809215" y="1193353"/>
            <a:ext cx="15583782" cy="8910458"/>
            <a:chOff x="0" y="0"/>
            <a:chExt cx="4104371" cy="23467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104370" cy="2346787"/>
            </a:xfrm>
            <a:custGeom>
              <a:avLst/>
              <a:gdLst/>
              <a:ahLst/>
              <a:cxnLst/>
              <a:rect l="l" t="t" r="r" b="b"/>
              <a:pathLst>
                <a:path w="4104370" h="2346787">
                  <a:moveTo>
                    <a:pt x="24840" y="0"/>
                  </a:moveTo>
                  <a:lnTo>
                    <a:pt x="4079531" y="0"/>
                  </a:lnTo>
                  <a:cubicBezTo>
                    <a:pt x="4086119" y="0"/>
                    <a:pt x="4092437" y="2617"/>
                    <a:pt x="4097095" y="7275"/>
                  </a:cubicBezTo>
                  <a:cubicBezTo>
                    <a:pt x="4101754" y="11934"/>
                    <a:pt x="4104370" y="18252"/>
                    <a:pt x="4104370" y="24840"/>
                  </a:cubicBezTo>
                  <a:lnTo>
                    <a:pt x="4104370" y="2321947"/>
                  </a:lnTo>
                  <a:cubicBezTo>
                    <a:pt x="4104370" y="2328535"/>
                    <a:pt x="4101754" y="2334853"/>
                    <a:pt x="4097095" y="2339512"/>
                  </a:cubicBezTo>
                  <a:cubicBezTo>
                    <a:pt x="4092437" y="2344170"/>
                    <a:pt x="4086119" y="2346787"/>
                    <a:pt x="4079531" y="2346787"/>
                  </a:cubicBezTo>
                  <a:lnTo>
                    <a:pt x="24840" y="2346787"/>
                  </a:lnTo>
                  <a:cubicBezTo>
                    <a:pt x="18252" y="2346787"/>
                    <a:pt x="11934" y="2344170"/>
                    <a:pt x="7275" y="2339512"/>
                  </a:cubicBezTo>
                  <a:cubicBezTo>
                    <a:pt x="2617" y="2334853"/>
                    <a:pt x="0" y="2328535"/>
                    <a:pt x="0" y="2321947"/>
                  </a:cubicBezTo>
                  <a:lnTo>
                    <a:pt x="0" y="24840"/>
                  </a:lnTo>
                  <a:cubicBezTo>
                    <a:pt x="0" y="18252"/>
                    <a:pt x="2617" y="11934"/>
                    <a:pt x="7275" y="7275"/>
                  </a:cubicBezTo>
                  <a:cubicBezTo>
                    <a:pt x="11934" y="2617"/>
                    <a:pt x="18252" y="0"/>
                    <a:pt x="24840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104371" cy="24039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391271" y="374523"/>
            <a:ext cx="526910" cy="654177"/>
          </a:xfrm>
          <a:custGeom>
            <a:avLst/>
            <a:gdLst/>
            <a:ahLst/>
            <a:cxnLst/>
            <a:rect l="l" t="t" r="r" b="b"/>
            <a:pathLst>
              <a:path w="526910" h="654177">
                <a:moveTo>
                  <a:pt x="0" y="0"/>
                </a:moveTo>
                <a:lnTo>
                  <a:pt x="526910" y="0"/>
                </a:lnTo>
                <a:lnTo>
                  <a:pt x="526910" y="654177"/>
                </a:lnTo>
                <a:lnTo>
                  <a:pt x="0" y="6541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102380" y="-55074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350154" y="1460746"/>
            <a:ext cx="1506514" cy="1039494"/>
          </a:xfrm>
          <a:custGeom>
            <a:avLst/>
            <a:gdLst/>
            <a:ahLst/>
            <a:cxnLst/>
            <a:rect l="l" t="t" r="r" b="b"/>
            <a:pathLst>
              <a:path w="1506514" h="1039494">
                <a:moveTo>
                  <a:pt x="0" y="0"/>
                </a:moveTo>
                <a:lnTo>
                  <a:pt x="1506514" y="0"/>
                </a:lnTo>
                <a:lnTo>
                  <a:pt x="1506514" y="1039495"/>
                </a:lnTo>
                <a:lnTo>
                  <a:pt x="0" y="103949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488093" y="2710333"/>
            <a:ext cx="12530617" cy="7038682"/>
          </a:xfrm>
          <a:custGeom>
            <a:avLst/>
            <a:gdLst/>
            <a:ahLst/>
            <a:cxnLst/>
            <a:rect l="l" t="t" r="r" b="b"/>
            <a:pathLst>
              <a:path w="12530617" h="7038682">
                <a:moveTo>
                  <a:pt x="0" y="0"/>
                </a:moveTo>
                <a:lnTo>
                  <a:pt x="12530617" y="0"/>
                </a:lnTo>
                <a:lnTo>
                  <a:pt x="12530617" y="7038683"/>
                </a:lnTo>
                <a:lnTo>
                  <a:pt x="0" y="703868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  <a:ln w="76200">
            <a:solidFill>
              <a:srgbClr val="0070C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856668" y="1393754"/>
            <a:ext cx="7245712" cy="1192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8000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Streamlit GUI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56D3BBE-07EA-EFC2-F1E3-8AD3C0F48219}"/>
              </a:ext>
            </a:extLst>
          </p:cNvPr>
          <p:cNvSpPr txBox="1"/>
          <p:nvPr/>
        </p:nvSpPr>
        <p:spPr>
          <a:xfrm>
            <a:off x="2119942" y="533743"/>
            <a:ext cx="298346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NTI - AI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0886" y="-2049095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0" y="0"/>
                </a:moveTo>
                <a:lnTo>
                  <a:pt x="9964777" y="0"/>
                </a:lnTo>
                <a:lnTo>
                  <a:pt x="9964777" y="9098671"/>
                </a:lnTo>
                <a:lnTo>
                  <a:pt x="0" y="9098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327663" y="3237424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9964777" y="9098671"/>
                </a:moveTo>
                <a:lnTo>
                  <a:pt x="0" y="9098671"/>
                </a:lnTo>
                <a:lnTo>
                  <a:pt x="0" y="0"/>
                </a:lnTo>
                <a:lnTo>
                  <a:pt x="9964777" y="0"/>
                </a:lnTo>
                <a:lnTo>
                  <a:pt x="9964777" y="9098671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307306">
            <a:off x="8638171" y="265703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307306">
            <a:off x="-7950368" y="-721331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809215" y="1193353"/>
            <a:ext cx="15583782" cy="8910458"/>
            <a:chOff x="0" y="0"/>
            <a:chExt cx="4104371" cy="23467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104370" cy="2346787"/>
            </a:xfrm>
            <a:custGeom>
              <a:avLst/>
              <a:gdLst/>
              <a:ahLst/>
              <a:cxnLst/>
              <a:rect l="l" t="t" r="r" b="b"/>
              <a:pathLst>
                <a:path w="4104370" h="2346787">
                  <a:moveTo>
                    <a:pt x="24840" y="0"/>
                  </a:moveTo>
                  <a:lnTo>
                    <a:pt x="4079531" y="0"/>
                  </a:lnTo>
                  <a:cubicBezTo>
                    <a:pt x="4086119" y="0"/>
                    <a:pt x="4092437" y="2617"/>
                    <a:pt x="4097095" y="7275"/>
                  </a:cubicBezTo>
                  <a:cubicBezTo>
                    <a:pt x="4101754" y="11934"/>
                    <a:pt x="4104370" y="18252"/>
                    <a:pt x="4104370" y="24840"/>
                  </a:cubicBezTo>
                  <a:lnTo>
                    <a:pt x="4104370" y="2321947"/>
                  </a:lnTo>
                  <a:cubicBezTo>
                    <a:pt x="4104370" y="2328535"/>
                    <a:pt x="4101754" y="2334853"/>
                    <a:pt x="4097095" y="2339512"/>
                  </a:cubicBezTo>
                  <a:cubicBezTo>
                    <a:pt x="4092437" y="2344170"/>
                    <a:pt x="4086119" y="2346787"/>
                    <a:pt x="4079531" y="2346787"/>
                  </a:cubicBezTo>
                  <a:lnTo>
                    <a:pt x="24840" y="2346787"/>
                  </a:lnTo>
                  <a:cubicBezTo>
                    <a:pt x="18252" y="2346787"/>
                    <a:pt x="11934" y="2344170"/>
                    <a:pt x="7275" y="2339512"/>
                  </a:cubicBezTo>
                  <a:cubicBezTo>
                    <a:pt x="2617" y="2334853"/>
                    <a:pt x="0" y="2328535"/>
                    <a:pt x="0" y="2321947"/>
                  </a:cubicBezTo>
                  <a:lnTo>
                    <a:pt x="0" y="24840"/>
                  </a:lnTo>
                  <a:cubicBezTo>
                    <a:pt x="0" y="18252"/>
                    <a:pt x="2617" y="11934"/>
                    <a:pt x="7275" y="7275"/>
                  </a:cubicBezTo>
                  <a:cubicBezTo>
                    <a:pt x="11934" y="2617"/>
                    <a:pt x="18252" y="0"/>
                    <a:pt x="24840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104371" cy="24039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391271" y="374523"/>
            <a:ext cx="526910" cy="654177"/>
          </a:xfrm>
          <a:custGeom>
            <a:avLst/>
            <a:gdLst/>
            <a:ahLst/>
            <a:cxnLst/>
            <a:rect l="l" t="t" r="r" b="b"/>
            <a:pathLst>
              <a:path w="526910" h="654177">
                <a:moveTo>
                  <a:pt x="0" y="0"/>
                </a:moveTo>
                <a:lnTo>
                  <a:pt x="526910" y="0"/>
                </a:lnTo>
                <a:lnTo>
                  <a:pt x="526910" y="654177"/>
                </a:lnTo>
                <a:lnTo>
                  <a:pt x="0" y="6541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102380" y="-55074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350154" y="1460746"/>
            <a:ext cx="1506514" cy="1039494"/>
          </a:xfrm>
          <a:custGeom>
            <a:avLst/>
            <a:gdLst/>
            <a:ahLst/>
            <a:cxnLst/>
            <a:rect l="l" t="t" r="r" b="b"/>
            <a:pathLst>
              <a:path w="1506514" h="1039494">
                <a:moveTo>
                  <a:pt x="0" y="0"/>
                </a:moveTo>
                <a:lnTo>
                  <a:pt x="1506514" y="0"/>
                </a:lnTo>
                <a:lnTo>
                  <a:pt x="1506514" y="1039495"/>
                </a:lnTo>
                <a:lnTo>
                  <a:pt x="0" y="103949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135797" y="2686847"/>
            <a:ext cx="12530617" cy="7038682"/>
          </a:xfrm>
          <a:custGeom>
            <a:avLst/>
            <a:gdLst/>
            <a:ahLst/>
            <a:cxnLst/>
            <a:rect l="l" t="t" r="r" b="b"/>
            <a:pathLst>
              <a:path w="12530617" h="7038682">
                <a:moveTo>
                  <a:pt x="0" y="0"/>
                </a:moveTo>
                <a:lnTo>
                  <a:pt x="12530617" y="0"/>
                </a:lnTo>
                <a:lnTo>
                  <a:pt x="12530617" y="7038682"/>
                </a:lnTo>
                <a:lnTo>
                  <a:pt x="0" y="70386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  <a:ln w="76200">
            <a:solidFill>
              <a:srgbClr val="0070C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856668" y="1393754"/>
            <a:ext cx="7245712" cy="1192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8000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Streamlit GUI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C08C3E3E-1D8C-6F77-0134-22650C46235C}"/>
              </a:ext>
            </a:extLst>
          </p:cNvPr>
          <p:cNvSpPr txBox="1"/>
          <p:nvPr/>
        </p:nvSpPr>
        <p:spPr>
          <a:xfrm>
            <a:off x="2119942" y="533743"/>
            <a:ext cx="298346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NTI - AI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0886" y="-2049095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0" y="0"/>
                </a:moveTo>
                <a:lnTo>
                  <a:pt x="9964777" y="0"/>
                </a:lnTo>
                <a:lnTo>
                  <a:pt x="9964777" y="9098671"/>
                </a:lnTo>
                <a:lnTo>
                  <a:pt x="0" y="9098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327663" y="3237424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9964777" y="9098671"/>
                </a:moveTo>
                <a:lnTo>
                  <a:pt x="0" y="9098671"/>
                </a:lnTo>
                <a:lnTo>
                  <a:pt x="0" y="0"/>
                </a:lnTo>
                <a:lnTo>
                  <a:pt x="9964777" y="0"/>
                </a:lnTo>
                <a:lnTo>
                  <a:pt x="9964777" y="9098671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307306">
            <a:off x="8638171" y="265703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307306">
            <a:off x="-7950368" y="-7213313"/>
            <a:ext cx="14705125" cy="16484026"/>
          </a:xfrm>
          <a:custGeom>
            <a:avLst/>
            <a:gdLst/>
            <a:ahLst/>
            <a:cxnLst/>
            <a:rect l="l" t="t" r="r" b="b"/>
            <a:pathLst>
              <a:path w="14705125" h="16484026">
                <a:moveTo>
                  <a:pt x="0" y="0"/>
                </a:moveTo>
                <a:lnTo>
                  <a:pt x="14705125" y="0"/>
                </a:lnTo>
                <a:lnTo>
                  <a:pt x="14705125" y="16484026"/>
                </a:lnTo>
                <a:lnTo>
                  <a:pt x="0" y="16484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809215" y="1193353"/>
            <a:ext cx="15583782" cy="8910458"/>
            <a:chOff x="0" y="0"/>
            <a:chExt cx="4104371" cy="23467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104370" cy="2346787"/>
            </a:xfrm>
            <a:custGeom>
              <a:avLst/>
              <a:gdLst/>
              <a:ahLst/>
              <a:cxnLst/>
              <a:rect l="l" t="t" r="r" b="b"/>
              <a:pathLst>
                <a:path w="4104370" h="2346787">
                  <a:moveTo>
                    <a:pt x="24840" y="0"/>
                  </a:moveTo>
                  <a:lnTo>
                    <a:pt x="4079531" y="0"/>
                  </a:lnTo>
                  <a:cubicBezTo>
                    <a:pt x="4086119" y="0"/>
                    <a:pt x="4092437" y="2617"/>
                    <a:pt x="4097095" y="7275"/>
                  </a:cubicBezTo>
                  <a:cubicBezTo>
                    <a:pt x="4101754" y="11934"/>
                    <a:pt x="4104370" y="18252"/>
                    <a:pt x="4104370" y="24840"/>
                  </a:cubicBezTo>
                  <a:lnTo>
                    <a:pt x="4104370" y="2321947"/>
                  </a:lnTo>
                  <a:cubicBezTo>
                    <a:pt x="4104370" y="2328535"/>
                    <a:pt x="4101754" y="2334853"/>
                    <a:pt x="4097095" y="2339512"/>
                  </a:cubicBezTo>
                  <a:cubicBezTo>
                    <a:pt x="4092437" y="2344170"/>
                    <a:pt x="4086119" y="2346787"/>
                    <a:pt x="4079531" y="2346787"/>
                  </a:cubicBezTo>
                  <a:lnTo>
                    <a:pt x="24840" y="2346787"/>
                  </a:lnTo>
                  <a:cubicBezTo>
                    <a:pt x="18252" y="2346787"/>
                    <a:pt x="11934" y="2344170"/>
                    <a:pt x="7275" y="2339512"/>
                  </a:cubicBezTo>
                  <a:cubicBezTo>
                    <a:pt x="2617" y="2334853"/>
                    <a:pt x="0" y="2328535"/>
                    <a:pt x="0" y="2321947"/>
                  </a:cubicBezTo>
                  <a:lnTo>
                    <a:pt x="0" y="24840"/>
                  </a:lnTo>
                  <a:cubicBezTo>
                    <a:pt x="0" y="18252"/>
                    <a:pt x="2617" y="11934"/>
                    <a:pt x="7275" y="7275"/>
                  </a:cubicBezTo>
                  <a:cubicBezTo>
                    <a:pt x="11934" y="2617"/>
                    <a:pt x="18252" y="0"/>
                    <a:pt x="24840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104371" cy="24039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391271" y="374523"/>
            <a:ext cx="526910" cy="654177"/>
          </a:xfrm>
          <a:custGeom>
            <a:avLst/>
            <a:gdLst/>
            <a:ahLst/>
            <a:cxnLst/>
            <a:rect l="l" t="t" r="r" b="b"/>
            <a:pathLst>
              <a:path w="526910" h="654177">
                <a:moveTo>
                  <a:pt x="0" y="0"/>
                </a:moveTo>
                <a:lnTo>
                  <a:pt x="526910" y="0"/>
                </a:lnTo>
                <a:lnTo>
                  <a:pt x="526910" y="654177"/>
                </a:lnTo>
                <a:lnTo>
                  <a:pt x="0" y="6541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102380" y="-55074"/>
            <a:ext cx="6816687" cy="1028700"/>
          </a:xfrm>
          <a:custGeom>
            <a:avLst/>
            <a:gdLst/>
            <a:ahLst/>
            <a:cxnLst/>
            <a:rect l="l" t="t" r="r" b="b"/>
            <a:pathLst>
              <a:path w="6816687" h="1028700">
                <a:moveTo>
                  <a:pt x="0" y="0"/>
                </a:moveTo>
                <a:lnTo>
                  <a:pt x="6816687" y="0"/>
                </a:lnTo>
                <a:lnTo>
                  <a:pt x="681668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997858" y="1546789"/>
            <a:ext cx="1506514" cy="1039494"/>
          </a:xfrm>
          <a:custGeom>
            <a:avLst/>
            <a:gdLst/>
            <a:ahLst/>
            <a:cxnLst/>
            <a:rect l="l" t="t" r="r" b="b"/>
            <a:pathLst>
              <a:path w="1506514" h="1039494">
                <a:moveTo>
                  <a:pt x="0" y="0"/>
                </a:moveTo>
                <a:lnTo>
                  <a:pt x="1506514" y="0"/>
                </a:lnTo>
                <a:lnTo>
                  <a:pt x="1506514" y="1039495"/>
                </a:lnTo>
                <a:lnTo>
                  <a:pt x="0" y="103949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357091" y="3015657"/>
            <a:ext cx="10435886" cy="6310450"/>
          </a:xfrm>
          <a:custGeom>
            <a:avLst/>
            <a:gdLst/>
            <a:ahLst/>
            <a:cxnLst/>
            <a:rect l="l" t="t" r="r" b="b"/>
            <a:pathLst>
              <a:path w="10435886" h="6310450">
                <a:moveTo>
                  <a:pt x="0" y="0"/>
                </a:moveTo>
                <a:lnTo>
                  <a:pt x="10435886" y="0"/>
                </a:lnTo>
                <a:lnTo>
                  <a:pt x="10435886" y="6310450"/>
                </a:lnTo>
                <a:lnTo>
                  <a:pt x="0" y="63104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  <a:ln w="76200">
            <a:solidFill>
              <a:srgbClr val="0070C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665913" y="1479796"/>
            <a:ext cx="7245712" cy="1192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8000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Streamlit GUI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F1DA170-F04D-E570-0708-5281DE57D908}"/>
              </a:ext>
            </a:extLst>
          </p:cNvPr>
          <p:cNvSpPr txBox="1"/>
          <p:nvPr/>
        </p:nvSpPr>
        <p:spPr>
          <a:xfrm>
            <a:off x="2119942" y="533743"/>
            <a:ext cx="298346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NTI - AI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0886" y="-2049095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0" y="0"/>
                </a:moveTo>
                <a:lnTo>
                  <a:pt x="9964777" y="0"/>
                </a:lnTo>
                <a:lnTo>
                  <a:pt x="9964777" y="9098671"/>
                </a:lnTo>
                <a:lnTo>
                  <a:pt x="0" y="9098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327663" y="3237424"/>
            <a:ext cx="9964777" cy="9098671"/>
          </a:xfrm>
          <a:custGeom>
            <a:avLst/>
            <a:gdLst/>
            <a:ahLst/>
            <a:cxnLst/>
            <a:rect l="l" t="t" r="r" b="b"/>
            <a:pathLst>
              <a:path w="9964777" h="9098671">
                <a:moveTo>
                  <a:pt x="9964777" y="9098671"/>
                </a:moveTo>
                <a:lnTo>
                  <a:pt x="0" y="9098671"/>
                </a:lnTo>
                <a:lnTo>
                  <a:pt x="0" y="0"/>
                </a:lnTo>
                <a:lnTo>
                  <a:pt x="9964777" y="0"/>
                </a:lnTo>
                <a:lnTo>
                  <a:pt x="9964777" y="9098671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456594" y="3697528"/>
            <a:ext cx="11603160" cy="14213225"/>
          </a:xfrm>
          <a:custGeom>
            <a:avLst/>
            <a:gdLst/>
            <a:ahLst/>
            <a:cxnLst/>
            <a:rect l="l" t="t" r="r" b="b"/>
            <a:pathLst>
              <a:path w="11603160" h="14213225">
                <a:moveTo>
                  <a:pt x="0" y="0"/>
                </a:moveTo>
                <a:lnTo>
                  <a:pt x="11603161" y="0"/>
                </a:lnTo>
                <a:lnTo>
                  <a:pt x="11603161" y="14213225"/>
                </a:lnTo>
                <a:lnTo>
                  <a:pt x="0" y="14213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7799429" y="4395610"/>
            <a:ext cx="6546209" cy="4043037"/>
            <a:chOff x="0" y="0"/>
            <a:chExt cx="1724104" cy="10648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4104" cy="1064833"/>
            </a:xfrm>
            <a:custGeom>
              <a:avLst/>
              <a:gdLst/>
              <a:ahLst/>
              <a:cxnLst/>
              <a:rect l="l" t="t" r="r" b="b"/>
              <a:pathLst>
                <a:path w="1724104" h="1064833">
                  <a:moveTo>
                    <a:pt x="59133" y="0"/>
                  </a:moveTo>
                  <a:lnTo>
                    <a:pt x="1664972" y="0"/>
                  </a:lnTo>
                  <a:cubicBezTo>
                    <a:pt x="1697630" y="0"/>
                    <a:pt x="1724104" y="26475"/>
                    <a:pt x="1724104" y="59133"/>
                  </a:cubicBezTo>
                  <a:lnTo>
                    <a:pt x="1724104" y="1005700"/>
                  </a:lnTo>
                  <a:cubicBezTo>
                    <a:pt x="1724104" y="1038358"/>
                    <a:pt x="1697630" y="1064833"/>
                    <a:pt x="1664972" y="1064833"/>
                  </a:cubicBezTo>
                  <a:lnTo>
                    <a:pt x="59133" y="1064833"/>
                  </a:lnTo>
                  <a:cubicBezTo>
                    <a:pt x="26475" y="1064833"/>
                    <a:pt x="0" y="1038358"/>
                    <a:pt x="0" y="1005700"/>
                  </a:cubicBezTo>
                  <a:lnTo>
                    <a:pt x="0" y="59133"/>
                  </a:lnTo>
                  <a:cubicBezTo>
                    <a:pt x="0" y="26475"/>
                    <a:pt x="26475" y="0"/>
                    <a:pt x="59133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724104" cy="11219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230460" y="1941705"/>
            <a:ext cx="10028840" cy="1755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75"/>
              </a:lnSpc>
            </a:pPr>
            <a:r>
              <a:rPr lang="en-US" sz="13479" b="1">
                <a:solidFill>
                  <a:srgbClr val="FFFBF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Thank You!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03945" y="3707053"/>
            <a:ext cx="3746940" cy="518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4"/>
              </a:lnSpc>
            </a:pPr>
            <a:r>
              <a:rPr lang="en-US" sz="3499" b="1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Presented by :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86070" y="1327244"/>
            <a:ext cx="5151044" cy="7792853"/>
            <a:chOff x="0" y="0"/>
            <a:chExt cx="722457" cy="10929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22457" cy="1092983"/>
            </a:xfrm>
            <a:custGeom>
              <a:avLst/>
              <a:gdLst/>
              <a:ahLst/>
              <a:cxnLst/>
              <a:rect l="l" t="t" r="r" b="b"/>
              <a:pathLst>
                <a:path w="722457" h="1092983">
                  <a:moveTo>
                    <a:pt x="90179" y="0"/>
                  </a:moveTo>
                  <a:lnTo>
                    <a:pt x="632278" y="0"/>
                  </a:lnTo>
                  <a:cubicBezTo>
                    <a:pt x="656195" y="0"/>
                    <a:pt x="679133" y="9501"/>
                    <a:pt x="696044" y="26413"/>
                  </a:cubicBezTo>
                  <a:cubicBezTo>
                    <a:pt x="712956" y="43325"/>
                    <a:pt x="722457" y="66262"/>
                    <a:pt x="722457" y="90179"/>
                  </a:cubicBezTo>
                  <a:lnTo>
                    <a:pt x="722457" y="1002804"/>
                  </a:lnTo>
                  <a:cubicBezTo>
                    <a:pt x="722457" y="1026721"/>
                    <a:pt x="712956" y="1049658"/>
                    <a:pt x="696044" y="1066570"/>
                  </a:cubicBezTo>
                  <a:cubicBezTo>
                    <a:pt x="679133" y="1083482"/>
                    <a:pt x="656195" y="1092983"/>
                    <a:pt x="632278" y="1092983"/>
                  </a:cubicBezTo>
                  <a:lnTo>
                    <a:pt x="90179" y="1092983"/>
                  </a:lnTo>
                  <a:cubicBezTo>
                    <a:pt x="66262" y="1092983"/>
                    <a:pt x="43325" y="1083482"/>
                    <a:pt x="26413" y="1066570"/>
                  </a:cubicBezTo>
                  <a:cubicBezTo>
                    <a:pt x="9501" y="1049658"/>
                    <a:pt x="0" y="1026721"/>
                    <a:pt x="0" y="1002804"/>
                  </a:cubicBezTo>
                  <a:lnTo>
                    <a:pt x="0" y="90179"/>
                  </a:lnTo>
                  <a:cubicBezTo>
                    <a:pt x="0" y="66262"/>
                    <a:pt x="9501" y="43325"/>
                    <a:pt x="26413" y="26413"/>
                  </a:cubicBezTo>
                  <a:cubicBezTo>
                    <a:pt x="43325" y="9501"/>
                    <a:pt x="66262" y="0"/>
                    <a:pt x="90179" y="0"/>
                  </a:cubicBezTo>
                  <a:close/>
                </a:path>
              </a:pathLst>
            </a:custGeom>
            <a:blipFill>
              <a:blip r:embed="rId5"/>
              <a:stretch>
                <a:fillRect l="-10514" r="-10514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 flipH="1" flipV="1">
            <a:off x="-744089" y="9418642"/>
            <a:ext cx="4348311" cy="656200"/>
          </a:xfrm>
          <a:custGeom>
            <a:avLst/>
            <a:gdLst/>
            <a:ahLst/>
            <a:cxnLst/>
            <a:rect l="l" t="t" r="r" b="b"/>
            <a:pathLst>
              <a:path w="4348311" h="656200">
                <a:moveTo>
                  <a:pt x="4348311" y="656199"/>
                </a:moveTo>
                <a:lnTo>
                  <a:pt x="0" y="656199"/>
                </a:lnTo>
                <a:lnTo>
                  <a:pt x="0" y="0"/>
                </a:lnTo>
                <a:lnTo>
                  <a:pt x="4348311" y="0"/>
                </a:lnTo>
                <a:lnTo>
                  <a:pt x="4348311" y="65619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4345637" y="372500"/>
            <a:ext cx="4348311" cy="656200"/>
          </a:xfrm>
          <a:custGeom>
            <a:avLst/>
            <a:gdLst/>
            <a:ahLst/>
            <a:cxnLst/>
            <a:rect l="l" t="t" r="r" b="b"/>
            <a:pathLst>
              <a:path w="4348311" h="656200">
                <a:moveTo>
                  <a:pt x="0" y="0"/>
                </a:moveTo>
                <a:lnTo>
                  <a:pt x="4348312" y="0"/>
                </a:lnTo>
                <a:lnTo>
                  <a:pt x="4348312" y="656200"/>
                </a:lnTo>
                <a:lnTo>
                  <a:pt x="0" y="656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91271" y="374523"/>
            <a:ext cx="526910" cy="654177"/>
          </a:xfrm>
          <a:custGeom>
            <a:avLst/>
            <a:gdLst/>
            <a:ahLst/>
            <a:cxnLst/>
            <a:rect l="l" t="t" r="r" b="b"/>
            <a:pathLst>
              <a:path w="526910" h="654177">
                <a:moveTo>
                  <a:pt x="0" y="0"/>
                </a:moveTo>
                <a:lnTo>
                  <a:pt x="526910" y="0"/>
                </a:lnTo>
                <a:lnTo>
                  <a:pt x="526910" y="654177"/>
                </a:lnTo>
                <a:lnTo>
                  <a:pt x="0" y="6541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8081266" y="4652327"/>
            <a:ext cx="6546209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442739" y="4544674"/>
            <a:ext cx="5106028" cy="3732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72"/>
              </a:lnSpc>
            </a:pPr>
            <a:r>
              <a:rPr lang="en-US" sz="4194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Rawan Ibrahim </a:t>
            </a:r>
          </a:p>
          <a:p>
            <a:pPr algn="ctr">
              <a:lnSpc>
                <a:spcPts val="5872"/>
              </a:lnSpc>
            </a:pPr>
            <a:r>
              <a:rPr lang="en-US" sz="4194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Nada Mostafa</a:t>
            </a:r>
          </a:p>
          <a:p>
            <a:pPr algn="ctr">
              <a:lnSpc>
                <a:spcPts val="5872"/>
              </a:lnSpc>
            </a:pPr>
            <a:r>
              <a:rPr lang="en-US" sz="4194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Salwa Hisham</a:t>
            </a:r>
          </a:p>
          <a:p>
            <a:pPr algn="ctr">
              <a:lnSpc>
                <a:spcPts val="5872"/>
              </a:lnSpc>
            </a:pPr>
            <a:r>
              <a:rPr lang="en-US" sz="4194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Nafe</a:t>
            </a:r>
            <a:r>
              <a:rPr lang="en-US" sz="4194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Emad </a:t>
            </a:r>
          </a:p>
          <a:p>
            <a:pPr algn="ctr">
              <a:lnSpc>
                <a:spcPts val="5872"/>
              </a:lnSpc>
            </a:pPr>
            <a:r>
              <a:rPr lang="en-US" sz="4194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Nour Eldin Yasser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441630" y="8779656"/>
            <a:ext cx="7751073" cy="957288"/>
            <a:chOff x="0" y="0"/>
            <a:chExt cx="2041435" cy="2521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41435" cy="252125"/>
            </a:xfrm>
            <a:custGeom>
              <a:avLst/>
              <a:gdLst/>
              <a:ahLst/>
              <a:cxnLst/>
              <a:rect l="l" t="t" r="r" b="b"/>
              <a:pathLst>
                <a:path w="2041435" h="252125">
                  <a:moveTo>
                    <a:pt x="49941" y="0"/>
                  </a:moveTo>
                  <a:lnTo>
                    <a:pt x="1991494" y="0"/>
                  </a:lnTo>
                  <a:cubicBezTo>
                    <a:pt x="2019076" y="0"/>
                    <a:pt x="2041435" y="22359"/>
                    <a:pt x="2041435" y="49941"/>
                  </a:cubicBezTo>
                  <a:lnTo>
                    <a:pt x="2041435" y="202184"/>
                  </a:lnTo>
                  <a:cubicBezTo>
                    <a:pt x="2041435" y="229766"/>
                    <a:pt x="2019076" y="252125"/>
                    <a:pt x="1991494" y="252125"/>
                  </a:cubicBezTo>
                  <a:lnTo>
                    <a:pt x="49941" y="252125"/>
                  </a:lnTo>
                  <a:cubicBezTo>
                    <a:pt x="22359" y="252125"/>
                    <a:pt x="0" y="229766"/>
                    <a:pt x="0" y="202184"/>
                  </a:cubicBezTo>
                  <a:lnTo>
                    <a:pt x="0" y="49941"/>
                  </a:lnTo>
                  <a:cubicBezTo>
                    <a:pt x="0" y="22359"/>
                    <a:pt x="22359" y="0"/>
                    <a:pt x="49941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28575" cap="rnd">
              <a:gradFill>
                <a:gsLst>
                  <a:gs pos="0">
                    <a:srgbClr val="9560FF">
                      <a:alpha val="40000"/>
                    </a:srgbClr>
                  </a:gs>
                  <a:gs pos="100000">
                    <a:srgbClr val="9560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2041435" cy="309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8404100" y="9028236"/>
            <a:ext cx="5865103" cy="453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9"/>
              </a:lnSpc>
            </a:pPr>
            <a:r>
              <a:rPr lang="en-US" sz="2999" b="1" dirty="0">
                <a:solidFill>
                  <a:srgbClr val="9560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Supervised by: Eng. Fady Atia</a:t>
            </a:r>
          </a:p>
        </p:txBody>
      </p:sp>
      <p:sp>
        <p:nvSpPr>
          <p:cNvPr id="22" name="TextBox 16">
            <a:extLst>
              <a:ext uri="{FF2B5EF4-FFF2-40B4-BE49-F238E27FC236}">
                <a16:creationId xmlns:a16="http://schemas.microsoft.com/office/drawing/2014/main" id="{7EDB0AE2-2B54-50A3-4ECB-37E28841A071}"/>
              </a:ext>
            </a:extLst>
          </p:cNvPr>
          <p:cNvSpPr txBox="1"/>
          <p:nvPr/>
        </p:nvSpPr>
        <p:spPr>
          <a:xfrm>
            <a:off x="2119942" y="533743"/>
            <a:ext cx="298346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39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NTI - AI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1058</Words>
  <Application>Microsoft Office PowerPoint</Application>
  <PresentationFormat>Custom</PresentationFormat>
  <Paragraphs>150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Open Sauce Bold</vt:lpstr>
      <vt:lpstr>Canva Sans</vt:lpstr>
      <vt:lpstr>Canva Sans Bold</vt:lpstr>
      <vt:lpstr>Open Sauce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Black and Pink Gradient Geometric Abstract Waves Artificial Intelligence Project Presentation</dc:title>
  <dc:creator>Rawan Ibrahim</dc:creator>
  <cp:lastModifiedBy>Nour Sedky</cp:lastModifiedBy>
  <cp:revision>6</cp:revision>
  <dcterms:created xsi:type="dcterms:W3CDTF">2006-08-16T00:00:00Z</dcterms:created>
  <dcterms:modified xsi:type="dcterms:W3CDTF">2026-09-17T05:03:35Z</dcterms:modified>
  <dc:identifier>DAHT23KoJuY</dc:identifier>
</cp:coreProperties>
</file>